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1" r:id="rId2"/>
    <p:sldId id="2562" r:id="rId3"/>
    <p:sldId id="2563" r:id="rId4"/>
    <p:sldId id="2564" r:id="rId5"/>
    <p:sldId id="2565" r:id="rId6"/>
    <p:sldId id="2566" r:id="rId7"/>
    <p:sldId id="2567" r:id="rId8"/>
    <p:sldId id="2568" r:id="rId9"/>
    <p:sldId id="2569" r:id="rId10"/>
    <p:sldId id="2570" r:id="rId11"/>
    <p:sldId id="2571" r:id="rId12"/>
    <p:sldId id="2572" r:id="rId13"/>
    <p:sldId id="2573" r:id="rId14"/>
    <p:sldId id="2574" r:id="rId15"/>
    <p:sldId id="2575" r:id="rId16"/>
    <p:sldId id="2576" r:id="rId17"/>
    <p:sldId id="2577" r:id="rId18"/>
    <p:sldId id="2578" r:id="rId19"/>
    <p:sldId id="2579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egridade Referencial em Bancos de Dados: Fundamentos e Práticas Essenciais" id="{1660BB3D-1384-486E-8037-9E19C0177F36}">
          <p14:sldIdLst>
            <p14:sldId id="2561"/>
            <p14:sldId id="2562"/>
          </p14:sldIdLst>
        </p14:section>
        <p14:section name="Conceitos Fundamentais de Banco de Dados Relacional" id="{4222762B-9CD5-41A3-A595-6BA823F3748E}">
          <p14:sldIdLst>
            <p14:sldId id="2563"/>
            <p14:sldId id="2564"/>
            <p14:sldId id="2565"/>
            <p14:sldId id="2566"/>
          </p14:sldIdLst>
        </p14:section>
        <p14:section name="O que é Integridade Referencial" id="{1776BDA5-D5A5-4846-9735-937B24639DEE}">
          <p14:sldIdLst>
            <p14:sldId id="2567"/>
            <p14:sldId id="2568"/>
            <p14:sldId id="2569"/>
            <p14:sldId id="2570"/>
          </p14:sldIdLst>
        </p14:section>
        <p14:section name="Implementação da Integridade Referencial" id="{FADD9B60-1A5A-4F1D-915A-8CDF8160DBA8}">
          <p14:sldIdLst>
            <p14:sldId id="2571"/>
            <p14:sldId id="2572"/>
            <p14:sldId id="2573"/>
            <p14:sldId id="2574"/>
          </p14:sldIdLst>
        </p14:section>
        <p14:section name="Benefícios e Desafios da Integridade Referencial" id="{522E9D90-8AB6-4467-B739-3C9678508240}">
          <p14:sldIdLst>
            <p14:sldId id="2575"/>
            <p14:sldId id="2576"/>
            <p14:sldId id="2577"/>
            <p14:sldId id="2578"/>
          </p14:sldIdLst>
        </p14:section>
        <p14:section name="Conclusão" id="{741B781F-2A15-485C-BD8E-F1524A9CB0B9}">
          <p14:sldIdLst>
            <p14:sldId id="25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2D4F84-8E64-4A48-BF30-AA196B642BBA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C84FBF-09D9-4D00-8EF1-1AD29F2D62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Importância da Integridade</a:t>
          </a:r>
          <a:endParaRPr lang="en-US"/>
        </a:p>
      </dgm:t>
    </dgm:pt>
    <dgm:pt modelId="{CC6D4083-D144-4036-A794-2E65B2F6CFBE}" type="parTrans" cxnId="{F0D25E55-C767-4347-8A67-A658F487C266}">
      <dgm:prSet/>
      <dgm:spPr/>
      <dgm:t>
        <a:bodyPr/>
        <a:lstStyle/>
        <a:p>
          <a:endParaRPr lang="en-US"/>
        </a:p>
      </dgm:t>
    </dgm:pt>
    <dgm:pt modelId="{A9A045B0-071C-467A-95AE-7A8C522A166A}" type="sibTrans" cxnId="{F0D25E55-C767-4347-8A67-A658F487C266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FD247A4C-5080-4090-AD8A-E441C013943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 integridade referencial garante a consistência dos dados em bancos relacionais, prevenindo erros e duplicações.</a:t>
          </a:r>
          <a:endParaRPr lang="en-US"/>
        </a:p>
      </dgm:t>
    </dgm:pt>
    <dgm:pt modelId="{0DE3B152-72A6-4945-B326-32CD11293E34}" type="parTrans" cxnId="{7C25CAA2-EFE4-4EA1-9B71-E944BCDAB138}">
      <dgm:prSet/>
      <dgm:spPr/>
      <dgm:t>
        <a:bodyPr/>
        <a:lstStyle/>
        <a:p>
          <a:endParaRPr lang="en-US"/>
        </a:p>
      </dgm:t>
    </dgm:pt>
    <dgm:pt modelId="{B4C900A7-95C0-4CDC-84CA-C89B123FCF95}" type="sibTrans" cxnId="{7C25CAA2-EFE4-4EA1-9B71-E944BCDAB138}">
      <dgm:prSet/>
      <dgm:spPr/>
      <dgm:t>
        <a:bodyPr/>
        <a:lstStyle/>
        <a:p>
          <a:endParaRPr lang="en-US"/>
        </a:p>
      </dgm:t>
    </dgm:pt>
    <dgm:pt modelId="{301BEC39-592D-4CED-A461-3CB51058D30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Implementação Correta</a:t>
          </a:r>
          <a:endParaRPr lang="en-US"/>
        </a:p>
      </dgm:t>
    </dgm:pt>
    <dgm:pt modelId="{237E2E5D-C030-4FFA-9F7E-1CE894CE23EE}" type="parTrans" cxnId="{3742C38F-DDA4-4222-8D02-293CB8F0DB23}">
      <dgm:prSet/>
      <dgm:spPr/>
      <dgm:t>
        <a:bodyPr/>
        <a:lstStyle/>
        <a:p>
          <a:endParaRPr lang="en-US"/>
        </a:p>
      </dgm:t>
    </dgm:pt>
    <dgm:pt modelId="{5F8C7179-3579-4CFF-BF17-AE460E3CD0F2}" type="sibTrans" cxnId="{3742C38F-DDA4-4222-8D02-293CB8F0DB23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EF83004D-E58E-4B8E-B4CE-25313B95CEE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 implementação adequada da integridade referencial é essencial para o funcionamento confiável dos sistemas de banco de dados.</a:t>
          </a:r>
          <a:endParaRPr lang="en-US"/>
        </a:p>
      </dgm:t>
    </dgm:pt>
    <dgm:pt modelId="{1675F3B6-366E-4CEB-815F-D778F0A3651C}" type="parTrans" cxnId="{42989EDD-AD17-46BA-AE71-A0BCF44BA888}">
      <dgm:prSet/>
      <dgm:spPr/>
      <dgm:t>
        <a:bodyPr/>
        <a:lstStyle/>
        <a:p>
          <a:endParaRPr lang="en-US"/>
        </a:p>
      </dgm:t>
    </dgm:pt>
    <dgm:pt modelId="{D7143FEE-3AB3-4855-A005-48A34998DF22}" type="sibTrans" cxnId="{42989EDD-AD17-46BA-AE71-A0BCF44BA888}">
      <dgm:prSet/>
      <dgm:spPr/>
      <dgm:t>
        <a:bodyPr/>
        <a:lstStyle/>
        <a:p>
          <a:endParaRPr lang="en-US"/>
        </a:p>
      </dgm:t>
    </dgm:pt>
    <dgm:pt modelId="{9E67605C-5199-47DF-9590-600F66BDCA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/>
            <a:t>Manutenção Contínua</a:t>
          </a:r>
          <a:endParaRPr lang="en-US"/>
        </a:p>
      </dgm:t>
    </dgm:pt>
    <dgm:pt modelId="{7D8ABB50-2C10-423C-A1ED-FED0D4124E3A}" type="parTrans" cxnId="{B244EE26-0AEB-43F6-8460-E50CB5EAF596}">
      <dgm:prSet/>
      <dgm:spPr/>
      <dgm:t>
        <a:bodyPr/>
        <a:lstStyle/>
        <a:p>
          <a:endParaRPr lang="en-US"/>
        </a:p>
      </dgm:t>
    </dgm:pt>
    <dgm:pt modelId="{0B8062F8-6704-4126-BCFA-B7B89A469B20}" type="sibTrans" cxnId="{B244EE26-0AEB-43F6-8460-E50CB5EAF596}">
      <dgm:prSet/>
      <dgm:spPr/>
      <dgm:t>
        <a:bodyPr/>
        <a:lstStyle/>
        <a:p>
          <a:endParaRPr lang="en-US"/>
        </a:p>
      </dgm:t>
    </dgm:pt>
    <dgm:pt modelId="{580875D9-B236-4B74-91AD-6835E352E6C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Manter a integridade referencial é vital para assegurar a qualidade dos dados ao longo do tempo.</a:t>
          </a:r>
          <a:endParaRPr lang="en-US"/>
        </a:p>
      </dgm:t>
    </dgm:pt>
    <dgm:pt modelId="{C45F52D3-41B3-443A-B787-66329B31D334}" type="parTrans" cxnId="{BD1E0CDC-0733-4A86-9F84-DE5D9BC20F80}">
      <dgm:prSet/>
      <dgm:spPr/>
      <dgm:t>
        <a:bodyPr/>
        <a:lstStyle/>
        <a:p>
          <a:endParaRPr lang="en-US"/>
        </a:p>
      </dgm:t>
    </dgm:pt>
    <dgm:pt modelId="{AF930A39-BA44-4397-A9EA-469C49B84CAC}" type="sibTrans" cxnId="{BD1E0CDC-0733-4A86-9F84-DE5D9BC20F80}">
      <dgm:prSet/>
      <dgm:spPr/>
      <dgm:t>
        <a:bodyPr/>
        <a:lstStyle/>
        <a:p>
          <a:endParaRPr lang="en-US"/>
        </a:p>
      </dgm:t>
    </dgm:pt>
    <dgm:pt modelId="{3A2DA67E-D388-4C8F-A9DB-4A3233ECA981}" type="pres">
      <dgm:prSet presAssocID="{3F2D4F84-8E64-4A48-BF30-AA196B642BBA}" presName="Name0" presStyleCnt="0">
        <dgm:presLayoutVars>
          <dgm:dir/>
          <dgm:resizeHandles val="exact"/>
        </dgm:presLayoutVars>
      </dgm:prSet>
      <dgm:spPr/>
    </dgm:pt>
    <dgm:pt modelId="{DA998312-E1C2-4E70-8F6C-BCD082011D1D}" type="pres">
      <dgm:prSet presAssocID="{3AC84FBF-09D9-4D00-8EF1-1AD29F2D623A}" presName="compNode" presStyleCnt="0"/>
      <dgm:spPr/>
    </dgm:pt>
    <dgm:pt modelId="{961D2CDB-3020-4035-9040-58DE4D8B462E}" type="pres">
      <dgm:prSet presAssocID="{3AC84FBF-09D9-4D00-8EF1-1AD29F2D623A}" presName="pictRect" presStyleLbl="revTx" presStyleIdx="0" presStyleCnt="6">
        <dgm:presLayoutVars>
          <dgm:chMax val="0"/>
          <dgm:bulletEnabled/>
        </dgm:presLayoutVars>
      </dgm:prSet>
      <dgm:spPr/>
    </dgm:pt>
    <dgm:pt modelId="{A0DBE3AE-2DF2-46A9-A977-797CCD3B74A6}" type="pres">
      <dgm:prSet presAssocID="{3AC84FBF-09D9-4D00-8EF1-1AD29F2D623A}" presName="textRect" presStyleLbl="revTx" presStyleIdx="1" presStyleCnt="6">
        <dgm:presLayoutVars>
          <dgm:bulletEnabled/>
        </dgm:presLayoutVars>
      </dgm:prSet>
      <dgm:spPr/>
    </dgm:pt>
    <dgm:pt modelId="{1DCEFBB5-1181-40A1-B4AE-40C852CC31C3}" type="pres">
      <dgm:prSet presAssocID="{A9A045B0-071C-467A-95AE-7A8C522A166A}" presName="sibTrans" presStyleLbl="sibTrans2D1" presStyleIdx="0" presStyleCnt="0"/>
      <dgm:spPr/>
    </dgm:pt>
    <dgm:pt modelId="{DCB65E29-918B-43C3-83E1-7A43A88E4F53}" type="pres">
      <dgm:prSet presAssocID="{301BEC39-592D-4CED-A461-3CB51058D304}" presName="compNode" presStyleCnt="0"/>
      <dgm:spPr/>
    </dgm:pt>
    <dgm:pt modelId="{D4CDA3E0-DBD0-43CC-A6A6-A1EF1F0999B3}" type="pres">
      <dgm:prSet presAssocID="{301BEC39-592D-4CED-A461-3CB51058D304}" presName="pictRect" presStyleLbl="revTx" presStyleIdx="2" presStyleCnt="6">
        <dgm:presLayoutVars>
          <dgm:chMax val="0"/>
          <dgm:bulletEnabled/>
        </dgm:presLayoutVars>
      </dgm:prSet>
      <dgm:spPr/>
    </dgm:pt>
    <dgm:pt modelId="{E10AA6A0-1950-46C7-8890-85906905A4D7}" type="pres">
      <dgm:prSet presAssocID="{301BEC39-592D-4CED-A461-3CB51058D304}" presName="textRect" presStyleLbl="revTx" presStyleIdx="3" presStyleCnt="6">
        <dgm:presLayoutVars>
          <dgm:bulletEnabled/>
        </dgm:presLayoutVars>
      </dgm:prSet>
      <dgm:spPr/>
    </dgm:pt>
    <dgm:pt modelId="{0BCC1E12-0ABD-4A63-91AC-D63A867E2028}" type="pres">
      <dgm:prSet presAssocID="{5F8C7179-3579-4CFF-BF17-AE460E3CD0F2}" presName="sibTrans" presStyleLbl="sibTrans2D1" presStyleIdx="0" presStyleCnt="0"/>
      <dgm:spPr/>
    </dgm:pt>
    <dgm:pt modelId="{83EA0A49-FBE5-4752-AF4C-ACA0BF36C950}" type="pres">
      <dgm:prSet presAssocID="{9E67605C-5199-47DF-9590-600F66BDCA24}" presName="compNode" presStyleCnt="0"/>
      <dgm:spPr/>
    </dgm:pt>
    <dgm:pt modelId="{F1271C5E-1396-415E-A187-95E0B835FD50}" type="pres">
      <dgm:prSet presAssocID="{9E67605C-5199-47DF-9590-600F66BDCA24}" presName="pictRect" presStyleLbl="revTx" presStyleIdx="4" presStyleCnt="6">
        <dgm:presLayoutVars>
          <dgm:chMax val="0"/>
          <dgm:bulletEnabled/>
        </dgm:presLayoutVars>
      </dgm:prSet>
      <dgm:spPr/>
    </dgm:pt>
    <dgm:pt modelId="{8F0027A1-E1AA-4B97-BE86-599F615B6229}" type="pres">
      <dgm:prSet presAssocID="{9E67605C-5199-47DF-9590-600F66BDCA24}" presName="textRect" presStyleLbl="revTx" presStyleIdx="5" presStyleCnt="6">
        <dgm:presLayoutVars>
          <dgm:bulletEnabled/>
        </dgm:presLayoutVars>
      </dgm:prSet>
      <dgm:spPr/>
    </dgm:pt>
  </dgm:ptLst>
  <dgm:cxnLst>
    <dgm:cxn modelId="{4CE58C07-A534-46FD-AF3E-EE0F792150DB}" type="presOf" srcId="{9E67605C-5199-47DF-9590-600F66BDCA24}" destId="{F1271C5E-1396-415E-A187-95E0B835FD50}" srcOrd="0" destOrd="0" presId="urn:microsoft.com/office/officeart/2024/3/layout/hArchList1"/>
    <dgm:cxn modelId="{B244EE26-0AEB-43F6-8460-E50CB5EAF596}" srcId="{3F2D4F84-8E64-4A48-BF30-AA196B642BBA}" destId="{9E67605C-5199-47DF-9590-600F66BDCA24}" srcOrd="2" destOrd="0" parTransId="{7D8ABB50-2C10-423C-A1ED-FED0D4124E3A}" sibTransId="{0B8062F8-6704-4126-BCFA-B7B89A469B20}"/>
    <dgm:cxn modelId="{68A60735-0973-4F17-B140-ED47D08ED0FF}" type="presOf" srcId="{FD247A4C-5080-4090-AD8A-E441C0139437}" destId="{A0DBE3AE-2DF2-46A9-A977-797CCD3B74A6}" srcOrd="0" destOrd="0" presId="urn:microsoft.com/office/officeart/2024/3/layout/hArchList1"/>
    <dgm:cxn modelId="{A5047D49-7E08-426E-B349-45A9F6C8F01A}" type="presOf" srcId="{A9A045B0-071C-467A-95AE-7A8C522A166A}" destId="{1DCEFBB5-1181-40A1-B4AE-40C852CC31C3}" srcOrd="0" destOrd="0" presId="urn:microsoft.com/office/officeart/2024/3/layout/hArchList1"/>
    <dgm:cxn modelId="{F0D25E55-C767-4347-8A67-A658F487C266}" srcId="{3F2D4F84-8E64-4A48-BF30-AA196B642BBA}" destId="{3AC84FBF-09D9-4D00-8EF1-1AD29F2D623A}" srcOrd="0" destOrd="0" parTransId="{CC6D4083-D144-4036-A794-2E65B2F6CFBE}" sibTransId="{A9A045B0-071C-467A-95AE-7A8C522A166A}"/>
    <dgm:cxn modelId="{D1AE3588-7215-47F7-8767-078574977E90}" type="presOf" srcId="{EF83004D-E58E-4B8E-B4CE-25313B95CEE6}" destId="{E10AA6A0-1950-46C7-8890-85906905A4D7}" srcOrd="0" destOrd="0" presId="urn:microsoft.com/office/officeart/2024/3/layout/hArchList1"/>
    <dgm:cxn modelId="{3742C38F-DDA4-4222-8D02-293CB8F0DB23}" srcId="{3F2D4F84-8E64-4A48-BF30-AA196B642BBA}" destId="{301BEC39-592D-4CED-A461-3CB51058D304}" srcOrd="1" destOrd="0" parTransId="{237E2E5D-C030-4FFA-9F7E-1CE894CE23EE}" sibTransId="{5F8C7179-3579-4CFF-BF17-AE460E3CD0F2}"/>
    <dgm:cxn modelId="{7C25CAA2-EFE4-4EA1-9B71-E944BCDAB138}" srcId="{3AC84FBF-09D9-4D00-8EF1-1AD29F2D623A}" destId="{FD247A4C-5080-4090-AD8A-E441C0139437}" srcOrd="0" destOrd="0" parTransId="{0DE3B152-72A6-4945-B326-32CD11293E34}" sibTransId="{B4C900A7-95C0-4CDC-84CA-C89B123FCF95}"/>
    <dgm:cxn modelId="{D47108AA-D2E5-403D-A858-A04468190446}" type="presOf" srcId="{580875D9-B236-4B74-91AD-6835E352E6C1}" destId="{8F0027A1-E1AA-4B97-BE86-599F615B6229}" srcOrd="0" destOrd="0" presId="urn:microsoft.com/office/officeart/2024/3/layout/hArchList1"/>
    <dgm:cxn modelId="{55E715B7-C996-46C9-AE8C-EE211DB38F50}" type="presOf" srcId="{301BEC39-592D-4CED-A461-3CB51058D304}" destId="{D4CDA3E0-DBD0-43CC-A6A6-A1EF1F0999B3}" srcOrd="0" destOrd="0" presId="urn:microsoft.com/office/officeart/2024/3/layout/hArchList1"/>
    <dgm:cxn modelId="{53E732C9-FEDC-487D-9FC1-9A2A84768C63}" type="presOf" srcId="{3F2D4F84-8E64-4A48-BF30-AA196B642BBA}" destId="{3A2DA67E-D388-4C8F-A9DB-4A3233ECA981}" srcOrd="0" destOrd="0" presId="urn:microsoft.com/office/officeart/2024/3/layout/hArchList1"/>
    <dgm:cxn modelId="{23C9F5CB-33DD-4C09-9356-29EEE9004C44}" type="presOf" srcId="{3AC84FBF-09D9-4D00-8EF1-1AD29F2D623A}" destId="{961D2CDB-3020-4035-9040-58DE4D8B462E}" srcOrd="0" destOrd="0" presId="urn:microsoft.com/office/officeart/2024/3/layout/hArchList1"/>
    <dgm:cxn modelId="{BD1E0CDC-0733-4A86-9F84-DE5D9BC20F80}" srcId="{9E67605C-5199-47DF-9590-600F66BDCA24}" destId="{580875D9-B236-4B74-91AD-6835E352E6C1}" srcOrd="0" destOrd="0" parTransId="{C45F52D3-41B3-443A-B787-66329B31D334}" sibTransId="{AF930A39-BA44-4397-A9EA-469C49B84CAC}"/>
    <dgm:cxn modelId="{42989EDD-AD17-46BA-AE71-A0BCF44BA888}" srcId="{301BEC39-592D-4CED-A461-3CB51058D304}" destId="{EF83004D-E58E-4B8E-B4CE-25313B95CEE6}" srcOrd="0" destOrd="0" parTransId="{1675F3B6-366E-4CEB-815F-D778F0A3651C}" sibTransId="{D7143FEE-3AB3-4855-A005-48A34998DF22}"/>
    <dgm:cxn modelId="{34B001E2-78AF-407B-8065-1957B57C0616}" type="presOf" srcId="{5F8C7179-3579-4CFF-BF17-AE460E3CD0F2}" destId="{0BCC1E12-0ABD-4A63-91AC-D63A867E2028}" srcOrd="0" destOrd="0" presId="urn:microsoft.com/office/officeart/2024/3/layout/hArchList1"/>
    <dgm:cxn modelId="{DE61D9BD-ABBA-4465-9D63-391CEA6F509B}" type="presParOf" srcId="{3A2DA67E-D388-4C8F-A9DB-4A3233ECA981}" destId="{DA998312-E1C2-4E70-8F6C-BCD082011D1D}" srcOrd="0" destOrd="0" presId="urn:microsoft.com/office/officeart/2024/3/layout/hArchList1"/>
    <dgm:cxn modelId="{69014D56-AFAC-4729-AB59-5E7E9F9089E4}" type="presParOf" srcId="{DA998312-E1C2-4E70-8F6C-BCD082011D1D}" destId="{961D2CDB-3020-4035-9040-58DE4D8B462E}" srcOrd="0" destOrd="0" presId="urn:microsoft.com/office/officeart/2024/3/layout/hArchList1"/>
    <dgm:cxn modelId="{640D1EB6-1AD4-4F92-8083-D7D67CBFFDD8}" type="presParOf" srcId="{DA998312-E1C2-4E70-8F6C-BCD082011D1D}" destId="{A0DBE3AE-2DF2-46A9-A977-797CCD3B74A6}" srcOrd="1" destOrd="0" presId="urn:microsoft.com/office/officeart/2024/3/layout/hArchList1"/>
    <dgm:cxn modelId="{3B9882E0-2F25-4738-A13A-3FE3F232554B}" type="presParOf" srcId="{3A2DA67E-D388-4C8F-A9DB-4A3233ECA981}" destId="{1DCEFBB5-1181-40A1-B4AE-40C852CC31C3}" srcOrd="1" destOrd="0" presId="urn:microsoft.com/office/officeart/2024/3/layout/hArchList1"/>
    <dgm:cxn modelId="{2E425592-E548-4D07-9DC3-C64FBE7BE9B4}" type="presParOf" srcId="{3A2DA67E-D388-4C8F-A9DB-4A3233ECA981}" destId="{DCB65E29-918B-43C3-83E1-7A43A88E4F53}" srcOrd="2" destOrd="0" presId="urn:microsoft.com/office/officeart/2024/3/layout/hArchList1"/>
    <dgm:cxn modelId="{A25CD968-45DC-4101-84CD-F4EFB48C543D}" type="presParOf" srcId="{DCB65E29-918B-43C3-83E1-7A43A88E4F53}" destId="{D4CDA3E0-DBD0-43CC-A6A6-A1EF1F0999B3}" srcOrd="0" destOrd="0" presId="urn:microsoft.com/office/officeart/2024/3/layout/hArchList1"/>
    <dgm:cxn modelId="{2734E67E-26AE-42EF-9092-21BDD577B002}" type="presParOf" srcId="{DCB65E29-918B-43C3-83E1-7A43A88E4F53}" destId="{E10AA6A0-1950-46C7-8890-85906905A4D7}" srcOrd="1" destOrd="0" presId="urn:microsoft.com/office/officeart/2024/3/layout/hArchList1"/>
    <dgm:cxn modelId="{CC623FC7-9D07-44C5-BFFE-3C45632090A8}" type="presParOf" srcId="{3A2DA67E-D388-4C8F-A9DB-4A3233ECA981}" destId="{0BCC1E12-0ABD-4A63-91AC-D63A867E2028}" srcOrd="3" destOrd="0" presId="urn:microsoft.com/office/officeart/2024/3/layout/hArchList1"/>
    <dgm:cxn modelId="{7A86D252-E290-454C-8E1B-FFA1319164B9}" type="presParOf" srcId="{3A2DA67E-D388-4C8F-A9DB-4A3233ECA981}" destId="{83EA0A49-FBE5-4752-AF4C-ACA0BF36C950}" srcOrd="4" destOrd="0" presId="urn:microsoft.com/office/officeart/2024/3/layout/hArchList1"/>
    <dgm:cxn modelId="{612DF13B-FE85-460C-A19E-CF046D142EC4}" type="presParOf" srcId="{83EA0A49-FBE5-4752-AF4C-ACA0BF36C950}" destId="{F1271C5E-1396-415E-A187-95E0B835FD50}" srcOrd="0" destOrd="0" presId="urn:microsoft.com/office/officeart/2024/3/layout/hArchList1"/>
    <dgm:cxn modelId="{E1299FD1-D298-4F98-8BC2-33E7ABBDA0F8}" type="presParOf" srcId="{83EA0A49-FBE5-4752-AF4C-ACA0BF36C950}" destId="{8F0027A1-E1AA-4B97-BE86-599F615B6229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1D2CDB-3020-4035-9040-58DE4D8B462E}">
      <dsp:nvSpPr>
        <dsp:cNvPr id="0" name=""/>
        <dsp:cNvSpPr/>
      </dsp:nvSpPr>
      <dsp:spPr>
        <a:xfrm>
          <a:off x="0" y="0"/>
          <a:ext cx="3377565" cy="320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/>
            <a:t>Importância da Integridade</a:t>
          </a:r>
          <a:endParaRPr lang="en-US" sz="1800" kern="1200"/>
        </a:p>
      </dsp:txBody>
      <dsp:txXfrm>
        <a:off x="0" y="0"/>
        <a:ext cx="3377565" cy="320182"/>
      </dsp:txXfrm>
    </dsp:sp>
    <dsp:sp modelId="{A0DBE3AE-2DF2-46A9-A977-797CCD3B74A6}">
      <dsp:nvSpPr>
        <dsp:cNvPr id="0" name=""/>
        <dsp:cNvSpPr/>
      </dsp:nvSpPr>
      <dsp:spPr>
        <a:xfrm>
          <a:off x="0" y="320182"/>
          <a:ext cx="3377565" cy="2135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A integridade referencial garante a consistência dos dados em bancos relacionais, prevenindo erros e duplicações.</a:t>
          </a:r>
          <a:endParaRPr lang="en-US" sz="1400" kern="1200"/>
        </a:p>
      </dsp:txBody>
      <dsp:txXfrm>
        <a:off x="0" y="320182"/>
        <a:ext cx="3377565" cy="2135895"/>
      </dsp:txXfrm>
    </dsp:sp>
    <dsp:sp modelId="{D4CDA3E0-DBD0-43CC-A6A6-A1EF1F0999B3}">
      <dsp:nvSpPr>
        <dsp:cNvPr id="0" name=""/>
        <dsp:cNvSpPr/>
      </dsp:nvSpPr>
      <dsp:spPr>
        <a:xfrm>
          <a:off x="3715321" y="0"/>
          <a:ext cx="3377565" cy="320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/>
            <a:t>Implementação Correta</a:t>
          </a:r>
          <a:endParaRPr lang="en-US" sz="1800" kern="1200"/>
        </a:p>
      </dsp:txBody>
      <dsp:txXfrm>
        <a:off x="3715321" y="0"/>
        <a:ext cx="3377565" cy="320182"/>
      </dsp:txXfrm>
    </dsp:sp>
    <dsp:sp modelId="{E10AA6A0-1950-46C7-8890-85906905A4D7}">
      <dsp:nvSpPr>
        <dsp:cNvPr id="0" name=""/>
        <dsp:cNvSpPr/>
      </dsp:nvSpPr>
      <dsp:spPr>
        <a:xfrm>
          <a:off x="3715321" y="320182"/>
          <a:ext cx="3377565" cy="2135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A implementação adequada da integridade referencial é essencial para o funcionamento confiável dos sistemas de banco de dados.</a:t>
          </a:r>
          <a:endParaRPr lang="en-US" sz="1400" kern="1200"/>
        </a:p>
      </dsp:txBody>
      <dsp:txXfrm>
        <a:off x="3715321" y="320182"/>
        <a:ext cx="3377565" cy="2135895"/>
      </dsp:txXfrm>
    </dsp:sp>
    <dsp:sp modelId="{F1271C5E-1396-415E-A187-95E0B835FD50}">
      <dsp:nvSpPr>
        <dsp:cNvPr id="0" name=""/>
        <dsp:cNvSpPr/>
      </dsp:nvSpPr>
      <dsp:spPr>
        <a:xfrm>
          <a:off x="7430643" y="0"/>
          <a:ext cx="3377565" cy="320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/>
            <a:t>Manutenção Contínua</a:t>
          </a:r>
          <a:endParaRPr lang="en-US" sz="1800" kern="1200"/>
        </a:p>
      </dsp:txBody>
      <dsp:txXfrm>
        <a:off x="7430643" y="0"/>
        <a:ext cx="3377565" cy="320182"/>
      </dsp:txXfrm>
    </dsp:sp>
    <dsp:sp modelId="{8F0027A1-E1AA-4B97-BE86-599F615B6229}">
      <dsp:nvSpPr>
        <dsp:cNvPr id="0" name=""/>
        <dsp:cNvSpPr/>
      </dsp:nvSpPr>
      <dsp:spPr>
        <a:xfrm>
          <a:off x="7430643" y="320182"/>
          <a:ext cx="3377565" cy="2135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Manter a integridade referencial é vital para assegurar a qualidade dos dados ao longo do tempo.</a:t>
          </a:r>
          <a:endParaRPr lang="en-US" sz="1400" kern="1200"/>
        </a:p>
      </dsp:txBody>
      <dsp:txXfrm>
        <a:off x="7430643" y="320182"/>
        <a:ext cx="3377565" cy="2135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7018B-82A0-4110-AE08-28C416C672A0}" type="datetimeFigureOut">
              <a:rPr lang="pt-BR" smtClean="0"/>
              <a:t>22/07/2025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2022D-C34E-4DD2-81CA-D66A4F7233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71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Os conteúdos gerados por IA poderão estar incorretos.
---
Esta apresentação aborda os conceitos essenciais sobre integridade referencial em bancos de dados relacionais, explicando sua importância, implementação e os desafios associados, para garantir a consistência e confiabilidade dos dados.
Origem da imagem: biblioteca de conteúdos do Microsoft 365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279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
---
Vamos explorar os conceitos fundamentais de bancos de dados relacionais, definir integridade referencial, discutir sua implementação prática em SQL e analisar os benefícios e desafios dessa prática.
Origem da imagem: biblioteca de conteúdos do Microsoft 365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029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Nesta seção, apresentaremos os pilares dos bancos de dados relacionais, incluindo a definição, a importância das tabelas, chaves primárias e estrangeiras, e como os relacionamentos entre tabelas são estruturados.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9497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
---
Bancos de dados relacionais armazenam informações organizadas em tabelas estruturadas. Eles são essenciais para garantir integridade, eficiência e facilidade de acesso aos dados em diversas aplicações.
Origem da imagem: biblioteca de conteúdos do Microsoft 365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2550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Cada tabela possui uma chave primária que identifica unicamente cada registro. Chaves estrangeiras conectam tabelas diferentes, permitindo relacionamentos e integridade entre os dados armazenados.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951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
---
Os relacionamentos podem ser um-para-um, um-para-muitos ou muitos-para-muitos, e são fundamentais para modelar informações complexas e garantir consistência entre tabelas.
Origem da imagem: biblioteca de conteúdos do Microsoft 365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554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Este tópico define integridade referencial, diferencia-a da integridade de entidade e aborda o papel das chaves estrangeiras na manutenção da consistência dos dados entre tabelas relacionadas.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3707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
---
Integridade referencial assegura que referências entre tabelas permaneçam válidas, ou seja, que uma chave estrangeira em uma tabela aponte para uma chave primária existente em outra.
Origem da imagem: biblioteca de conteúdos do Microsoft 365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661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
---
Integridade de entidade garante que cada registro tenha uma chave primária única, enquanto integridade referencial assegura que as relações entre tabelas sejam consistentes e válidas.
Origem da imagem: biblioteca de conteúdos do Microsoft 365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974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
---
Chaves estrangeiras são o mecanismo que implementa a integridade referencial, vinculando registros de tabelas diferentes e garantindo que as conexões entre dados sejam corretas.
Origem da imagem: biblioteca de conteúdos do Microsoft 365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850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Vamos explorar como implementar integridade referencial via criação e restrição de chaves estrangeiras, as ações de atualização e exclusão disponíveis, e exemplos práticos em SQL.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3044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
---
Chaves estrangeiras são definidas no esquema do banco de dados para impor regras e restrições que asseguram que apenas dados válidos possam ser inseridos nas tabelas relacionadas.
Origem da imagem: biblioteca de conteúdos do Microsoft 365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278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
---
Estas ações definem o comportamento do banco de dados ao atualizar ou deletar registros referenciados, possibilitando manter a integridade dos dados conforme o contexto da aplicação.
Origem da imagem: biblioteca de conteúdos do Microsoft 365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2551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
---
Apresentaremos exemplos concretos de comandos SQL para criar chaves estrangeiras e definir ações apropriadas, facilitando a implementação da integridade referencial em projetos reais.
Origem da imagem: biblioteca de conteúdos do Microsoft 365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09948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Concluímos mostrando as vantagens da integridade referencial para a confiabilidade dos dados, os desafios enfrentados em relacionamentos complexos, e as melhores práticas para projetos eficientes.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225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
---
A integridade referencial evita dados órfãos e inconsistentes, garantindo que as informações sejam confiáveis e que os relacionamentos entre registros sejam mantidos corretamente.
Origem da imagem: biblioteca de conteúdos do Microsoft 365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92858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
---
Em bancos de dados com muitas tabelas e relacionamentos, gerenciar integridade referencial pode ser complexo e exigir planejamento cuidadoso para evitar problemas de desempenho e inconsistências.
Origem da imagem: biblioteca de conteúdos do Microsoft 365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282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
---
Adotar uma modelagem clara, definir restrições apropriadas e documentar as relações são práticas essenciais para garantir a integridade referencial e facilitar manutenção futura.
Origem da imagem: biblioteca de conteúdos do Microsoft 365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4335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integridade referencial é fundamental para manter a consistência e a qualidade dos dados em bancos relacionais. Sua correta implementação e manutenção são cruciais para o sucesso de qualquer sistema de banco de dados.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7A1C9-86B7-460E-924A-41CDB02FF214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5444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7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40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383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19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8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31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3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32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6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21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935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46D179-2F43-F9C0-5565-2D2F60DE8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01083" y="1409700"/>
            <a:ext cx="4167042" cy="287586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500"/>
              <a:t>Integridade Referencial em Bancos de Dados: Fundamentos e Práticas Essenciais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DD09AB-46F9-942F-AD18-0AE9F3CE4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9191" y="4431107"/>
            <a:ext cx="3972865" cy="1344426"/>
          </a:xfrm>
        </p:spPr>
        <p:txBody>
          <a:bodyPr anchor="t">
            <a:normAutofit/>
          </a:bodyPr>
          <a:lstStyle/>
          <a:p>
            <a:r>
              <a:rPr lang="pt-BR" sz="1700"/>
              <a:t>Garantindo consistência e confiabilidade dos dados relacionais</a:t>
            </a:r>
          </a:p>
        </p:txBody>
      </p:sp>
      <p:pic>
        <p:nvPicPr>
          <p:cNvPr id="4" name="Imagem 3" descr="Um padrão 3D de formas de anel conectadas por linhas">
            <a:extLst>
              <a:ext uri="{FF2B5EF4-FFF2-40B4-BE49-F238E27FC236}">
                <a16:creationId xmlns:a16="http://schemas.microsoft.com/office/drawing/2014/main" id="{7A96DFF6-326E-4903-8CB0-B40159674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970" b="-2"/>
          <a:stretch>
            <a:fillRect/>
          </a:stretch>
        </p:blipFill>
        <p:spPr>
          <a:xfrm>
            <a:off x="20" y="609600"/>
            <a:ext cx="6778327" cy="568832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248400"/>
            <a:ext cx="6778350" cy="4900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08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CCDF9E-D5D0-F76C-8D72-80F49FC3D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Programação da Apresentação</a:t>
            </a:r>
          </a:p>
        </p:txBody>
      </p:sp>
      <p:pic>
        <p:nvPicPr>
          <p:cNvPr id="5" name="Espaço Reservado para Conteúdo 4" descr="conceito de tecnologia digital">
            <a:extLst>
              <a:ext uri="{FF2B5EF4-FFF2-40B4-BE49-F238E27FC236}">
                <a16:creationId xmlns:a16="http://schemas.microsoft.com/office/drawing/2014/main" id="{E6205566-3354-4963-82A8-1133A800A1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30050" b="-2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592BCF-1C07-CC87-9F42-091D74AC9787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7269905" y="2176036"/>
            <a:ext cx="4261104" cy="41218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Conceitos Fundamentais de Banco de Dados Relacional</a:t>
            </a:r>
          </a:p>
          <a:p>
            <a:r>
              <a:rPr lang="en-US"/>
              <a:t>O que é Integridade Referencial</a:t>
            </a:r>
          </a:p>
          <a:p>
            <a:r>
              <a:rPr lang="en-US"/>
              <a:t>Implementação da Integridade Referencial</a:t>
            </a:r>
          </a:p>
          <a:p>
            <a:r>
              <a:rPr lang="en-US"/>
              <a:t>Benefícios e Desafios da Integridade Referencial</a:t>
            </a:r>
          </a:p>
        </p:txBody>
      </p:sp>
    </p:spTree>
    <p:extLst>
      <p:ext uri="{BB962C8B-B14F-4D97-AF65-F5344CB8AC3E}">
        <p14:creationId xmlns:p14="http://schemas.microsoft.com/office/powerpoint/2010/main" val="31038240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411AEB-27B0-7E10-9CE1-74475EF01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219" y="1115844"/>
            <a:ext cx="7680960" cy="4631911"/>
          </a:xfrm>
        </p:spPr>
        <p:txBody>
          <a:bodyPr anchor="b">
            <a:normAutofit/>
          </a:bodyPr>
          <a:lstStyle/>
          <a:p>
            <a:r>
              <a:rPr lang="pt-BR" sz="6500"/>
              <a:t>Conceitos Fundamentais de Banco de Dados Relacional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C0BBAA-A5EC-5D5D-32E6-9F7EA604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131" y="6268313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2488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46189D-8948-AA9C-2C0C-7CB750D80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Definição e importância dos bancos de dados relacionais</a:t>
            </a:r>
          </a:p>
        </p:txBody>
      </p:sp>
      <p:pic>
        <p:nvPicPr>
          <p:cNvPr id="5" name="Espaço Reservado para Conteúdo 4" descr="Racks de data center e servidor">
            <a:extLst>
              <a:ext uri="{FF2B5EF4-FFF2-40B4-BE49-F238E27FC236}">
                <a16:creationId xmlns:a16="http://schemas.microsoft.com/office/drawing/2014/main" id="{48CCBFEB-0487-4AF6-8A3B-86A5CA0688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1219" r="23920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31D810-874F-2BC6-A0D6-7601201D5D3C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029200" y="2176036"/>
            <a:ext cx="6501810" cy="41218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Armazenamento Estruturado de Dados</a:t>
            </a:r>
          </a:p>
          <a:p>
            <a:pPr marL="0" lvl="1" indent="0">
              <a:buNone/>
            </a:pPr>
            <a:r>
              <a:rPr lang="pt-BR" sz="1400"/>
              <a:t>Bancos de dados relacionais organizam dados em tabelas estruturadas para facilitar o acesso e a gestão eficiente.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Garantia de Integridade dos Dados</a:t>
            </a:r>
          </a:p>
          <a:p>
            <a:pPr marL="0" lvl="1" indent="0">
              <a:buNone/>
            </a:pPr>
            <a:r>
              <a:rPr lang="pt-BR" sz="1400"/>
              <a:t>Eles asseguram a integridade dos dados por meio de regras e restrições aplicadas às tabelas e relacionamentos.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Eficiência no Acesso aos Dados</a:t>
            </a:r>
          </a:p>
          <a:p>
            <a:pPr marL="0" lvl="1" indent="0">
              <a:buNone/>
            </a:pPr>
            <a:r>
              <a:rPr lang="pt-BR" sz="1400"/>
              <a:t>Oferecem mecanismos eficientes para consultar, atualizar e gerenciar grandes volumes de dados em diversas aplicações.</a:t>
            </a:r>
          </a:p>
        </p:txBody>
      </p:sp>
    </p:spTree>
    <p:extLst>
      <p:ext uri="{BB962C8B-B14F-4D97-AF65-F5344CB8AC3E}">
        <p14:creationId xmlns:p14="http://schemas.microsoft.com/office/powerpoint/2010/main" val="26171051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C82A9D-9439-E9AF-E8E7-98963853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631573"/>
            <a:ext cx="4265763" cy="144177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100"/>
              <a:t>Tabelas, chaves primárias e chaves estrangeiras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5D6E49-2019-6E54-CA7F-E8A2F6D19EF4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871353" y="1722570"/>
            <a:ext cx="5483190" cy="4457453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Chave Primária Única</a:t>
            </a:r>
          </a:p>
          <a:p>
            <a:pPr marL="0" lvl="1" indent="0">
              <a:buNone/>
            </a:pPr>
            <a:r>
              <a:rPr lang="pt-BR" sz="1400"/>
              <a:t>Cada tabela contém uma chave primária que identifica unicamente cada registro sem duplicatas.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Chaves Estrangeiras</a:t>
            </a:r>
          </a:p>
          <a:p>
            <a:pPr marL="0" lvl="1" indent="0">
              <a:buNone/>
            </a:pPr>
            <a:r>
              <a:rPr lang="pt-BR" sz="1400"/>
              <a:t>Chaves estrangeiras estabelecem conexões entre tabelas diferentes para relacionar dados.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Integridade dos Dados</a:t>
            </a:r>
          </a:p>
          <a:p>
            <a:pPr marL="0" lvl="1" indent="0">
              <a:buNone/>
            </a:pPr>
            <a:r>
              <a:rPr lang="pt-BR" sz="1400"/>
              <a:t>As chaves mantêm a integridade e consistência dos dados armazenados em múltiplas tabelas.</a:t>
            </a:r>
          </a:p>
        </p:txBody>
      </p:sp>
    </p:spTree>
    <p:extLst>
      <p:ext uri="{BB962C8B-B14F-4D97-AF65-F5344CB8AC3E}">
        <p14:creationId xmlns:p14="http://schemas.microsoft.com/office/powerpoint/2010/main" val="28242670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21C931-063B-CB59-4C9B-112786FEC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Visão geral dos relacionamentos entre tabelas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76DBC8-0338-62F7-63D4-B4FE644DF2D8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Relacionamento Um-para-Um</a:t>
            </a:r>
          </a:p>
          <a:p>
            <a:pPr marL="0" lvl="1" indent="0">
              <a:buNone/>
            </a:pPr>
            <a:r>
              <a:rPr lang="pt-BR" sz="1400"/>
              <a:t>Neste tipo, cada registro em uma tabela corresponde a um único registro em outra tabela, garantindo exclusividade.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Relacionamento Um-para-Muitos</a:t>
            </a:r>
          </a:p>
          <a:p>
            <a:pPr marL="0" lvl="1" indent="0">
              <a:buNone/>
            </a:pPr>
            <a:r>
              <a:rPr lang="pt-BR" sz="1400"/>
              <a:t>Um registro em uma tabela pode estar associado a múltiplos registros em outra tabela, útil para modelar hierarquias.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Relacionamento Muitos-para-Muitos</a:t>
            </a:r>
          </a:p>
          <a:p>
            <a:pPr marL="0" lvl="1" indent="0">
              <a:buNone/>
            </a:pPr>
            <a:r>
              <a:rPr lang="pt-BR" sz="1400"/>
              <a:t>Registros em uma tabela podem estar relacionados a vários registros em outra, geralmente implementado com tabelas intermediárias.</a:t>
            </a:r>
          </a:p>
        </p:txBody>
      </p:sp>
      <p:pic>
        <p:nvPicPr>
          <p:cNvPr id="5" name="Espaço Reservado para Conteúdo 4" descr="As bolhas de comunicação vermelhas com espaço de cópia são conectadas umas às outras com setas pretas. Esta imagem mostra as mídias sociais e a comunicação online entre as pessoas.">
            <a:extLst>
              <a:ext uri="{FF2B5EF4-FFF2-40B4-BE49-F238E27FC236}">
                <a16:creationId xmlns:a16="http://schemas.microsoft.com/office/drawing/2014/main" id="{7290F9D4-7C1B-4F45-8B90-0445641DAD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5547" r="29446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8954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2462FC-288D-0896-E3F4-3B3B15285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219" y="1115844"/>
            <a:ext cx="7680960" cy="4631911"/>
          </a:xfrm>
        </p:spPr>
        <p:txBody>
          <a:bodyPr anchor="b">
            <a:normAutofit/>
          </a:bodyPr>
          <a:lstStyle/>
          <a:p>
            <a:r>
              <a:rPr lang="pt-BR" sz="6500"/>
              <a:t>O que é Integridade Referencial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C0BBAA-A5EC-5D5D-32E6-9F7EA604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131" y="6268313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4041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4E40C3-DFC9-1E93-172B-CA9C1906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Definição de integridade referencial</a:t>
            </a:r>
          </a:p>
        </p:txBody>
      </p:sp>
      <p:pic>
        <p:nvPicPr>
          <p:cNvPr id="5" name="Espaço Reservado para Conteúdo 4" descr="código binário de programa abstrato e banco de dados de cubo de matriz colorida">
            <a:extLst>
              <a:ext uri="{FF2B5EF4-FFF2-40B4-BE49-F238E27FC236}">
                <a16:creationId xmlns:a16="http://schemas.microsoft.com/office/drawing/2014/main" id="{2BBD5C17-C4D6-4337-A559-4C43900902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4144" r="2" b="2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45CDD3-2252-3F89-5D43-E17B4B72F8DC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Conceito de Integridade Referencial</a:t>
            </a:r>
          </a:p>
          <a:p>
            <a:pPr marL="0" lvl="1" indent="0">
              <a:buNone/>
            </a:pPr>
            <a:r>
              <a:rPr lang="pt-BR" sz="1400"/>
              <a:t>Integridade referencial garante que as relações entre tabelas sejam consistentes e válidas.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Chave Primária e Estrangeira</a:t>
            </a:r>
          </a:p>
          <a:p>
            <a:pPr marL="0" lvl="1" indent="0">
              <a:buNone/>
            </a:pPr>
            <a:r>
              <a:rPr lang="pt-BR" sz="1400"/>
              <a:t>Uma chave estrangeira deve sempre apontar para uma chave primária que exista em outra tabela.</a:t>
            </a:r>
          </a:p>
        </p:txBody>
      </p:sp>
    </p:spTree>
    <p:extLst>
      <p:ext uri="{BB962C8B-B14F-4D97-AF65-F5344CB8AC3E}">
        <p14:creationId xmlns:p14="http://schemas.microsoft.com/office/powerpoint/2010/main" val="11587121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93856E-D92F-A51A-C1FA-10E2247EF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/>
              <a:t>Diferença entre integridade de entidade e integridade referencial</a:t>
            </a:r>
          </a:p>
        </p:txBody>
      </p:sp>
      <p:pic>
        <p:nvPicPr>
          <p:cNvPr id="5" name="Espaço Reservado para Conteúdo 4" descr="Conceito de dados comprimidos com palavras do alfabeto com blocos">
            <a:extLst>
              <a:ext uri="{FF2B5EF4-FFF2-40B4-BE49-F238E27FC236}">
                <a16:creationId xmlns:a16="http://schemas.microsoft.com/office/drawing/2014/main" id="{3B4D0914-0682-4A3D-820F-AEA5393360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207" r="6789" b="2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BB9E3E-71FF-C823-5EA8-BD52A252D6EC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Integridade de Entidade</a:t>
            </a:r>
          </a:p>
          <a:p>
            <a:pPr marL="0" lvl="1" indent="0">
              <a:buNone/>
            </a:pPr>
            <a:r>
              <a:rPr lang="pt-BR" sz="1400"/>
              <a:t>Garante que cada registro possua uma chave primária única e identificável na tabela.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Integridade Referencial</a:t>
            </a:r>
          </a:p>
          <a:p>
            <a:pPr marL="0" lvl="1" indent="0">
              <a:buNone/>
            </a:pPr>
            <a:r>
              <a:rPr lang="pt-BR" sz="1400"/>
              <a:t>Assegura que as relações entre tabelas permaneçam consistentes e válidas através de chaves estrangeiras.</a:t>
            </a:r>
          </a:p>
        </p:txBody>
      </p:sp>
    </p:spTree>
    <p:extLst>
      <p:ext uri="{BB962C8B-B14F-4D97-AF65-F5344CB8AC3E}">
        <p14:creationId xmlns:p14="http://schemas.microsoft.com/office/powerpoint/2010/main" val="10575861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0DAB3A-7C47-E8CD-0362-D68D484A6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/>
              <a:t>Papel das chaves estrangeiras na integridade referencial</a:t>
            </a:r>
          </a:p>
        </p:txBody>
      </p:sp>
      <p:pic>
        <p:nvPicPr>
          <p:cNvPr id="5" name="Espaço Reservado para Conteúdo 4" descr="Pasta de arquivos big data internet rede computação em nuvem">
            <a:extLst>
              <a:ext uri="{FF2B5EF4-FFF2-40B4-BE49-F238E27FC236}">
                <a16:creationId xmlns:a16="http://schemas.microsoft.com/office/drawing/2014/main" id="{8867D952-19E0-4443-91CA-21287D03F6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767" r="11512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3A1081-9E9E-65C0-9B42-574BD9629315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Definição de Chave Estrangeira</a:t>
            </a:r>
          </a:p>
          <a:p>
            <a:pPr marL="0" lvl="1" indent="0">
              <a:buNone/>
            </a:pPr>
            <a:r>
              <a:rPr lang="pt-BR" sz="1400"/>
              <a:t>Chaves estrangeiras conectam registros entre tabelas diferentes para manter a integridade dos dados no banco.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Garantia da Integridade Referencial</a:t>
            </a:r>
          </a:p>
          <a:p>
            <a:pPr marL="0" lvl="1" indent="0">
              <a:buNone/>
            </a:pPr>
            <a:r>
              <a:rPr lang="pt-BR" sz="1400"/>
              <a:t>As chaves estrangeiras asseguram que relações entre dados estejam corretas e consistentes em todo o banco.</a:t>
            </a:r>
          </a:p>
        </p:txBody>
      </p:sp>
    </p:spTree>
    <p:extLst>
      <p:ext uri="{BB962C8B-B14F-4D97-AF65-F5344CB8AC3E}">
        <p14:creationId xmlns:p14="http://schemas.microsoft.com/office/powerpoint/2010/main" val="14040771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EEF1FD-46FA-0E24-4FFE-FF8BFA5B1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219" y="1115844"/>
            <a:ext cx="7680960" cy="4631911"/>
          </a:xfrm>
        </p:spPr>
        <p:txBody>
          <a:bodyPr anchor="b">
            <a:normAutofit/>
          </a:bodyPr>
          <a:lstStyle/>
          <a:p>
            <a:r>
              <a:rPr lang="pt-BR" sz="6500"/>
              <a:t>Implementação da Integridade Referencial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C0BBAA-A5EC-5D5D-32E6-9F7EA604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131" y="6268313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4487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DB7E09-3629-9B36-3F68-F724BB794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Criação e restrições de chaves estrangeiras</a:t>
            </a:r>
          </a:p>
        </p:txBody>
      </p:sp>
      <p:pic>
        <p:nvPicPr>
          <p:cNvPr id="5" name="Espaço Reservado para Conteúdo 4" descr="Vista superior dos cubos conectados com linhas pretas">
            <a:extLst>
              <a:ext uri="{FF2B5EF4-FFF2-40B4-BE49-F238E27FC236}">
                <a16:creationId xmlns:a16="http://schemas.microsoft.com/office/drawing/2014/main" id="{1B6E12D5-684A-415D-B270-37EFB02235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6735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12EF30-D0E4-D40B-90BB-DAAE0B3EE429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Definição de Chaves Estrangeiras</a:t>
            </a:r>
          </a:p>
          <a:p>
            <a:pPr marL="0" lvl="1" indent="0">
              <a:buNone/>
            </a:pPr>
            <a:r>
              <a:rPr lang="pt-BR" sz="1400"/>
              <a:t>Chaves estrangeiras ligam tabelas e garantem que os dados relacionados permaneçam consistentes e válidos.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Imposição de Regras</a:t>
            </a:r>
          </a:p>
          <a:p>
            <a:pPr marL="0" lvl="1" indent="0">
              <a:buNone/>
            </a:pPr>
            <a:r>
              <a:rPr lang="pt-BR" sz="1400"/>
              <a:t>Restrições de chaves estrangeiras impedem inserção de dados inválidos nas tabelas relacionadas.</a:t>
            </a:r>
          </a:p>
        </p:txBody>
      </p:sp>
    </p:spTree>
    <p:extLst>
      <p:ext uri="{BB962C8B-B14F-4D97-AF65-F5344CB8AC3E}">
        <p14:creationId xmlns:p14="http://schemas.microsoft.com/office/powerpoint/2010/main" val="15084199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F15C1B-0E38-F454-CA38-ED932BB31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Ações de atualização e exclusão (CASCADE, SET NULL, RESTRICT, etc.)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388C95-6F46-5661-5E01-EC34A596A950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Ação CASCADE</a:t>
            </a:r>
          </a:p>
          <a:p>
            <a:pPr marL="0" lvl="1" indent="0">
              <a:buNone/>
            </a:pPr>
            <a:r>
              <a:rPr lang="pt-BR" sz="1400"/>
              <a:t>A ação CASCADE propaga atualizações e exclusões para registros relacionados automaticamente, mantendo consistência.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Ação SET NULL</a:t>
            </a:r>
          </a:p>
          <a:p>
            <a:pPr marL="0" lvl="1" indent="0">
              <a:buNone/>
            </a:pPr>
            <a:r>
              <a:rPr lang="pt-BR" sz="1400"/>
              <a:t>SET NULL define campos relacionados como nulos ao excluir ou atualizar um registro, evitando dados órfãos.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Ação RESTRICT</a:t>
            </a:r>
          </a:p>
          <a:p>
            <a:pPr marL="0" lvl="1" indent="0">
              <a:buNone/>
            </a:pPr>
            <a:r>
              <a:rPr lang="pt-BR" sz="1400"/>
              <a:t>RESTRICT impede a exclusão ou atualização se registros relacionados existirem, protegendo a integridade referencial.</a:t>
            </a:r>
          </a:p>
        </p:txBody>
      </p:sp>
      <p:pic>
        <p:nvPicPr>
          <p:cNvPr id="5" name="Espaço Reservado para Conteúdo 4" descr="Tabuleta digital com moedas na frente de ícones de tecnologia">
            <a:extLst>
              <a:ext uri="{FF2B5EF4-FFF2-40B4-BE49-F238E27FC236}">
                <a16:creationId xmlns:a16="http://schemas.microsoft.com/office/drawing/2014/main" id="{B5ED01F2-171B-4554-8D03-7ECD359FD5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2651" r="22343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1659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D3D182-0459-2BB6-7A4B-2A663B2E6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Exemplos práticos de aplicação em SQL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0077A9-9C1D-9132-2E80-D9F5335950C4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Criação de Chaves Estrangeiras</a:t>
            </a:r>
          </a:p>
          <a:p>
            <a:pPr marL="0" lvl="1" indent="0">
              <a:buNone/>
            </a:pPr>
            <a:r>
              <a:rPr lang="pt-BR" sz="1400"/>
              <a:t>Exemplos de comandos SQL para criar chaves estrangeiras que vinculam tabelas e garantem relacionamentos consistentes.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Definição de Ações de Integridade</a:t>
            </a:r>
          </a:p>
          <a:p>
            <a:pPr marL="0" lvl="1" indent="0">
              <a:buNone/>
            </a:pPr>
            <a:r>
              <a:rPr lang="pt-BR" sz="1400"/>
              <a:t>Configuração de ações como CASCADE, SET NULL para manter a integridade referencial durante atualizações e exclusões.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Implementação Prática</a:t>
            </a:r>
          </a:p>
          <a:p>
            <a:pPr marL="0" lvl="1" indent="0">
              <a:buNone/>
            </a:pPr>
            <a:r>
              <a:rPr lang="pt-BR" sz="1400"/>
              <a:t>Aplicação dos comandos SQL em projetos reais para garantir a integridade e a consistência dos dados.</a:t>
            </a:r>
          </a:p>
        </p:txBody>
      </p:sp>
      <p:pic>
        <p:nvPicPr>
          <p:cNvPr id="5" name="Espaço Reservado para Conteúdo 4" descr="um programador está depurando seu código (o código é espelhado horizontalmente)&#10;&#10;Veja mais arquivos semelhantes:&#10;[url=search/portfolio/248175/?facets={%2235%22:%5B%22technology%22,%22OR%20computer%22,%22OR%20camera%22,%22OR%20internet%22%5D,%229%22:0,%2230%22:%22100%22}][img]http://www.photonullplus.de/misc/istock/istock-thumb-tech.jpg[/img][/url] [url=search/portfolio/248175/?facets={%2235%22:%5B%22job%22,%22OR%20work%22,%22OR%20messenger%22%5D,%229%22:0,%2230%22:%22100%22}][img]http://www.photonullplus.de/misc/istock/istock-thumb-jobs.jpg[/img][/url]&#10;&#10;[url=file_closeup.php?id=9924417][img]file_thumbview_approve.php?size=1&amp;id=9924417[/img][/url] [url=file_closeup.php?id=9880384][img]file_thumbview_approve.php?size=1&amp;id=9880384[/img][/url] [url=file_closeup.php?id=9880369][img]file_thumbview_approve.php?size=1&amp;id=9880369[/img][/url] [url=file_closeup.php?id=9880343][img]file_thumbview_approve.php?size=1&amp;id=9880343[/img][/url] [url=file_closeup.php?id=9880317][img]file_thumbview_approve.php?size=1&amp;id=9880317[/img][/url] [url=file_ closeup.php?id=9422617][img]file_thumbview_approve.php?size=1&amp;id=9422617[/img][/url] [url=file_closeup.php?id=9422623][img]file_thumbview_approve.php?size=1&amp;id=9422623[/img][/url] [url=file_closeup.php?id=16508469][img]file_thumbview_approve.php?size=1&amp;id=16508469[/img][/url] [url=file_closeup.php?id=16863859][img]file_thumbview_approve.php?size=1&amp;id=16863859[/img][/url] [url=file_closeup.php?id=16863845][img]file_thumbview_approve.php?size=1&amp;id=16863845[/img][/url] [url=file_closeup.php?id=17323807][img]file_thumbview_approve.php?size=1&amp;id=17323807[/img][/url] [url=file_closeup.php?id=17323693][img]file_thumbview_approve.php?size=1&amp;id=17323693[/img][/url] [url=file_closeup.php?id=18279006][img]file_thumbview_approve.php?size=1&amp;id=18279006[/img][/url] [url=file_closeup.php?id=18279019][img]file_thumbview_approve.php?size=1&amp;id=18279019[/img][/url]">
            <a:extLst>
              <a:ext uri="{FF2B5EF4-FFF2-40B4-BE49-F238E27FC236}">
                <a16:creationId xmlns:a16="http://schemas.microsoft.com/office/drawing/2014/main" id="{3998296E-ACB3-4D04-86DC-A2B8010C35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7872" r="7122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6108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1DB732-3B12-D021-0833-2A53A2686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219" y="1115844"/>
            <a:ext cx="7680960" cy="4631911"/>
          </a:xfrm>
        </p:spPr>
        <p:txBody>
          <a:bodyPr anchor="b">
            <a:normAutofit/>
          </a:bodyPr>
          <a:lstStyle/>
          <a:p>
            <a:r>
              <a:rPr lang="pt-BR" sz="6500"/>
              <a:t>Benefícios e Desafios da Integridade Referencial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C0BBAA-A5EC-5D5D-32E6-9F7EA6048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131" y="6268313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5376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E598A6-46D8-F514-A6C8-23A3E732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Vantagens para a consistência e confiabilidade dos dados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E9D3BC-CB24-4D1D-624C-80D211D8695D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Prevenção de Dados Órfãos</a:t>
            </a:r>
          </a:p>
          <a:p>
            <a:pPr marL="0" lvl="1" indent="0">
              <a:buNone/>
            </a:pPr>
            <a:r>
              <a:rPr lang="pt-BR" sz="1400"/>
              <a:t>A integridade referencial assegura que não existam dados sem vínculos, mantendo a base de dados organizada e limpa.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Consistência dos Relacionamentos</a:t>
            </a:r>
          </a:p>
          <a:p>
            <a:pPr marL="0" lvl="1" indent="0">
              <a:buNone/>
            </a:pPr>
            <a:r>
              <a:rPr lang="pt-BR" sz="1400"/>
              <a:t>Garante que os relacionamentos entre registros sejam mantidos corretamente, evitando inconsistências nos dados.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Confiabilidade das Informações</a:t>
            </a:r>
          </a:p>
          <a:p>
            <a:pPr marL="0" lvl="1" indent="0">
              <a:buNone/>
            </a:pPr>
            <a:r>
              <a:rPr lang="pt-BR" sz="1400"/>
              <a:t>Promove a confiança nas informações armazenadas, assegurando que os dados sejam precisos e válidos.</a:t>
            </a:r>
          </a:p>
        </p:txBody>
      </p:sp>
      <p:pic>
        <p:nvPicPr>
          <p:cNvPr id="5" name="Espaço Reservado para Conteúdo 4" descr="Servidor 3D com cadeado - Conceito de banco de dados">
            <a:extLst>
              <a:ext uri="{FF2B5EF4-FFF2-40B4-BE49-F238E27FC236}">
                <a16:creationId xmlns:a16="http://schemas.microsoft.com/office/drawing/2014/main" id="{2294FEA6-88B1-4D28-B48F-A1E56EA62A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7293" r="16877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0909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BE06A3-2F70-EB80-F29F-521DD5FBC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29147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Desafios na manutenção de relacionamentos complexos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E9E52F-46B3-D23B-96D1-41A3CEE2D064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0080" y="2176036"/>
            <a:ext cx="6291472" cy="412394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Complexidade dos Relacionamentos</a:t>
            </a:r>
          </a:p>
          <a:p>
            <a:pPr marL="0" lvl="1" indent="0">
              <a:buNone/>
            </a:pPr>
            <a:r>
              <a:rPr lang="pt-BR" sz="1400"/>
              <a:t>Muitos relacionamentos entre tabelas aumentam a complexidade e dificultam o gerenciamento eficaz dos dados.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Integridade Referencial</a:t>
            </a:r>
          </a:p>
          <a:p>
            <a:pPr marL="0" lvl="1" indent="0">
              <a:buNone/>
            </a:pPr>
            <a:r>
              <a:rPr lang="pt-BR" sz="1400"/>
              <a:t>Garantir integridade referencial é crucial para prevenir inconsistências e manter dados confiáveis.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Desempenho e Planejamento</a:t>
            </a:r>
          </a:p>
          <a:p>
            <a:pPr marL="0" lvl="1" indent="0">
              <a:buNone/>
            </a:pPr>
            <a:r>
              <a:rPr lang="pt-BR" sz="1400"/>
              <a:t>Planejamento cuidadoso é necessário para evitar problemas de desempenho ligados a relacionamentos complexos.</a:t>
            </a:r>
          </a:p>
        </p:txBody>
      </p:sp>
      <p:pic>
        <p:nvPicPr>
          <p:cNvPr id="5" name="Espaço Reservado para Conteúdo 4" descr="Arquivos em fundo digital">
            <a:extLst>
              <a:ext uri="{FF2B5EF4-FFF2-40B4-BE49-F238E27FC236}">
                <a16:creationId xmlns:a16="http://schemas.microsoft.com/office/drawing/2014/main" id="{BDC1EB08-A1BE-413F-9FD4-2FF0B83ABE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3017" r="21977"/>
          <a:stretch>
            <a:fillRect/>
          </a:stretch>
        </p:blipFill>
        <p:spPr>
          <a:xfrm>
            <a:off x="7776429" y="914400"/>
            <a:ext cx="4414591" cy="53571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774468" y="6271515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3206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D3D6F1-DB36-33DE-D587-12C675F4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914400"/>
            <a:ext cx="6501810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Boas práticas e recomendações para projetos de banco de dados</a:t>
            </a:r>
          </a:p>
        </p:txBody>
      </p:sp>
      <p:pic>
        <p:nvPicPr>
          <p:cNvPr id="5" name="Espaço Reservado para Conteúdo 4" descr="Emblema do símbolo de big data do banco de dados">
            <a:extLst>
              <a:ext uri="{FF2B5EF4-FFF2-40B4-BE49-F238E27FC236}">
                <a16:creationId xmlns:a16="http://schemas.microsoft.com/office/drawing/2014/main" id="{146418F2-7D4F-45C9-9A95-E423C57EA5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8549" r="8955" b="1"/>
          <a:stretch>
            <a:fillRect/>
          </a:stretch>
        </p:blipFill>
        <p:spPr>
          <a:xfrm>
            <a:off x="20" y="914399"/>
            <a:ext cx="4416532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17D4AD-E007-7102-2C11-EA90D449E00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029200" y="2176036"/>
            <a:ext cx="6501810" cy="41218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Modelagem Clara</a:t>
            </a:r>
          </a:p>
          <a:p>
            <a:pPr marL="0" lvl="1" indent="0">
              <a:buNone/>
            </a:pPr>
            <a:r>
              <a:rPr lang="pt-BR" sz="1400"/>
              <a:t>Criar um modelo de dados claro facilita a compreensão e o desenvolvimento do banco de dados.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Definição de Restrições</a:t>
            </a:r>
          </a:p>
          <a:p>
            <a:pPr marL="0" lvl="1" indent="0">
              <a:buNone/>
            </a:pPr>
            <a:r>
              <a:rPr lang="pt-BR" sz="1400"/>
              <a:t>Definir restrições apropriadas garante a integridade dos dados e evita inconsistências.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/>
              <a:t>Documentação das Relações</a:t>
            </a:r>
          </a:p>
          <a:p>
            <a:pPr marL="0" lvl="1" indent="0">
              <a:buNone/>
            </a:pPr>
            <a:r>
              <a:rPr lang="pt-BR" sz="1400"/>
              <a:t>Documentar relações entre entidades facilita manutenção e futuras melhorias do sistema.</a:t>
            </a:r>
          </a:p>
        </p:txBody>
      </p:sp>
    </p:spTree>
    <p:extLst>
      <p:ext uri="{BB962C8B-B14F-4D97-AF65-F5344CB8AC3E}">
        <p14:creationId xmlns:p14="http://schemas.microsoft.com/office/powerpoint/2010/main" val="2574101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E4B09C-F18A-D87A-A7A4-AE69DC010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572768"/>
            <a:ext cx="8162176" cy="1406993"/>
          </a:xfrm>
        </p:spPr>
        <p:txBody>
          <a:bodyPr anchor="b">
            <a:normAutofit/>
          </a:bodyPr>
          <a:lstStyle/>
          <a:p>
            <a:r>
              <a:rPr lang="pt-BR" sz="6000"/>
              <a:t>Conclusão</a:t>
            </a:r>
          </a:p>
        </p:txBody>
      </p:sp>
      <p:graphicFrame>
        <p:nvGraphicFramePr>
          <p:cNvPr id="11" name="Espaço Reservado para Conteúdo 2">
            <a:extLst>
              <a:ext uri="{FF2B5EF4-FFF2-40B4-BE49-F238E27FC236}">
                <a16:creationId xmlns:a16="http://schemas.microsoft.com/office/drawing/2014/main" id="{CAF47F08-DB94-D20B-8583-D6848D533C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16109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640078" y="3593592"/>
          <a:ext cx="10808208" cy="251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1FC8CC-145C-8745-889B-6521F9CCB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3256965"/>
            <a:ext cx="97886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33448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611573A3B02F4AA65BD9250F7B61D3" ma:contentTypeVersion="3" ma:contentTypeDescription="Crie um novo documento." ma:contentTypeScope="" ma:versionID="f1d6d34c180a68ae72819c40e993c268">
  <xsd:schema xmlns:xsd="http://www.w3.org/2001/XMLSchema" xmlns:xs="http://www.w3.org/2001/XMLSchema" xmlns:p="http://schemas.microsoft.com/office/2006/metadata/properties" xmlns:ns2="f74c2887-6b51-4c2d-b9b9-9685c51b7bec" targetNamespace="http://schemas.microsoft.com/office/2006/metadata/properties" ma:root="true" ma:fieldsID="1f249f7814d688ce95473c3a35a45139" ns2:_="">
    <xsd:import namespace="f74c2887-6b51-4c2d-b9b9-9685c51b7b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4c2887-6b51-4c2d-b9b9-9685c51b7b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F18A69-622A-443D-BD7F-5D7AB745FB5F}"/>
</file>

<file path=customXml/itemProps2.xml><?xml version="1.0" encoding="utf-8"?>
<ds:datastoreItem xmlns:ds="http://schemas.openxmlformats.org/officeDocument/2006/customXml" ds:itemID="{1436650E-2653-4698-A625-5E8C3068DC2B}"/>
</file>

<file path=customXml/itemProps3.xml><?xml version="1.0" encoding="utf-8"?>
<ds:datastoreItem xmlns:ds="http://schemas.openxmlformats.org/officeDocument/2006/customXml" ds:itemID="{C020DEEF-78F0-4BCE-BDAB-A3BD4F823FF7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1610</Words>
  <Application>Microsoft Office PowerPoint</Application>
  <PresentationFormat>Widescreen</PresentationFormat>
  <Paragraphs>132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Aptos</vt:lpstr>
      <vt:lpstr>Arial</vt:lpstr>
      <vt:lpstr>Bierstadt</vt:lpstr>
      <vt:lpstr>Grandview Display</vt:lpstr>
      <vt:lpstr>DashVTI</vt:lpstr>
      <vt:lpstr>Integridade Referencial em Bancos de Dados: Fundamentos e Práticas Essenciais</vt:lpstr>
      <vt:lpstr>Programação da Apresentação</vt:lpstr>
      <vt:lpstr>Conceitos Fundamentais de Banco de Dados Relacional</vt:lpstr>
      <vt:lpstr>Definição e importância dos bancos de dados relacionais</vt:lpstr>
      <vt:lpstr>Tabelas, chaves primárias e chaves estrangeiras</vt:lpstr>
      <vt:lpstr>Visão geral dos relacionamentos entre tabelas</vt:lpstr>
      <vt:lpstr>O que é Integridade Referencial</vt:lpstr>
      <vt:lpstr>Definição de integridade referencial</vt:lpstr>
      <vt:lpstr>Diferença entre integridade de entidade e integridade referencial</vt:lpstr>
      <vt:lpstr>Papel das chaves estrangeiras na integridade referencial</vt:lpstr>
      <vt:lpstr>Implementação da Integridade Referencial</vt:lpstr>
      <vt:lpstr>Criação e restrições de chaves estrangeiras</vt:lpstr>
      <vt:lpstr>Ações de atualização e exclusão (CASCADE, SET NULL, RESTRICT, etc.)</vt:lpstr>
      <vt:lpstr>Exemplos práticos de aplicação em SQL</vt:lpstr>
      <vt:lpstr>Benefícios e Desafios da Integridade Referencial</vt:lpstr>
      <vt:lpstr>Vantagens para a consistência e confiabilidade dos dados</vt:lpstr>
      <vt:lpstr>Desafios na manutenção de relacionamentos complexos</vt:lpstr>
      <vt:lpstr>Boas práticas e recomendações para projetos de banco de dados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celso luis caldeira</dc:creator>
  <cp:lastModifiedBy>celso luis caldeira</cp:lastModifiedBy>
  <cp:revision>1</cp:revision>
  <dcterms:created xsi:type="dcterms:W3CDTF">2025-07-22T12:58:43Z</dcterms:created>
  <dcterms:modified xsi:type="dcterms:W3CDTF">2025-07-22T13:02:06Z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0x0101001C611573A3B02F4AA65BD9250F7B61D3</vt:lpwstr>
  </property>
</Properties>
</file>
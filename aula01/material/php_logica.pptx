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83" r:id="rId13"/>
    <p:sldId id="267" r:id="rId14"/>
    <p:sldId id="272" r:id="rId15"/>
    <p:sldId id="268" r:id="rId16"/>
    <p:sldId id="269" r:id="rId17"/>
    <p:sldId id="270" r:id="rId18"/>
    <p:sldId id="271" r:id="rId19"/>
    <p:sldId id="273" r:id="rId20"/>
    <p:sldId id="274" r:id="rId21"/>
    <p:sldId id="275" r:id="rId22"/>
    <p:sldId id="276" r:id="rId23"/>
    <p:sldId id="277" r:id="rId24"/>
    <p:sldId id="278" r:id="rId25"/>
    <p:sldId id="279" r:id="rId26"/>
    <p:sldId id="280" r:id="rId27"/>
    <p:sldId id="281" r:id="rId28"/>
    <p:sldId id="282" r:id="rId2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A8E"/>
    <a:srgbClr val="C3C3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édio 2 - Ênfas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B4B98B0-60AC-42C2-AFA5-B58CD77FA1E5}" styleName="Estilo Claro 1 - Ênfas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Estilo Claro 3 - Ênfase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Estilo Médio 1 - Ênfas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Estilo Médio 4 - Ênfas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501" autoAdjust="0"/>
  </p:normalViewPr>
  <p:slideViewPr>
    <p:cSldViewPr snapToGrid="0">
      <p:cViewPr varScale="1">
        <p:scale>
          <a:sx n="87" d="100"/>
          <a:sy n="87" d="100"/>
        </p:scale>
        <p:origin x="204" y="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a:xfrm>
            <a:off x="588498" y="2897944"/>
            <a:ext cx="11380764" cy="1170576"/>
          </a:xfrm>
        </p:spPr>
        <p:txBody>
          <a:bodyPr anchor="b"/>
          <a:lstStyle>
            <a:lvl1pPr algn="ctr">
              <a:defRPr sz="6000">
                <a:solidFill>
                  <a:schemeClr val="accent1">
                    <a:lumMod val="50000"/>
                  </a:schemeClr>
                </a:solidFill>
                <a:latin typeface="Helvetica" panose="020B0604020202020204" pitchFamily="34" charset="0"/>
                <a:cs typeface="Helvetica" panose="020B0604020202020204" pitchFamily="34" charset="0"/>
              </a:defRPr>
            </a:lvl1pPr>
          </a:lstStyle>
          <a:p>
            <a:r>
              <a:rPr lang="pt-BR"/>
              <a:t>Clique para editar o título mestre</a:t>
            </a:r>
          </a:p>
        </p:txBody>
      </p:sp>
      <p:sp>
        <p:nvSpPr>
          <p:cNvPr id="3" name="Subtítulo 2"/>
          <p:cNvSpPr>
            <a:spLocks noGrp="1"/>
          </p:cNvSpPr>
          <p:nvPr>
            <p:ph type="subTitle" idx="1"/>
          </p:nvPr>
        </p:nvSpPr>
        <p:spPr>
          <a:xfrm>
            <a:off x="1706880" y="4130998"/>
            <a:ext cx="9144000" cy="730810"/>
          </a:xfrm>
        </p:spPr>
        <p:txBody>
          <a:bodyPr/>
          <a:lstStyle>
            <a:lvl1pPr marL="0" indent="0" algn="ctr">
              <a:buNone/>
              <a:defRPr sz="2400">
                <a:solidFill>
                  <a:schemeClr val="accent1">
                    <a:lumMod val="50000"/>
                  </a:schemeClr>
                </a:solidFill>
                <a:latin typeface="Helvetica" panose="020B0604020202020204" pitchFamily="34" charset="0"/>
                <a:cs typeface="Helvetica"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9642BF85-54FF-46CE-B398-87F998CFD60B}" type="datetimeFigureOut">
              <a:rPr lang="pt-BR" smtClean="0"/>
              <a:t>13/01/2025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1132987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0" y="224449"/>
            <a:ext cx="12023188" cy="858764"/>
          </a:xfrm>
        </p:spPr>
        <p:txBody>
          <a:bodyPr/>
          <a:lstStyle>
            <a:lvl1pPr>
              <a:defRPr>
                <a:solidFill>
                  <a:schemeClr val="accent1">
                    <a:lumMod val="50000"/>
                  </a:schemeClr>
                </a:solidFill>
                <a:latin typeface="Helvetica" panose="020B0604020202020204" pitchFamily="34" charset="0"/>
                <a:cs typeface="Helvetica" panose="020B0604020202020204" pitchFamily="34" charset="0"/>
              </a:defRPr>
            </a:lvl1pPr>
          </a:lstStyle>
          <a:p>
            <a:r>
              <a:rPr lang="pt-BR"/>
              <a:t>Clique para editar o título mestre</a:t>
            </a:r>
          </a:p>
        </p:txBody>
      </p:sp>
      <p:sp>
        <p:nvSpPr>
          <p:cNvPr id="3" name="Espaço Reservado para Conteúdo 2"/>
          <p:cNvSpPr>
            <a:spLocks noGrp="1"/>
          </p:cNvSpPr>
          <p:nvPr>
            <p:ph idx="1"/>
          </p:nvPr>
        </p:nvSpPr>
        <p:spPr>
          <a:xfrm>
            <a:off x="317694" y="1291053"/>
            <a:ext cx="11705493" cy="4351338"/>
          </a:xfrm>
        </p:spPr>
        <p:txBody>
          <a:bodyPr/>
          <a:lstStyle>
            <a:lvl1pPr>
              <a:defRPr>
                <a:solidFill>
                  <a:schemeClr val="accent1">
                    <a:lumMod val="50000"/>
                  </a:schemeClr>
                </a:solidFill>
                <a:latin typeface="Helvetica" panose="020B0604020202020204" pitchFamily="34" charset="0"/>
                <a:cs typeface="Helvetica" panose="020B0604020202020204" pitchFamily="34" charset="0"/>
              </a:defRPr>
            </a:lvl1pPr>
            <a:lvl2pPr>
              <a:defRPr>
                <a:solidFill>
                  <a:schemeClr val="accent1">
                    <a:lumMod val="50000"/>
                  </a:schemeClr>
                </a:solidFill>
                <a:latin typeface="Helvetica" panose="020B0604020202020204" pitchFamily="34" charset="0"/>
                <a:cs typeface="Helvetica" panose="020B0604020202020204" pitchFamily="34" charset="0"/>
              </a:defRPr>
            </a:lvl2pPr>
            <a:lvl3pPr>
              <a:defRPr>
                <a:solidFill>
                  <a:schemeClr val="accent1">
                    <a:lumMod val="50000"/>
                  </a:schemeClr>
                </a:solidFill>
                <a:latin typeface="Helvetica" panose="020B0604020202020204" pitchFamily="34" charset="0"/>
                <a:cs typeface="Helvetica" panose="020B0604020202020204" pitchFamily="34" charset="0"/>
              </a:defRPr>
            </a:lvl3pPr>
            <a:lvl4pPr>
              <a:defRPr>
                <a:solidFill>
                  <a:schemeClr val="accent1">
                    <a:lumMod val="50000"/>
                  </a:schemeClr>
                </a:solidFill>
                <a:latin typeface="Helvetica" panose="020B0604020202020204" pitchFamily="34" charset="0"/>
                <a:cs typeface="Helvetica" panose="020B0604020202020204" pitchFamily="34" charset="0"/>
              </a:defRPr>
            </a:lvl4pPr>
            <a:lvl5pPr>
              <a:defRPr>
                <a:solidFill>
                  <a:schemeClr val="accent1">
                    <a:lumMod val="50000"/>
                  </a:schemeClr>
                </a:solidFill>
                <a:latin typeface="Helvetica" panose="020B0604020202020204" pitchFamily="34" charset="0"/>
                <a:cs typeface="Helvetica" panose="020B0604020202020204" pitchFamily="34" charset="0"/>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9642BF85-54FF-46CE-B398-87F998CFD60B}" type="datetimeFigureOut">
              <a:rPr lang="pt-BR" smtClean="0"/>
              <a:t>13/01/2025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1236980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8200" y="513984"/>
            <a:ext cx="10515600" cy="3467173"/>
          </a:xfrm>
        </p:spPr>
        <p:txBody>
          <a:bodyPr anchor="b">
            <a:normAutofit/>
          </a:bodyPr>
          <a:lstStyle>
            <a:lvl1pPr>
              <a:defRPr sz="5400">
                <a:solidFill>
                  <a:schemeClr val="accent1">
                    <a:lumMod val="50000"/>
                  </a:schemeClr>
                </a:solidFill>
                <a:latin typeface="Helvetica" panose="020B0604020202020204" pitchFamily="34" charset="0"/>
                <a:cs typeface="Helvetica" panose="020B0604020202020204" pitchFamily="34" charset="0"/>
              </a:defRPr>
            </a:lvl1pPr>
          </a:lstStyle>
          <a:p>
            <a:r>
              <a:rPr lang="pt-BR" dirty="0"/>
              <a:t>Clique para editar o título mestre</a:t>
            </a:r>
          </a:p>
        </p:txBody>
      </p:sp>
      <p:sp>
        <p:nvSpPr>
          <p:cNvPr id="3" name="Espaço Reservado para Texto 2"/>
          <p:cNvSpPr>
            <a:spLocks noGrp="1"/>
          </p:cNvSpPr>
          <p:nvPr>
            <p:ph type="body" idx="1"/>
          </p:nvPr>
        </p:nvSpPr>
        <p:spPr>
          <a:xfrm>
            <a:off x="838200" y="3981157"/>
            <a:ext cx="10515600" cy="912739"/>
          </a:xfrm>
        </p:spPr>
        <p:txBody>
          <a:bodyPr/>
          <a:lstStyle>
            <a:lvl1pPr marL="0" indent="0">
              <a:buNone/>
              <a:defRPr sz="2400">
                <a:solidFill>
                  <a:schemeClr val="tx1">
                    <a:tint val="75000"/>
                  </a:schemeClr>
                </a:solidFill>
                <a:latin typeface="Helvetica" panose="020B0604020202020204" pitchFamily="34" charset="0"/>
                <a:cs typeface="Helvetica"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dirty="0"/>
              <a:t>Clique para editar o texto mestre</a:t>
            </a:r>
          </a:p>
        </p:txBody>
      </p:sp>
      <p:sp>
        <p:nvSpPr>
          <p:cNvPr id="4" name="Espaço Reservado para Data 3"/>
          <p:cNvSpPr>
            <a:spLocks noGrp="1"/>
          </p:cNvSpPr>
          <p:nvPr>
            <p:ph type="dt" sz="half" idx="10"/>
          </p:nvPr>
        </p:nvSpPr>
        <p:spPr/>
        <p:txBody>
          <a:bodyPr/>
          <a:lstStyle/>
          <a:p>
            <a:fld id="{9642BF85-54FF-46CE-B398-87F998CFD60B}" type="datetimeFigureOut">
              <a:rPr lang="pt-BR" smtClean="0"/>
              <a:t>13/01/2025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178441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0" y="154111"/>
            <a:ext cx="12192000" cy="830628"/>
          </a:xfrm>
        </p:spPr>
        <p:txBody>
          <a:bodyPr/>
          <a:lstStyle>
            <a:lvl1pPr>
              <a:defRPr>
                <a:solidFill>
                  <a:schemeClr val="accent1">
                    <a:lumMod val="50000"/>
                  </a:schemeClr>
                </a:solidFill>
                <a:latin typeface="Helvetica" panose="020B0604020202020204" pitchFamily="34" charset="0"/>
                <a:cs typeface="Helvetica" panose="020B0604020202020204" pitchFamily="34" charset="0"/>
              </a:defRPr>
            </a:lvl1p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9642BF85-54FF-46CE-B398-87F998CFD60B}" type="datetimeFigureOut">
              <a:rPr lang="pt-BR" smtClean="0"/>
              <a:t>13/01/2025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2145297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9642BF85-54FF-46CE-B398-87F998CFD60B}" type="datetimeFigureOut">
              <a:rPr lang="pt-BR" smtClean="0"/>
              <a:t>13/01/2025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1904800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a:xfrm>
            <a:off x="0" y="154110"/>
            <a:ext cx="12192000" cy="985373"/>
          </a:xfrm>
        </p:spPr>
        <p:txBody>
          <a:bodyPr/>
          <a:lstStyle>
            <a:lvl1pPr>
              <a:defRPr>
                <a:solidFill>
                  <a:schemeClr val="accent1">
                    <a:lumMod val="50000"/>
                  </a:schemeClr>
                </a:solidFill>
                <a:latin typeface="Helvetica" panose="020B0604020202020204" pitchFamily="34" charset="0"/>
                <a:cs typeface="Helvetica" panose="020B0604020202020204" pitchFamily="34" charset="0"/>
              </a:defRPr>
            </a:lvl1pPr>
          </a:lstStyle>
          <a:p>
            <a:r>
              <a:rPr lang="pt-BR"/>
              <a:t>Clique para editar o título mestre</a:t>
            </a:r>
          </a:p>
        </p:txBody>
      </p:sp>
      <p:sp>
        <p:nvSpPr>
          <p:cNvPr id="3" name="Espaço Reservado para Data 2"/>
          <p:cNvSpPr>
            <a:spLocks noGrp="1"/>
          </p:cNvSpPr>
          <p:nvPr>
            <p:ph type="dt" sz="half" idx="10"/>
          </p:nvPr>
        </p:nvSpPr>
        <p:spPr/>
        <p:txBody>
          <a:bodyPr/>
          <a:lstStyle/>
          <a:p>
            <a:fld id="{9642BF85-54FF-46CE-B398-87F998CFD60B}" type="datetimeFigureOut">
              <a:rPr lang="pt-BR" smtClean="0"/>
              <a:t>13/01/2025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1500917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9642BF85-54FF-46CE-B398-87F998CFD60B}" type="datetimeFigureOut">
              <a:rPr lang="pt-BR" smtClean="0"/>
              <a:t>13/01/2025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1308852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9642BF85-54FF-46CE-B398-87F998CFD60B}" type="datetimeFigureOut">
              <a:rPr lang="pt-BR" smtClean="0"/>
              <a:t>13/01/2025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2137585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9642BF85-54FF-46CE-B398-87F998CFD60B}" type="datetimeFigureOut">
              <a:rPr lang="pt-BR" smtClean="0"/>
              <a:t>13/01/2025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1823323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9642BF85-54FF-46CE-B398-87F998CFD60B}" type="datetimeFigureOut">
              <a:rPr lang="pt-BR" smtClean="0"/>
              <a:t>13/01/2025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235070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9642BF85-54FF-46CE-B398-87F998CFD60B}" type="datetimeFigureOut">
              <a:rPr lang="pt-BR" smtClean="0"/>
              <a:t>13/01/2025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9185252-FBA3-417A-8652-C405B89605D8}" type="slidenum">
              <a:rPr lang="pt-BR" smtClean="0"/>
              <a:t>‹nº›</a:t>
            </a:fld>
            <a:endParaRPr lang="pt-BR"/>
          </a:p>
        </p:txBody>
      </p:sp>
    </p:spTree>
    <p:extLst>
      <p:ext uri="{BB962C8B-B14F-4D97-AF65-F5344CB8AC3E}">
        <p14:creationId xmlns:p14="http://schemas.microsoft.com/office/powerpoint/2010/main" val="74208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0" y="154111"/>
            <a:ext cx="12192000" cy="1041644"/>
          </a:xfrm>
          <a:prstGeom prst="rect">
            <a:avLst/>
          </a:prstGeom>
        </p:spPr>
        <p:txBody>
          <a:bodyPr vert="horz" lIns="91440" tIns="45720" rIns="91440" bIns="45720" rtlCol="0" anchor="ctr">
            <a:normAutofit/>
          </a:bodyPr>
          <a:lstStyle/>
          <a:p>
            <a:r>
              <a:rPr lang="pt-BR" dirty="0"/>
              <a:t>Clique para editar o título mestre</a:t>
            </a:r>
          </a:p>
        </p:txBody>
      </p:sp>
      <p:sp>
        <p:nvSpPr>
          <p:cNvPr id="3" name="Espaço Reservado para Texto 2"/>
          <p:cNvSpPr>
            <a:spLocks noGrp="1"/>
          </p:cNvSpPr>
          <p:nvPr>
            <p:ph type="body" idx="1"/>
          </p:nvPr>
        </p:nvSpPr>
        <p:spPr>
          <a:xfrm>
            <a:off x="275490" y="1310861"/>
            <a:ext cx="11583573" cy="4351338"/>
          </a:xfrm>
          <a:prstGeom prst="rect">
            <a:avLst/>
          </a:prstGeom>
        </p:spPr>
        <p:txBody>
          <a:bodyPr vert="horz" lIns="91440" tIns="45720" rIns="91440" bIns="45720" rtlCol="0">
            <a:normAutofit/>
          </a:body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42BF85-54FF-46CE-B398-87F998CFD60B}" type="datetimeFigureOut">
              <a:rPr lang="pt-BR" smtClean="0"/>
              <a:t>13/01/2025</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185252-FBA3-417A-8652-C405B89605D8}" type="slidenum">
              <a:rPr lang="pt-BR" smtClean="0"/>
              <a:t>‹nº›</a:t>
            </a:fld>
            <a:endParaRPr lang="pt-BR"/>
          </a:p>
        </p:txBody>
      </p:sp>
    </p:spTree>
    <p:extLst>
      <p:ext uri="{BB962C8B-B14F-4D97-AF65-F5344CB8AC3E}">
        <p14:creationId xmlns:p14="http://schemas.microsoft.com/office/powerpoint/2010/main" val="35571610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Helvetica" panose="020B0604020202020204" pitchFamily="34" charset="0"/>
          <a:ea typeface="+mj-ea"/>
          <a:cs typeface="Helvetica"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lumMod val="50000"/>
            </a:schemeClr>
          </a:solidFill>
          <a:latin typeface="Helvetica" panose="020B0604020202020204" pitchFamily="34" charset="0"/>
          <a:ea typeface="+mn-ea"/>
          <a:cs typeface="Helvetica"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Helvetica" panose="020B0604020202020204" pitchFamily="34" charset="0"/>
          <a:ea typeface="+mn-ea"/>
          <a:cs typeface="Helvetica"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50000"/>
            </a:schemeClr>
          </a:solidFill>
          <a:latin typeface="Helvetica" panose="020B0604020202020204" pitchFamily="34" charset="0"/>
          <a:ea typeface="+mn-ea"/>
          <a:cs typeface="Helvetica"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php.net/manual/pt_BR/ref.math.php"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ctrTitle"/>
          </p:nvPr>
        </p:nvSpPr>
        <p:spPr>
          <a:xfrm>
            <a:off x="588498" y="2897944"/>
            <a:ext cx="11380764" cy="839169"/>
          </a:xfrm>
        </p:spPr>
        <p:txBody>
          <a:bodyPr>
            <a:noAutofit/>
          </a:bodyPr>
          <a:lstStyle/>
          <a:p>
            <a:r>
              <a:rPr lang="pt-BR" sz="2800" dirty="0"/>
              <a:t>Lógica de Programação</a:t>
            </a:r>
            <a:br>
              <a:rPr lang="pt-BR" sz="2800" dirty="0"/>
            </a:br>
            <a:r>
              <a:rPr lang="pt-BR" sz="2800" dirty="0"/>
              <a:t>Direcionada a PHP</a:t>
            </a:r>
          </a:p>
        </p:txBody>
      </p:sp>
      <p:sp>
        <p:nvSpPr>
          <p:cNvPr id="2" name="CaixaDeTexto 1">
            <a:extLst>
              <a:ext uri="{FF2B5EF4-FFF2-40B4-BE49-F238E27FC236}">
                <a16:creationId xmlns:a16="http://schemas.microsoft.com/office/drawing/2014/main" id="{ED8EF756-2C8D-ADFE-223D-227440DA058A}"/>
              </a:ext>
            </a:extLst>
          </p:cNvPr>
          <p:cNvSpPr txBox="1"/>
          <p:nvPr/>
        </p:nvSpPr>
        <p:spPr>
          <a:xfrm>
            <a:off x="9538283" y="5905850"/>
            <a:ext cx="2236381" cy="707886"/>
          </a:xfrm>
          <a:prstGeom prst="rect">
            <a:avLst/>
          </a:prstGeom>
          <a:noFill/>
        </p:spPr>
        <p:txBody>
          <a:bodyPr wrap="none" rtlCol="0">
            <a:spAutoFit/>
          </a:bodyPr>
          <a:lstStyle/>
          <a:p>
            <a:r>
              <a:rPr lang="pt-BR" sz="2000" b="1" dirty="0"/>
              <a:t>Prof. Celso Caldeira</a:t>
            </a:r>
          </a:p>
          <a:p>
            <a:r>
              <a:rPr lang="pt-BR" sz="2000" b="1" dirty="0"/>
              <a:t>(11) 97110-9750</a:t>
            </a:r>
          </a:p>
        </p:txBody>
      </p:sp>
      <p:pic>
        <p:nvPicPr>
          <p:cNvPr id="1032" name="Picture 8" descr="PHP Logo transparent PNG - StickPNG">
            <a:extLst>
              <a:ext uri="{FF2B5EF4-FFF2-40B4-BE49-F238E27FC236}">
                <a16:creationId xmlns:a16="http://schemas.microsoft.com/office/drawing/2014/main" id="{7537CA65-05E0-0AFF-9836-573937E6A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02395" y="3884756"/>
            <a:ext cx="3552969" cy="1873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797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A0491F-25AD-5CD6-8FD8-D5DB71B2E5EE}"/>
              </a:ext>
            </a:extLst>
          </p:cNvPr>
          <p:cNvSpPr>
            <a:spLocks noGrp="1"/>
          </p:cNvSpPr>
          <p:nvPr>
            <p:ph type="title"/>
          </p:nvPr>
        </p:nvSpPr>
        <p:spPr/>
        <p:txBody>
          <a:bodyPr/>
          <a:lstStyle/>
          <a:p>
            <a:r>
              <a:rPr lang="pt-BR" dirty="0"/>
              <a:t>O que é PHP?</a:t>
            </a:r>
          </a:p>
        </p:txBody>
      </p:sp>
      <p:sp>
        <p:nvSpPr>
          <p:cNvPr id="3" name="Espaço Reservado para Conteúdo 2">
            <a:extLst>
              <a:ext uri="{FF2B5EF4-FFF2-40B4-BE49-F238E27FC236}">
                <a16:creationId xmlns:a16="http://schemas.microsoft.com/office/drawing/2014/main" id="{019B4316-CA38-EFCD-C5F6-5B2E1694177A}"/>
              </a:ext>
            </a:extLst>
          </p:cNvPr>
          <p:cNvSpPr>
            <a:spLocks noGrp="1"/>
          </p:cNvSpPr>
          <p:nvPr>
            <p:ph idx="1"/>
          </p:nvPr>
        </p:nvSpPr>
        <p:spPr/>
        <p:txBody>
          <a:bodyPr>
            <a:normAutofit/>
          </a:bodyPr>
          <a:lstStyle/>
          <a:p>
            <a:pPr marL="0" indent="0">
              <a:buNone/>
            </a:pPr>
            <a:r>
              <a:rPr lang="pt-BR" dirty="0"/>
              <a:t>PHP significa: Hypertext </a:t>
            </a:r>
            <a:r>
              <a:rPr lang="pt-BR" dirty="0" err="1"/>
              <a:t>Preprocessor</a:t>
            </a:r>
            <a:r>
              <a:rPr lang="pt-BR" dirty="0"/>
              <a:t>. Realmente, o produto foi originalmente chamado de “Personal Home Page Tools”; mas como se expandiu em escopo, um nome novo e mais apropriado foi escolhido por votação da comunidade. Você pode utilizar qualquer extensão que desejar para designar um arquivo PHP, mas os recomendados foram </a:t>
            </a:r>
          </a:p>
          <a:p>
            <a:pPr marL="0" indent="0">
              <a:buNone/>
            </a:pPr>
            <a:r>
              <a:rPr lang="pt-BR" dirty="0"/>
              <a:t>.</a:t>
            </a:r>
            <a:r>
              <a:rPr lang="pt-BR" dirty="0" err="1"/>
              <a:t>php</a:t>
            </a:r>
            <a:r>
              <a:rPr lang="pt-BR" dirty="0"/>
              <a:t> , .</a:t>
            </a:r>
            <a:r>
              <a:rPr lang="pt-BR" dirty="0" err="1"/>
              <a:t>phtml</a:t>
            </a:r>
            <a:r>
              <a:rPr lang="pt-BR" dirty="0"/>
              <a:t>. O PHP está atualmente na versão 8, chamado de PHP8 ou, simplesmente de PHP.</a:t>
            </a:r>
          </a:p>
        </p:txBody>
      </p:sp>
      <p:pic>
        <p:nvPicPr>
          <p:cNvPr id="2050" name="Picture 2" descr="PHP logo PNG transparent image download, size: 960x960px">
            <a:extLst>
              <a:ext uri="{FF2B5EF4-FFF2-40B4-BE49-F238E27FC236}">
                <a16:creationId xmlns:a16="http://schemas.microsoft.com/office/drawing/2014/main" id="{1F4BF98E-9D1F-D260-DEAD-D1F6487E47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53486" y="3892157"/>
            <a:ext cx="2171853" cy="2171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43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hold" nodeType="afterEffect">
                                  <p:stCondLst>
                                    <p:cond delay="0"/>
                                  </p:stCondLst>
                                  <p:childTnLst>
                                    <p:animScale>
                                      <p:cBhvr>
                                        <p:cTn id="6" dur="1500" fill="hold"/>
                                        <p:tgtEl>
                                          <p:spTgt spid="205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1A46BD-3A61-3ED8-8084-8F2850914DA8}"/>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41FCADB2-171C-15C0-A4A7-31B56AD6F13A}"/>
              </a:ext>
            </a:extLst>
          </p:cNvPr>
          <p:cNvSpPr>
            <a:spLocks noGrp="1"/>
          </p:cNvSpPr>
          <p:nvPr>
            <p:ph idx="1"/>
          </p:nvPr>
        </p:nvSpPr>
        <p:spPr/>
        <p:txBody>
          <a:bodyPr/>
          <a:lstStyle/>
          <a:p>
            <a:pPr marL="0" indent="0">
              <a:buNone/>
            </a:pPr>
            <a:r>
              <a:rPr lang="pt-BR" dirty="0"/>
              <a:t>PHP é uma linguagem de criação de scripts embutida em HTML no servidor. </a:t>
            </a:r>
          </a:p>
          <a:p>
            <a:pPr marL="0" indent="0">
              <a:buNone/>
            </a:pPr>
            <a:r>
              <a:rPr lang="pt-BR" dirty="0"/>
              <a:t>Com o PHP podemos criar uma série quase infinita de aplicações envolvendo ou não utilização de banco de dados. Até aplicativos para mobile do tipo PWA é possível fazer com essa linguagem.</a:t>
            </a:r>
          </a:p>
          <a:p>
            <a:pPr marL="0" indent="0">
              <a:buNone/>
            </a:pPr>
            <a:r>
              <a:rPr lang="pt-BR" dirty="0"/>
              <a:t>O PHP é uma das linguagens mais utilizadas no mercado.</a:t>
            </a:r>
          </a:p>
          <a:p>
            <a:pPr marL="0" indent="0">
              <a:buNone/>
            </a:pPr>
            <a:endParaRPr lang="pt-BR" dirty="0"/>
          </a:p>
          <a:p>
            <a:pPr marL="0" indent="0">
              <a:buNone/>
            </a:pPr>
            <a:endParaRPr lang="pt-BR" dirty="0"/>
          </a:p>
          <a:p>
            <a:pPr marL="0" indent="0">
              <a:buNone/>
            </a:pPr>
            <a:r>
              <a:rPr lang="pt-BR" sz="2000" dirty="0"/>
              <a:t>* PWA: </a:t>
            </a:r>
            <a:r>
              <a:rPr lang="pt-BR" sz="2000" b="0" i="0" dirty="0" err="1">
                <a:solidFill>
                  <a:srgbClr val="202124"/>
                </a:solidFill>
                <a:effectLst/>
                <a:latin typeface="Google Sans"/>
              </a:rPr>
              <a:t>Progressive</a:t>
            </a:r>
            <a:r>
              <a:rPr lang="pt-BR" sz="2000" b="0" i="0" dirty="0">
                <a:solidFill>
                  <a:srgbClr val="202124"/>
                </a:solidFill>
                <a:effectLst/>
                <a:latin typeface="Google Sans"/>
              </a:rPr>
              <a:t> Web App</a:t>
            </a:r>
            <a:endParaRPr lang="pt-BR" sz="2000" dirty="0"/>
          </a:p>
        </p:txBody>
      </p:sp>
    </p:spTree>
    <p:extLst>
      <p:ext uri="{BB962C8B-B14F-4D97-AF65-F5344CB8AC3E}">
        <p14:creationId xmlns:p14="http://schemas.microsoft.com/office/powerpoint/2010/main" val="2264613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6B63ED-10E0-1D2F-27D8-CD56FF57F3F1}"/>
              </a:ext>
            </a:extLst>
          </p:cNvPr>
          <p:cNvSpPr>
            <a:spLocks noGrp="1"/>
          </p:cNvSpPr>
          <p:nvPr>
            <p:ph type="title"/>
          </p:nvPr>
        </p:nvSpPr>
        <p:spPr/>
        <p:txBody>
          <a:bodyPr/>
          <a:lstStyle/>
          <a:p>
            <a:r>
              <a:rPr lang="pt-BR" dirty="0"/>
              <a:t>Conceitos básicos de algoritmo</a:t>
            </a:r>
          </a:p>
        </p:txBody>
      </p:sp>
      <p:sp>
        <p:nvSpPr>
          <p:cNvPr id="3" name="Espaço Reservado para Conteúdo 2">
            <a:extLst>
              <a:ext uri="{FF2B5EF4-FFF2-40B4-BE49-F238E27FC236}">
                <a16:creationId xmlns:a16="http://schemas.microsoft.com/office/drawing/2014/main" id="{EEC1AFA8-744A-05AD-5375-10C2B8FBBD70}"/>
              </a:ext>
            </a:extLst>
          </p:cNvPr>
          <p:cNvSpPr>
            <a:spLocks noGrp="1"/>
          </p:cNvSpPr>
          <p:nvPr>
            <p:ph idx="1"/>
          </p:nvPr>
        </p:nvSpPr>
        <p:spPr/>
        <p:txBody>
          <a:bodyPr/>
          <a:lstStyle/>
          <a:p>
            <a:pPr marL="0" indent="0">
              <a:buNone/>
            </a:pPr>
            <a:r>
              <a:rPr lang="pt-BR" dirty="0"/>
              <a:t>De maneira geral, ele compreende uma sequência finita de ações executáveis (passos) para resolver um problema, ou no caso mais comum em Ciência da Computação, executar uma tarefa. O algoritmo em si não é o programa, mas a sequência de ações e condições que devem ser obedecidas para que o problema seja resolvido.</a:t>
            </a:r>
          </a:p>
        </p:txBody>
      </p:sp>
      <p:pic>
        <p:nvPicPr>
          <p:cNvPr id="3074" name="Picture 2" descr="O que é algoritmo? – Tecnoblog">
            <a:extLst>
              <a:ext uri="{FF2B5EF4-FFF2-40B4-BE49-F238E27FC236}">
                <a16:creationId xmlns:a16="http://schemas.microsoft.com/office/drawing/2014/main" id="{189A9A8F-F126-F9D8-F532-61AB6EC346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4681" y="3429000"/>
            <a:ext cx="4626841" cy="2604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6193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738E72-E458-0300-595E-3F75DF3FB9AF}"/>
              </a:ext>
            </a:extLst>
          </p:cNvPr>
          <p:cNvSpPr>
            <a:spLocks noGrp="1"/>
          </p:cNvSpPr>
          <p:nvPr>
            <p:ph type="title"/>
          </p:nvPr>
        </p:nvSpPr>
        <p:spPr/>
        <p:txBody>
          <a:bodyPr/>
          <a:lstStyle/>
          <a:p>
            <a:r>
              <a:rPr lang="pt-BR" dirty="0"/>
              <a:t>Estruturas de controle</a:t>
            </a:r>
          </a:p>
        </p:txBody>
      </p:sp>
      <p:sp>
        <p:nvSpPr>
          <p:cNvPr id="3" name="Espaço Reservado para Conteúdo 2">
            <a:extLst>
              <a:ext uri="{FF2B5EF4-FFF2-40B4-BE49-F238E27FC236}">
                <a16:creationId xmlns:a16="http://schemas.microsoft.com/office/drawing/2014/main" id="{2929DB85-03E2-246E-CE54-FD79D579E065}"/>
              </a:ext>
            </a:extLst>
          </p:cNvPr>
          <p:cNvSpPr>
            <a:spLocks noGrp="1"/>
          </p:cNvSpPr>
          <p:nvPr>
            <p:ph idx="1"/>
          </p:nvPr>
        </p:nvSpPr>
        <p:spPr/>
        <p:txBody>
          <a:bodyPr/>
          <a:lstStyle/>
          <a:p>
            <a:pPr marL="0" indent="0">
              <a:buNone/>
            </a:pPr>
            <a:r>
              <a:rPr lang="pt-BR" dirty="0"/>
              <a:t>Qualquer script PHP é construído por uma série de instruções. Uma instrução pode ser uma atribuição, uma chamada de função, um laço de repetição, uma instrução condicional, ou mesmo uma instrução que não faz nada (um comando vazio). Instruções geralmente terminam com um ponto e vírgula. Além disso, as instruções podem ser agrupados em um grupo de comandos através do encapsulamento de um grupo de comandos com chaves. Um grupo de comandos é uma instrução também. Os vários tipos de instruções são descritos neste capítulo.</a:t>
            </a:r>
          </a:p>
        </p:txBody>
      </p:sp>
      <p:pic>
        <p:nvPicPr>
          <p:cNvPr id="4098" name="Picture 2" descr="Estruturas de controle no PHP: if, else, elseif e switch - Edusites">
            <a:extLst>
              <a:ext uri="{FF2B5EF4-FFF2-40B4-BE49-F238E27FC236}">
                <a16:creationId xmlns:a16="http://schemas.microsoft.com/office/drawing/2014/main" id="{7F3EB830-1D8C-5D24-EBB8-2865D0B147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9251" y="4455755"/>
            <a:ext cx="3752562" cy="1986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982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EE4997-308C-5BBB-7CAA-EA21E2BE2FA2}"/>
              </a:ext>
            </a:extLst>
          </p:cNvPr>
          <p:cNvSpPr>
            <a:spLocks noGrp="1"/>
          </p:cNvSpPr>
          <p:nvPr>
            <p:ph type="title"/>
          </p:nvPr>
        </p:nvSpPr>
        <p:spPr/>
        <p:txBody>
          <a:bodyPr/>
          <a:lstStyle/>
          <a:p>
            <a:r>
              <a:rPr lang="pt-BR" dirty="0"/>
              <a:t>Sintaxe Básica </a:t>
            </a:r>
          </a:p>
        </p:txBody>
      </p:sp>
      <p:sp>
        <p:nvSpPr>
          <p:cNvPr id="3" name="Espaço Reservado para Conteúdo 2">
            <a:extLst>
              <a:ext uri="{FF2B5EF4-FFF2-40B4-BE49-F238E27FC236}">
                <a16:creationId xmlns:a16="http://schemas.microsoft.com/office/drawing/2014/main" id="{828A51A9-B0F1-BD78-1958-7CDEAA02A6AE}"/>
              </a:ext>
            </a:extLst>
          </p:cNvPr>
          <p:cNvSpPr>
            <a:spLocks noGrp="1"/>
          </p:cNvSpPr>
          <p:nvPr>
            <p:ph idx="1"/>
          </p:nvPr>
        </p:nvSpPr>
        <p:spPr>
          <a:xfrm>
            <a:off x="215144" y="1291053"/>
            <a:ext cx="4861057" cy="4351338"/>
          </a:xfrm>
        </p:spPr>
        <p:txBody>
          <a:bodyPr>
            <a:normAutofit/>
          </a:bodyPr>
          <a:lstStyle/>
          <a:p>
            <a:pPr marL="0" indent="0">
              <a:buNone/>
            </a:pPr>
            <a:r>
              <a:rPr lang="pt-BR" dirty="0"/>
              <a:t>O código PHP fica embutido no próprio HTML. O interpretador identifica quando um código é PHP pelas seguintes </a:t>
            </a:r>
            <a:r>
              <a:rPr lang="pt-BR" dirty="0" err="1"/>
              <a:t>tags</a:t>
            </a:r>
            <a:r>
              <a:rPr lang="pt-BR" dirty="0"/>
              <a:t>: </a:t>
            </a:r>
          </a:p>
        </p:txBody>
      </p:sp>
      <p:sp>
        <p:nvSpPr>
          <p:cNvPr id="6" name="Espaço Reservado para Conteúdo 2">
            <a:extLst>
              <a:ext uri="{FF2B5EF4-FFF2-40B4-BE49-F238E27FC236}">
                <a16:creationId xmlns:a16="http://schemas.microsoft.com/office/drawing/2014/main" id="{30EE3517-C9D0-E2A7-1B39-F11647435798}"/>
              </a:ext>
            </a:extLst>
          </p:cNvPr>
          <p:cNvSpPr txBox="1">
            <a:spLocks/>
          </p:cNvSpPr>
          <p:nvPr/>
        </p:nvSpPr>
        <p:spPr>
          <a:xfrm>
            <a:off x="5939327" y="1291053"/>
            <a:ext cx="5477854" cy="4351338"/>
          </a:xfrm>
          <a:prstGeom prst="rect">
            <a:avLst/>
          </a:prstGeom>
          <a:solidFill>
            <a:schemeClr val="tx1"/>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lumMod val="50000"/>
                  </a:schemeClr>
                </a:solidFill>
                <a:latin typeface="Helvetica" panose="020B0604020202020204" pitchFamily="34" charset="0"/>
                <a:ea typeface="+mn-ea"/>
                <a:cs typeface="Helvetica"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Helvetica" panose="020B0604020202020204" pitchFamily="34" charset="0"/>
                <a:ea typeface="+mn-ea"/>
                <a:cs typeface="Helvetica"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50000"/>
                  </a:schemeClr>
                </a:solidFill>
                <a:latin typeface="Helvetica" panose="020B0604020202020204" pitchFamily="34" charset="0"/>
                <a:ea typeface="+mn-ea"/>
                <a:cs typeface="Helvetica"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pt-BR" dirty="0">
                <a:solidFill>
                  <a:schemeClr val="bg1"/>
                </a:solidFill>
              </a:rPr>
              <a:t>&lt;?</a:t>
            </a:r>
            <a:r>
              <a:rPr lang="pt-BR" dirty="0" err="1">
                <a:solidFill>
                  <a:schemeClr val="bg1"/>
                </a:solidFill>
              </a:rPr>
              <a:t>php</a:t>
            </a:r>
            <a:r>
              <a:rPr lang="pt-BR" dirty="0">
                <a:solidFill>
                  <a:schemeClr val="bg1"/>
                </a:solidFill>
              </a:rPr>
              <a:t> </a:t>
            </a:r>
          </a:p>
          <a:p>
            <a:pPr marL="0" indent="0">
              <a:buFont typeface="Arial" panose="020B0604020202020204" pitchFamily="34" charset="0"/>
              <a:buNone/>
            </a:pPr>
            <a:r>
              <a:rPr lang="pt-BR" dirty="0">
                <a:solidFill>
                  <a:schemeClr val="bg1"/>
                </a:solidFill>
              </a:rPr>
              <a:t>comandos </a:t>
            </a:r>
          </a:p>
          <a:p>
            <a:pPr marL="0" indent="0">
              <a:buFont typeface="Arial" panose="020B0604020202020204" pitchFamily="34" charset="0"/>
              <a:buNone/>
            </a:pPr>
            <a:r>
              <a:rPr lang="pt-BR" dirty="0">
                <a:solidFill>
                  <a:schemeClr val="bg1"/>
                </a:solidFill>
              </a:rPr>
              <a:t>?&gt; </a:t>
            </a:r>
          </a:p>
          <a:p>
            <a:pPr marL="0" indent="0">
              <a:buFont typeface="Arial" panose="020B0604020202020204" pitchFamily="34" charset="0"/>
              <a:buNone/>
            </a:pPr>
            <a:r>
              <a:rPr lang="pt-BR" dirty="0">
                <a:solidFill>
                  <a:schemeClr val="bg1"/>
                </a:solidFill>
              </a:rPr>
              <a:t>&lt;script </a:t>
            </a:r>
            <a:r>
              <a:rPr lang="pt-BR" dirty="0" err="1">
                <a:solidFill>
                  <a:schemeClr val="bg1"/>
                </a:solidFill>
              </a:rPr>
              <a:t>language</a:t>
            </a:r>
            <a:r>
              <a:rPr lang="pt-BR" dirty="0">
                <a:solidFill>
                  <a:schemeClr val="bg1"/>
                </a:solidFill>
              </a:rPr>
              <a:t>=”</a:t>
            </a:r>
            <a:r>
              <a:rPr lang="pt-BR" dirty="0" err="1">
                <a:solidFill>
                  <a:schemeClr val="bg1"/>
                </a:solidFill>
              </a:rPr>
              <a:t>php</a:t>
            </a:r>
            <a:r>
              <a:rPr lang="pt-BR" dirty="0">
                <a:solidFill>
                  <a:schemeClr val="bg1"/>
                </a:solidFill>
              </a:rPr>
              <a:t>”&gt; </a:t>
            </a:r>
          </a:p>
          <a:p>
            <a:pPr marL="0" indent="0">
              <a:buFont typeface="Arial" panose="020B0604020202020204" pitchFamily="34" charset="0"/>
              <a:buNone/>
            </a:pPr>
            <a:r>
              <a:rPr lang="pt-BR" dirty="0">
                <a:solidFill>
                  <a:schemeClr val="bg1"/>
                </a:solidFill>
              </a:rPr>
              <a:t>comandos </a:t>
            </a:r>
          </a:p>
          <a:p>
            <a:pPr marL="0" indent="0">
              <a:buFont typeface="Arial" panose="020B0604020202020204" pitchFamily="34" charset="0"/>
              <a:buNone/>
            </a:pPr>
            <a:r>
              <a:rPr lang="pt-BR" dirty="0">
                <a:solidFill>
                  <a:schemeClr val="bg1"/>
                </a:solidFill>
              </a:rPr>
              <a:t>&lt;/script&gt; </a:t>
            </a:r>
          </a:p>
          <a:p>
            <a:pPr marL="0" indent="0">
              <a:buFont typeface="Arial" panose="020B0604020202020204" pitchFamily="34" charset="0"/>
              <a:buNone/>
            </a:pPr>
            <a:r>
              <a:rPr lang="pt-BR" dirty="0">
                <a:solidFill>
                  <a:schemeClr val="bg1"/>
                </a:solidFill>
              </a:rPr>
              <a:t>&lt;? </a:t>
            </a:r>
          </a:p>
          <a:p>
            <a:pPr marL="0" indent="0">
              <a:buFont typeface="Arial" panose="020B0604020202020204" pitchFamily="34" charset="0"/>
              <a:buNone/>
            </a:pPr>
            <a:r>
              <a:rPr lang="pt-BR" dirty="0">
                <a:solidFill>
                  <a:schemeClr val="bg1"/>
                </a:solidFill>
              </a:rPr>
              <a:t>comandos </a:t>
            </a:r>
          </a:p>
          <a:p>
            <a:pPr marL="0" indent="0">
              <a:buFont typeface="Arial" panose="020B0604020202020204" pitchFamily="34" charset="0"/>
              <a:buNone/>
            </a:pPr>
            <a:r>
              <a:rPr lang="pt-BR" dirty="0">
                <a:solidFill>
                  <a:schemeClr val="bg1"/>
                </a:solidFill>
              </a:rPr>
              <a:t>?&gt; </a:t>
            </a:r>
          </a:p>
        </p:txBody>
      </p:sp>
      <p:pic>
        <p:nvPicPr>
          <p:cNvPr id="6148" name="Picture 4" descr="Professor desenvolvedor web - Atados | Plataforma de Voluntariado">
            <a:extLst>
              <a:ext uri="{FF2B5EF4-FFF2-40B4-BE49-F238E27FC236}">
                <a16:creationId xmlns:a16="http://schemas.microsoft.com/office/drawing/2014/main" id="{6604050D-D760-D036-0A49-9F7B8BA48E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286" y="3683873"/>
            <a:ext cx="3851303" cy="2166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61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8B858E-9F38-0326-C59E-ED0F066065CA}"/>
              </a:ext>
            </a:extLst>
          </p:cNvPr>
          <p:cNvSpPr>
            <a:spLocks noGrp="1"/>
          </p:cNvSpPr>
          <p:nvPr>
            <p:ph type="title"/>
          </p:nvPr>
        </p:nvSpPr>
        <p:spPr/>
        <p:txBody>
          <a:bodyPr/>
          <a:lstStyle/>
          <a:p>
            <a:r>
              <a:rPr lang="pt-BR" dirty="0"/>
              <a:t>O que precisaremos?</a:t>
            </a:r>
          </a:p>
        </p:txBody>
      </p:sp>
      <p:sp>
        <p:nvSpPr>
          <p:cNvPr id="3" name="Espaço Reservado para Conteúdo 2">
            <a:extLst>
              <a:ext uri="{FF2B5EF4-FFF2-40B4-BE49-F238E27FC236}">
                <a16:creationId xmlns:a16="http://schemas.microsoft.com/office/drawing/2014/main" id="{A454BB2E-0429-4156-422E-FFE1C4B36890}"/>
              </a:ext>
            </a:extLst>
          </p:cNvPr>
          <p:cNvSpPr>
            <a:spLocks noGrp="1"/>
          </p:cNvSpPr>
          <p:nvPr>
            <p:ph idx="1"/>
          </p:nvPr>
        </p:nvSpPr>
        <p:spPr/>
        <p:txBody>
          <a:bodyPr/>
          <a:lstStyle/>
          <a:p>
            <a:pPr marL="0" indent="0">
              <a:buNone/>
            </a:pPr>
            <a:r>
              <a:rPr lang="pt-BR" dirty="0"/>
              <a:t>O PHP roda sobre o protocolo http, portanto a execução depende do navegador, mas não é totalmente necessário hospedar a aplicação, pois além da aplicação ser executada na internet, podemos trabalhar localmente e até mesmo montar uma intranet através de serviços especiais.</a:t>
            </a:r>
          </a:p>
          <a:p>
            <a:pPr marL="0" indent="0">
              <a:buNone/>
            </a:pPr>
            <a:r>
              <a:rPr lang="pt-BR" dirty="0"/>
              <a:t>Nesse curso iremos usar o XAMPP e claro, um bom editor para codificar nossas aplicações e para isso usaremos o </a:t>
            </a:r>
            <a:r>
              <a:rPr lang="pt-BR" dirty="0" err="1"/>
              <a:t>VsCode</a:t>
            </a:r>
            <a:r>
              <a:rPr lang="pt-BR" dirty="0"/>
              <a:t>.</a:t>
            </a:r>
          </a:p>
        </p:txBody>
      </p:sp>
      <p:pic>
        <p:nvPicPr>
          <p:cNvPr id="5122" name="Picture 2" descr="Desenvolvimento Web: Apresentamos o XAMPP – Blog – Esolute Brasil">
            <a:extLst>
              <a:ext uri="{FF2B5EF4-FFF2-40B4-BE49-F238E27FC236}">
                <a16:creationId xmlns:a16="http://schemas.microsoft.com/office/drawing/2014/main" id="{5D5B15EC-5C15-269E-4A6A-938A1C6CF6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5481" y="4376352"/>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etting up VSCode for React projects in 2023 | Full Guide">
            <a:extLst>
              <a:ext uri="{FF2B5EF4-FFF2-40B4-BE49-F238E27FC236}">
                <a16:creationId xmlns:a16="http://schemas.microsoft.com/office/drawing/2014/main" id="{ECA8B9BA-E151-2525-0323-92090EA736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0768" y="4433502"/>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654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95E2E7-EF21-C978-C532-F5B8FC3CBA8B}"/>
              </a:ext>
            </a:extLst>
          </p:cNvPr>
          <p:cNvSpPr>
            <a:spLocks noGrp="1"/>
          </p:cNvSpPr>
          <p:nvPr>
            <p:ph type="title"/>
          </p:nvPr>
        </p:nvSpPr>
        <p:spPr/>
        <p:txBody>
          <a:bodyPr/>
          <a:lstStyle/>
          <a:p>
            <a:r>
              <a:rPr lang="pt-BR" dirty="0"/>
              <a:t>Vamos começar</a:t>
            </a:r>
          </a:p>
        </p:txBody>
      </p:sp>
      <p:sp>
        <p:nvSpPr>
          <p:cNvPr id="3" name="Espaço Reservado para Conteúdo 2">
            <a:extLst>
              <a:ext uri="{FF2B5EF4-FFF2-40B4-BE49-F238E27FC236}">
                <a16:creationId xmlns:a16="http://schemas.microsoft.com/office/drawing/2014/main" id="{79D620D3-1F98-F08A-02CB-78F04866F574}"/>
              </a:ext>
            </a:extLst>
          </p:cNvPr>
          <p:cNvSpPr>
            <a:spLocks noGrp="1"/>
          </p:cNvSpPr>
          <p:nvPr>
            <p:ph idx="1"/>
          </p:nvPr>
        </p:nvSpPr>
        <p:spPr/>
        <p:txBody>
          <a:bodyPr/>
          <a:lstStyle/>
          <a:p>
            <a:pPr marL="0" indent="0">
              <a:buNone/>
            </a:pPr>
            <a:r>
              <a:rPr lang="pt-BR" dirty="0"/>
              <a:t>Os equipamentos aqui no Senac já estão preparados e com todos os softwares necessários para começarmos a criar nossos códigos, mas em outras máquinas em que forem praticar, teremos que instalar o XAMPP. Basta ir no Google e pesquisar por XAMPP, acessar o primeiro link, fazer o download e instalar.</a:t>
            </a:r>
          </a:p>
          <a:p>
            <a:pPr marL="0" indent="0">
              <a:buNone/>
            </a:pPr>
            <a:r>
              <a:rPr lang="pt-BR" dirty="0"/>
              <a:t>Faça o mesmo procedimento para instalar o </a:t>
            </a:r>
            <a:r>
              <a:rPr lang="pt-BR" dirty="0" err="1"/>
              <a:t>VSCode</a:t>
            </a:r>
            <a:r>
              <a:rPr lang="pt-BR" dirty="0"/>
              <a:t>.</a:t>
            </a:r>
          </a:p>
        </p:txBody>
      </p:sp>
    </p:spTree>
    <p:extLst>
      <p:ext uri="{BB962C8B-B14F-4D97-AF65-F5344CB8AC3E}">
        <p14:creationId xmlns:p14="http://schemas.microsoft.com/office/powerpoint/2010/main" val="1412957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BCF354-69E6-7F55-9D74-0446DF6249F3}"/>
              </a:ext>
            </a:extLst>
          </p:cNvPr>
          <p:cNvSpPr>
            <a:spLocks noGrp="1"/>
          </p:cNvSpPr>
          <p:nvPr>
            <p:ph type="title"/>
          </p:nvPr>
        </p:nvSpPr>
        <p:spPr/>
        <p:txBody>
          <a:bodyPr>
            <a:normAutofit/>
          </a:bodyPr>
          <a:lstStyle/>
          <a:p>
            <a:r>
              <a:rPr lang="pt-BR" dirty="0"/>
              <a:t>Já que está tudo instalado....</a:t>
            </a:r>
          </a:p>
        </p:txBody>
      </p:sp>
      <p:sp>
        <p:nvSpPr>
          <p:cNvPr id="3" name="Espaço Reservado para Conteúdo 2">
            <a:extLst>
              <a:ext uri="{FF2B5EF4-FFF2-40B4-BE49-F238E27FC236}">
                <a16:creationId xmlns:a16="http://schemas.microsoft.com/office/drawing/2014/main" id="{C2010C61-3E24-173E-5DC5-85688E5FEE6F}"/>
              </a:ext>
            </a:extLst>
          </p:cNvPr>
          <p:cNvSpPr>
            <a:spLocks noGrp="1"/>
          </p:cNvSpPr>
          <p:nvPr>
            <p:ph idx="1"/>
          </p:nvPr>
        </p:nvSpPr>
        <p:spPr/>
        <p:txBody>
          <a:bodyPr/>
          <a:lstStyle/>
          <a:p>
            <a:pPr marL="0" indent="0">
              <a:buNone/>
            </a:pPr>
            <a:r>
              <a:rPr lang="pt-BR" dirty="0"/>
              <a:t>Vamos agora subir o serviço que o XAMPP vai oferecer:</a:t>
            </a:r>
          </a:p>
          <a:p>
            <a:pPr marL="0" indent="0">
              <a:buNone/>
            </a:pPr>
            <a:r>
              <a:rPr lang="pt-BR" dirty="0"/>
              <a:t>Procure por XAMPP na pesquisa e execute:</a:t>
            </a:r>
          </a:p>
          <a:p>
            <a:pPr marL="0" indent="0">
              <a:buNone/>
            </a:pPr>
            <a:r>
              <a:rPr lang="pt-BR" dirty="0"/>
              <a:t>Depois clique em START em apache e </a:t>
            </a:r>
            <a:r>
              <a:rPr lang="pt-BR" dirty="0" err="1"/>
              <a:t>mysql</a:t>
            </a:r>
            <a:r>
              <a:rPr lang="pt-BR" dirty="0"/>
              <a:t>.</a:t>
            </a:r>
          </a:p>
          <a:p>
            <a:pPr marL="0" indent="0">
              <a:buNone/>
            </a:pPr>
            <a:endParaRPr lang="pt-BR" dirty="0"/>
          </a:p>
          <a:p>
            <a:pPr marL="0" indent="0">
              <a:buNone/>
            </a:pPr>
            <a:r>
              <a:rPr lang="pt-BR" dirty="0"/>
              <a:t>O Servidor Apache permite que rodemos a aplicação PHP localmente</a:t>
            </a:r>
          </a:p>
          <a:p>
            <a:pPr marL="0" indent="0">
              <a:buNone/>
            </a:pPr>
            <a:r>
              <a:rPr lang="pt-BR" dirty="0"/>
              <a:t>O Servidor </a:t>
            </a:r>
            <a:r>
              <a:rPr lang="pt-BR" dirty="0" err="1"/>
              <a:t>Mysql</a:t>
            </a:r>
            <a:r>
              <a:rPr lang="pt-BR" dirty="0"/>
              <a:t> permite a criação e manipulação do banco de dados também localmente.</a:t>
            </a:r>
          </a:p>
          <a:p>
            <a:pPr marL="0" indent="0">
              <a:buNone/>
            </a:pPr>
            <a:endParaRPr lang="pt-BR" dirty="0"/>
          </a:p>
        </p:txBody>
      </p:sp>
      <p:pic>
        <p:nvPicPr>
          <p:cNvPr id="7170" name="Picture 2" descr="Tadeu Rodrigo Becker Gois :: Analista, Programador e Arquiteto de Software">
            <a:extLst>
              <a:ext uri="{FF2B5EF4-FFF2-40B4-BE49-F238E27FC236}">
                <a16:creationId xmlns:a16="http://schemas.microsoft.com/office/drawing/2014/main" id="{51835CD6-E5AB-E5D8-E8CE-F4799F0D61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9544136" y="762393"/>
            <a:ext cx="2192062" cy="2162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4327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58B26F-F296-3FC3-2B86-D93E610C17BB}"/>
              </a:ext>
            </a:extLst>
          </p:cNvPr>
          <p:cNvSpPr>
            <a:spLocks noGrp="1"/>
          </p:cNvSpPr>
          <p:nvPr>
            <p:ph type="title"/>
          </p:nvPr>
        </p:nvSpPr>
        <p:spPr/>
        <p:txBody>
          <a:bodyPr/>
          <a:lstStyle/>
          <a:p>
            <a:r>
              <a:rPr lang="pt-BR" dirty="0"/>
              <a:t>Onde ficarão nossos projetos</a:t>
            </a:r>
          </a:p>
        </p:txBody>
      </p:sp>
      <p:sp>
        <p:nvSpPr>
          <p:cNvPr id="3" name="Espaço Reservado para Conteúdo 2">
            <a:extLst>
              <a:ext uri="{FF2B5EF4-FFF2-40B4-BE49-F238E27FC236}">
                <a16:creationId xmlns:a16="http://schemas.microsoft.com/office/drawing/2014/main" id="{A19CF22B-4FC0-0F78-3D9F-1B6FC21ABCAB}"/>
              </a:ext>
            </a:extLst>
          </p:cNvPr>
          <p:cNvSpPr>
            <a:spLocks noGrp="1"/>
          </p:cNvSpPr>
          <p:nvPr>
            <p:ph idx="1"/>
          </p:nvPr>
        </p:nvSpPr>
        <p:spPr/>
        <p:txBody>
          <a:bodyPr/>
          <a:lstStyle/>
          <a:p>
            <a:pPr marL="0" indent="0">
              <a:buNone/>
            </a:pPr>
            <a:r>
              <a:rPr lang="pt-BR" dirty="0"/>
              <a:t>Nossos projetos ficarão gravados na pasta: c:\xampp\htdocs</a:t>
            </a:r>
          </a:p>
          <a:p>
            <a:pPr marL="0" indent="0">
              <a:buNone/>
            </a:pPr>
            <a:r>
              <a:rPr lang="pt-BR" dirty="0"/>
              <a:t>Criaremos as pastas e arquivos que forem necessários aqui, pois é o local destinado para que o XAMPP proceda a execução das nossas aplicações.</a:t>
            </a:r>
          </a:p>
        </p:txBody>
      </p:sp>
      <p:pic>
        <p:nvPicPr>
          <p:cNvPr id="5" name="Imagem 4">
            <a:extLst>
              <a:ext uri="{FF2B5EF4-FFF2-40B4-BE49-F238E27FC236}">
                <a16:creationId xmlns:a16="http://schemas.microsoft.com/office/drawing/2014/main" id="{DBC99842-148A-B66B-FF9B-DACC69A53F49}"/>
              </a:ext>
            </a:extLst>
          </p:cNvPr>
          <p:cNvPicPr>
            <a:picLocks noChangeAspect="1"/>
          </p:cNvPicPr>
          <p:nvPr/>
        </p:nvPicPr>
        <p:blipFill>
          <a:blip r:embed="rId2"/>
          <a:stretch>
            <a:fillRect/>
          </a:stretch>
        </p:blipFill>
        <p:spPr>
          <a:xfrm>
            <a:off x="2319337" y="2849856"/>
            <a:ext cx="7553325" cy="3000375"/>
          </a:xfrm>
          <a:prstGeom prst="rect">
            <a:avLst/>
          </a:prstGeom>
        </p:spPr>
      </p:pic>
    </p:spTree>
    <p:extLst>
      <p:ext uri="{BB962C8B-B14F-4D97-AF65-F5344CB8AC3E}">
        <p14:creationId xmlns:p14="http://schemas.microsoft.com/office/powerpoint/2010/main" val="188958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4BF0E-B976-3F88-7A55-86BE69A30CEE}"/>
              </a:ext>
            </a:extLst>
          </p:cNvPr>
          <p:cNvSpPr>
            <a:spLocks noGrp="1"/>
          </p:cNvSpPr>
          <p:nvPr>
            <p:ph type="title"/>
          </p:nvPr>
        </p:nvSpPr>
        <p:spPr/>
        <p:txBody>
          <a:bodyPr/>
          <a:lstStyle/>
          <a:p>
            <a:r>
              <a:rPr lang="pt-BR" dirty="0"/>
              <a:t>Antes de começar a </a:t>
            </a:r>
            <a:r>
              <a:rPr lang="pt-BR" dirty="0" err="1"/>
              <a:t>codar</a:t>
            </a:r>
            <a:endParaRPr lang="pt-BR" dirty="0"/>
          </a:p>
        </p:txBody>
      </p:sp>
      <p:sp>
        <p:nvSpPr>
          <p:cNvPr id="3" name="Espaço Reservado para Conteúdo 2">
            <a:extLst>
              <a:ext uri="{FF2B5EF4-FFF2-40B4-BE49-F238E27FC236}">
                <a16:creationId xmlns:a16="http://schemas.microsoft.com/office/drawing/2014/main" id="{BC15D74E-2CA6-75C6-C78B-3B53762D757D}"/>
              </a:ext>
            </a:extLst>
          </p:cNvPr>
          <p:cNvSpPr>
            <a:spLocks noGrp="1"/>
          </p:cNvSpPr>
          <p:nvPr>
            <p:ph idx="1"/>
          </p:nvPr>
        </p:nvSpPr>
        <p:spPr/>
        <p:txBody>
          <a:bodyPr/>
          <a:lstStyle/>
          <a:p>
            <a:pPr marL="0" indent="0">
              <a:buNone/>
            </a:pPr>
            <a:r>
              <a:rPr lang="pt-BR" dirty="0"/>
              <a:t>Em qualquer linguagem, a base da lógica de programação é a mesma:</a:t>
            </a:r>
          </a:p>
          <a:p>
            <a:pPr marL="0" indent="0">
              <a:buNone/>
            </a:pPr>
            <a:r>
              <a:rPr lang="pt-BR" dirty="0"/>
              <a:t>Entrada, processamento e saída.</a:t>
            </a:r>
          </a:p>
          <a:p>
            <a:pPr marL="0" indent="0">
              <a:buNone/>
            </a:pPr>
            <a:r>
              <a:rPr lang="pt-BR" dirty="0"/>
              <a:t>Portanto, entramos com o dado em uma posição da memória denominada variável, efetuamos o processamento usando os comandos e funções aritméticas e lógicas ou manipulando informações em banco de dados e a saída será o resultado do que o usuário espera, seja na tela do computador, celular ou impressora.</a:t>
            </a:r>
          </a:p>
        </p:txBody>
      </p:sp>
    </p:spTree>
    <p:extLst>
      <p:ext uri="{BB962C8B-B14F-4D97-AF65-F5344CB8AC3E}">
        <p14:creationId xmlns:p14="http://schemas.microsoft.com/office/powerpoint/2010/main" val="4028318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BA05787A-F893-46AE-03D0-4601AAED909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59461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B3FE57-D36C-2328-0B37-2E03F498EB0C}"/>
              </a:ext>
            </a:extLst>
          </p:cNvPr>
          <p:cNvSpPr>
            <a:spLocks noGrp="1"/>
          </p:cNvSpPr>
          <p:nvPr>
            <p:ph type="title"/>
          </p:nvPr>
        </p:nvSpPr>
        <p:spPr/>
        <p:txBody>
          <a:bodyPr/>
          <a:lstStyle/>
          <a:p>
            <a:r>
              <a:rPr lang="pt-BR" dirty="0"/>
              <a:t>Tipos de variáveis</a:t>
            </a:r>
          </a:p>
        </p:txBody>
      </p:sp>
      <p:sp>
        <p:nvSpPr>
          <p:cNvPr id="3" name="Espaço Reservado para Conteúdo 2">
            <a:extLst>
              <a:ext uri="{FF2B5EF4-FFF2-40B4-BE49-F238E27FC236}">
                <a16:creationId xmlns:a16="http://schemas.microsoft.com/office/drawing/2014/main" id="{8A950414-0033-8ECA-7445-FD41CB8ED4FD}"/>
              </a:ext>
            </a:extLst>
          </p:cNvPr>
          <p:cNvSpPr>
            <a:spLocks noGrp="1"/>
          </p:cNvSpPr>
          <p:nvPr>
            <p:ph idx="1"/>
          </p:nvPr>
        </p:nvSpPr>
        <p:spPr/>
        <p:txBody>
          <a:bodyPr/>
          <a:lstStyle/>
          <a:p>
            <a:pPr marL="0" indent="0">
              <a:buNone/>
            </a:pPr>
            <a:r>
              <a:rPr lang="pt-BR" dirty="0"/>
              <a:t>Para se declarar uma variável, usamos o símbolo: $ antes do nome que daremos a variável e os tipos podem ser:</a:t>
            </a:r>
          </a:p>
        </p:txBody>
      </p:sp>
      <p:sp>
        <p:nvSpPr>
          <p:cNvPr id="7" name="Rectangle 4">
            <a:extLst>
              <a:ext uri="{FF2B5EF4-FFF2-40B4-BE49-F238E27FC236}">
                <a16:creationId xmlns:a16="http://schemas.microsoft.com/office/drawing/2014/main" id="{F6960C18-498D-2B90-408F-5FF8512A724B}"/>
              </a:ext>
            </a:extLst>
          </p:cNvPr>
          <p:cNvSpPr>
            <a:spLocks noChangeArrowheads="1"/>
          </p:cNvSpPr>
          <p:nvPr/>
        </p:nvSpPr>
        <p:spPr bwMode="auto">
          <a:xfrm>
            <a:off x="435994" y="2286776"/>
            <a:ext cx="4832292" cy="3114905"/>
          </a:xfrm>
          <a:prstGeom prst="rect">
            <a:avLst/>
          </a:prstGeom>
          <a:solidFill>
            <a:srgbClr val="26323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0" i="0" u="none" strike="noStrike" cap="none" normalizeH="0" baseline="0" dirty="0">
                <a:ln>
                  <a:noFill/>
                </a:ln>
                <a:solidFill>
                  <a:srgbClr val="998066"/>
                </a:solidFill>
                <a:effectLst/>
                <a:latin typeface="Consolas" panose="020B0609020204030204" pitchFamily="49" charset="0"/>
              </a:rPr>
              <a:t>// variável do tipo </a:t>
            </a:r>
            <a:r>
              <a:rPr kumimoji="0" lang="pt-BR" altLang="pt-BR" sz="2400" b="0" i="0" u="none" strike="noStrike" cap="none" normalizeH="0" baseline="0" dirty="0" err="1">
                <a:ln>
                  <a:noFill/>
                </a:ln>
                <a:solidFill>
                  <a:srgbClr val="998066"/>
                </a:solidFill>
                <a:effectLst/>
                <a:latin typeface="Consolas" panose="020B0609020204030204" pitchFamily="49" charset="0"/>
              </a:rPr>
              <a:t>String</a:t>
            </a:r>
            <a:r>
              <a:rPr kumimoji="0" lang="pt-BR" altLang="pt-BR" sz="2400" b="0" i="0" u="none" strike="noStrike" cap="none" normalizeH="0" baseline="0" dirty="0">
                <a:ln>
                  <a:noFill/>
                </a:ln>
                <a:solidFill>
                  <a:srgbClr val="FFFFFF"/>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0" i="0" u="none" strike="noStrike" cap="none" normalizeH="0" baseline="0" dirty="0">
                <a:ln>
                  <a:noFill/>
                </a:ln>
                <a:solidFill>
                  <a:srgbClr val="F5B83D"/>
                </a:solidFill>
                <a:effectLst/>
                <a:latin typeface="Consolas" panose="020B0609020204030204" pitchFamily="49" charset="0"/>
              </a:rPr>
              <a:t>$nome</a:t>
            </a:r>
            <a:r>
              <a:rPr kumimoji="0" lang="pt-BR" altLang="pt-BR" sz="2400" b="0" i="0" u="none" strike="noStrike" cap="none" normalizeH="0" baseline="0" dirty="0">
                <a:ln>
                  <a:noFill/>
                </a:ln>
                <a:solidFill>
                  <a:srgbClr val="FFFFFF"/>
                </a:solidFill>
                <a:effectLst/>
                <a:latin typeface="Consolas" panose="020B0609020204030204" pitchFamily="49" charset="0"/>
              </a:rPr>
              <a:t> </a:t>
            </a:r>
            <a:r>
              <a:rPr kumimoji="0" lang="pt-BR" altLang="pt-BR" sz="2400" b="0" i="0" u="none" strike="noStrike" cap="none" normalizeH="0" baseline="0" dirty="0">
                <a:ln>
                  <a:noFill/>
                </a:ln>
                <a:solidFill>
                  <a:srgbClr val="F5B83D"/>
                </a:solidFill>
                <a:effectLst/>
                <a:latin typeface="Consolas" panose="020B0609020204030204" pitchFamily="49" charset="0"/>
              </a:rPr>
              <a:t>=</a:t>
            </a:r>
            <a:r>
              <a:rPr kumimoji="0" lang="pt-BR" altLang="pt-BR" sz="2400" b="0" i="0" u="none" strike="noStrike" cap="none" normalizeH="0" baseline="0" dirty="0">
                <a:ln>
                  <a:noFill/>
                </a:ln>
                <a:solidFill>
                  <a:srgbClr val="FFFFFF"/>
                </a:solidFill>
                <a:effectLst/>
                <a:latin typeface="Consolas" panose="020B0609020204030204" pitchFamily="49" charset="0"/>
              </a:rPr>
              <a:t> </a:t>
            </a:r>
            <a:r>
              <a:rPr kumimoji="0" lang="pt-BR" altLang="pt-BR" sz="2400" b="0" i="0" u="none" strike="noStrike" cap="none" normalizeH="0" baseline="0" dirty="0">
                <a:ln>
                  <a:noFill/>
                </a:ln>
                <a:solidFill>
                  <a:srgbClr val="BDE052"/>
                </a:solidFill>
                <a:effectLst/>
                <a:latin typeface="Consolas" panose="020B0609020204030204" pitchFamily="49" charset="0"/>
              </a:rPr>
              <a:t>'Meu nome 123'</a:t>
            </a:r>
            <a:r>
              <a:rPr kumimoji="0" lang="pt-BR" altLang="pt-BR" sz="2400" b="0" i="0" u="none" strike="noStrike" cap="none" normalizeH="0" baseline="0" dirty="0">
                <a:ln>
                  <a:noFill/>
                </a:ln>
                <a:solidFill>
                  <a:srgbClr val="FFFFFF"/>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0" i="0" u="none" strike="noStrike" cap="none" normalizeH="0" baseline="0" dirty="0">
                <a:ln>
                  <a:noFill/>
                </a:ln>
                <a:solidFill>
                  <a:srgbClr val="998066"/>
                </a:solidFill>
                <a:effectLst/>
                <a:latin typeface="Consolas" panose="020B0609020204030204" pitchFamily="49" charset="0"/>
              </a:rPr>
              <a:t>// variável do tipo inteiro</a:t>
            </a:r>
            <a:r>
              <a:rPr kumimoji="0" lang="pt-BR" altLang="pt-BR" sz="2400" b="0" i="0" u="none" strike="noStrike" cap="none" normalizeH="0" baseline="0" dirty="0">
                <a:ln>
                  <a:noFill/>
                </a:ln>
                <a:solidFill>
                  <a:srgbClr val="FFFFFF"/>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0" i="0" u="none" strike="noStrike" cap="none" normalizeH="0" baseline="0" dirty="0">
                <a:ln>
                  <a:noFill/>
                </a:ln>
                <a:solidFill>
                  <a:srgbClr val="F5B83D"/>
                </a:solidFill>
                <a:effectLst/>
                <a:latin typeface="Consolas" panose="020B0609020204030204" pitchFamily="49" charset="0"/>
              </a:rPr>
              <a:t>$ano</a:t>
            </a:r>
            <a:r>
              <a:rPr kumimoji="0" lang="pt-BR" altLang="pt-BR" sz="2400" b="0" i="0" u="none" strike="noStrike" cap="none" normalizeH="0" baseline="0" dirty="0">
                <a:ln>
                  <a:noFill/>
                </a:ln>
                <a:solidFill>
                  <a:srgbClr val="FFFFFF"/>
                </a:solidFill>
                <a:effectLst/>
                <a:latin typeface="Consolas" panose="020B0609020204030204" pitchFamily="49" charset="0"/>
              </a:rPr>
              <a:t> </a:t>
            </a:r>
            <a:r>
              <a:rPr kumimoji="0" lang="pt-BR" altLang="pt-BR" sz="2400" b="0" i="0" u="none" strike="noStrike" cap="none" normalizeH="0" baseline="0" dirty="0">
                <a:ln>
                  <a:noFill/>
                </a:ln>
                <a:solidFill>
                  <a:srgbClr val="F5B83D"/>
                </a:solidFill>
                <a:effectLst/>
                <a:latin typeface="Consolas" panose="020B0609020204030204" pitchFamily="49" charset="0"/>
              </a:rPr>
              <a:t>=</a:t>
            </a:r>
            <a:r>
              <a:rPr kumimoji="0" lang="pt-BR" altLang="pt-BR" sz="2400" b="0" i="0" u="none" strike="noStrike" cap="none" normalizeH="0" baseline="0" dirty="0">
                <a:ln>
                  <a:noFill/>
                </a:ln>
                <a:solidFill>
                  <a:srgbClr val="FFFFFF"/>
                </a:solidFill>
                <a:effectLst/>
                <a:latin typeface="Consolas" panose="020B0609020204030204" pitchFamily="49" charset="0"/>
              </a:rPr>
              <a:t> </a:t>
            </a:r>
            <a:r>
              <a:rPr kumimoji="0" lang="pt-BR" altLang="pt-BR" sz="2400" b="0" i="0" u="none" strike="noStrike" cap="none" normalizeH="0" baseline="0" dirty="0">
                <a:ln>
                  <a:noFill/>
                </a:ln>
                <a:solidFill>
                  <a:srgbClr val="AF7DFF"/>
                </a:solidFill>
                <a:effectLst/>
                <a:latin typeface="Consolas" panose="020B0609020204030204" pitchFamily="49" charset="0"/>
              </a:rPr>
              <a:t>2017</a:t>
            </a:r>
            <a:r>
              <a:rPr kumimoji="0" lang="pt-BR" altLang="pt-BR" sz="2400" b="0" i="0" u="none" strike="noStrike" cap="none" normalizeH="0" baseline="0" dirty="0">
                <a:ln>
                  <a:noFill/>
                </a:ln>
                <a:solidFill>
                  <a:srgbClr val="FFFFFF"/>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0" i="0" u="none" strike="noStrike" cap="none" normalizeH="0" baseline="0" dirty="0">
                <a:ln>
                  <a:noFill/>
                </a:ln>
                <a:solidFill>
                  <a:srgbClr val="998066"/>
                </a:solidFill>
                <a:effectLst/>
                <a:latin typeface="Consolas" panose="020B0609020204030204" pitchFamily="49" charset="0"/>
              </a:rPr>
              <a:t>// variável do tipo </a:t>
            </a:r>
            <a:r>
              <a:rPr kumimoji="0" lang="pt-BR" altLang="pt-BR" sz="2400" b="0" i="0" u="none" strike="noStrike" cap="none" normalizeH="0" baseline="0" dirty="0" err="1">
                <a:ln>
                  <a:noFill/>
                </a:ln>
                <a:solidFill>
                  <a:srgbClr val="998066"/>
                </a:solidFill>
                <a:effectLst/>
                <a:latin typeface="Consolas" panose="020B0609020204030204" pitchFamily="49" charset="0"/>
              </a:rPr>
              <a:t>float</a:t>
            </a:r>
            <a:r>
              <a:rPr kumimoji="0" lang="pt-BR" altLang="pt-BR" sz="2400" b="0" i="0" u="none" strike="noStrike" cap="none" normalizeH="0" baseline="0" dirty="0">
                <a:ln>
                  <a:noFill/>
                </a:ln>
                <a:solidFill>
                  <a:srgbClr val="FFFFFF"/>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0" i="0" u="none" strike="noStrike" cap="none" normalizeH="0" baseline="0" dirty="0">
                <a:ln>
                  <a:noFill/>
                </a:ln>
                <a:solidFill>
                  <a:srgbClr val="F5B83D"/>
                </a:solidFill>
                <a:effectLst/>
                <a:latin typeface="Consolas" panose="020B0609020204030204" pitchFamily="49" charset="0"/>
              </a:rPr>
              <a:t>$pi</a:t>
            </a:r>
            <a:r>
              <a:rPr kumimoji="0" lang="pt-BR" altLang="pt-BR" sz="2400" b="0" i="0" u="none" strike="noStrike" cap="none" normalizeH="0" baseline="0" dirty="0">
                <a:ln>
                  <a:noFill/>
                </a:ln>
                <a:solidFill>
                  <a:srgbClr val="FFFFFF"/>
                </a:solidFill>
                <a:effectLst/>
                <a:latin typeface="Consolas" panose="020B0609020204030204" pitchFamily="49" charset="0"/>
              </a:rPr>
              <a:t> </a:t>
            </a:r>
            <a:r>
              <a:rPr kumimoji="0" lang="pt-BR" altLang="pt-BR" sz="2400" b="0" i="0" u="none" strike="noStrike" cap="none" normalizeH="0" baseline="0" dirty="0">
                <a:ln>
                  <a:noFill/>
                </a:ln>
                <a:solidFill>
                  <a:srgbClr val="F5B83D"/>
                </a:solidFill>
                <a:effectLst/>
                <a:latin typeface="Consolas" panose="020B0609020204030204" pitchFamily="49" charset="0"/>
              </a:rPr>
              <a:t>=</a:t>
            </a:r>
            <a:r>
              <a:rPr kumimoji="0" lang="pt-BR" altLang="pt-BR" sz="2400" b="0" i="0" u="none" strike="noStrike" cap="none" normalizeH="0" baseline="0" dirty="0">
                <a:ln>
                  <a:noFill/>
                </a:ln>
                <a:solidFill>
                  <a:srgbClr val="FFFFFF"/>
                </a:solidFill>
                <a:effectLst/>
                <a:latin typeface="Consolas" panose="020B0609020204030204" pitchFamily="49" charset="0"/>
              </a:rPr>
              <a:t> </a:t>
            </a:r>
            <a:r>
              <a:rPr kumimoji="0" lang="pt-BR" altLang="pt-BR" sz="2400" b="0" i="0" u="none" strike="noStrike" cap="none" normalizeH="0" baseline="0" dirty="0">
                <a:ln>
                  <a:noFill/>
                </a:ln>
                <a:solidFill>
                  <a:srgbClr val="AF7DFF"/>
                </a:solidFill>
                <a:effectLst/>
                <a:latin typeface="Consolas" panose="020B0609020204030204" pitchFamily="49" charset="0"/>
              </a:rPr>
              <a:t>3.14159265</a:t>
            </a:r>
            <a:r>
              <a:rPr kumimoji="0" lang="pt-BR" altLang="pt-BR" sz="2400" b="0" i="0" u="none" strike="noStrike" cap="none" normalizeH="0" baseline="0" dirty="0">
                <a:ln>
                  <a:noFill/>
                </a:ln>
                <a:solidFill>
                  <a:srgbClr val="FFFFFF"/>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0" i="0" u="none" strike="noStrike" cap="none" normalizeH="0" baseline="0" dirty="0">
                <a:ln>
                  <a:noFill/>
                </a:ln>
                <a:solidFill>
                  <a:srgbClr val="998066"/>
                </a:solidFill>
                <a:effectLst/>
                <a:latin typeface="Consolas" panose="020B0609020204030204" pitchFamily="49" charset="0"/>
              </a:rPr>
              <a:t>// variável do tipo booleano</a:t>
            </a:r>
            <a:r>
              <a:rPr kumimoji="0" lang="pt-BR" altLang="pt-BR" sz="2400" b="0" i="0" u="none" strike="noStrike" cap="none" normalizeH="0" baseline="0" dirty="0">
                <a:ln>
                  <a:noFill/>
                </a:ln>
                <a:solidFill>
                  <a:srgbClr val="FFFFFF"/>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0" i="0" u="none" strike="noStrike" cap="none" normalizeH="0" baseline="0" dirty="0">
                <a:ln>
                  <a:noFill/>
                </a:ln>
                <a:solidFill>
                  <a:srgbClr val="F5B83D"/>
                </a:solidFill>
                <a:effectLst/>
                <a:latin typeface="Consolas" panose="020B0609020204030204" pitchFamily="49" charset="0"/>
              </a:rPr>
              <a:t>$sim</a:t>
            </a:r>
            <a:r>
              <a:rPr kumimoji="0" lang="pt-BR" altLang="pt-BR" sz="2400" b="0" i="0" u="none" strike="noStrike" cap="none" normalizeH="0" baseline="0" dirty="0">
                <a:ln>
                  <a:noFill/>
                </a:ln>
                <a:solidFill>
                  <a:srgbClr val="FFFFFF"/>
                </a:solidFill>
                <a:effectLst/>
                <a:latin typeface="Consolas" panose="020B0609020204030204" pitchFamily="49" charset="0"/>
              </a:rPr>
              <a:t> </a:t>
            </a:r>
            <a:r>
              <a:rPr kumimoji="0" lang="pt-BR" altLang="pt-BR" sz="2400" b="0" i="0" u="none" strike="noStrike" cap="none" normalizeH="0" baseline="0" dirty="0">
                <a:ln>
                  <a:noFill/>
                </a:ln>
                <a:solidFill>
                  <a:srgbClr val="F5B83D"/>
                </a:solidFill>
                <a:effectLst/>
                <a:latin typeface="Consolas" panose="020B0609020204030204" pitchFamily="49" charset="0"/>
              </a:rPr>
              <a:t>=</a:t>
            </a:r>
            <a:r>
              <a:rPr kumimoji="0" lang="pt-BR" altLang="pt-BR" sz="2400" b="0" i="0" u="none" strike="noStrike" cap="none" normalizeH="0" baseline="0" dirty="0">
                <a:ln>
                  <a:noFill/>
                </a:ln>
                <a:solidFill>
                  <a:srgbClr val="FFFFFF"/>
                </a:solidFill>
                <a:effectLst/>
                <a:latin typeface="Consolas" panose="020B0609020204030204" pitchFamily="49" charset="0"/>
              </a:rPr>
              <a:t> </a:t>
            </a:r>
            <a:r>
              <a:rPr kumimoji="0" lang="pt-BR" altLang="pt-BR" sz="2400" b="0" i="0" u="none" strike="noStrike" cap="none" normalizeH="0" baseline="0" dirty="0" err="1">
                <a:ln>
                  <a:noFill/>
                </a:ln>
                <a:solidFill>
                  <a:srgbClr val="D1949E"/>
                </a:solidFill>
                <a:effectLst/>
                <a:latin typeface="Consolas" panose="020B0609020204030204" pitchFamily="49" charset="0"/>
              </a:rPr>
              <a:t>true</a:t>
            </a:r>
            <a:r>
              <a:rPr kumimoji="0" lang="pt-BR" altLang="pt-BR" sz="2400" b="0" i="0" u="none" strike="noStrike" cap="none" normalizeH="0" baseline="0" dirty="0">
                <a:ln>
                  <a:noFill/>
                </a:ln>
                <a:solidFill>
                  <a:srgbClr val="FFFFFF"/>
                </a:solidFill>
                <a:effectLst/>
                <a:latin typeface="Consolas" panose="020B0609020204030204" pitchFamily="49" charset="0"/>
              </a:rPr>
              <a:t>;</a:t>
            </a:r>
            <a:r>
              <a:rPr kumimoji="0" lang="pt-BR" altLang="pt-BR" b="0" i="0" u="none" strike="noStrike" cap="none" normalizeH="0" baseline="0" dirty="0">
                <a:ln>
                  <a:noFill/>
                </a:ln>
                <a:solidFill>
                  <a:schemeClr val="tx1"/>
                </a:solidFill>
                <a:effectLst/>
              </a:rPr>
              <a:t> </a:t>
            </a:r>
            <a:endParaRPr kumimoji="0" lang="pt-BR" altLang="pt-BR" sz="4800" b="0" i="0" u="none" strike="noStrike" cap="none" normalizeH="0" baseline="0" dirty="0">
              <a:ln>
                <a:noFill/>
              </a:ln>
              <a:solidFill>
                <a:schemeClr val="tx1"/>
              </a:solidFill>
              <a:effectLst/>
              <a:latin typeface="Arial" panose="020B0604020202020204" pitchFamily="34" charset="0"/>
            </a:endParaRPr>
          </a:p>
        </p:txBody>
      </p:sp>
      <p:sp>
        <p:nvSpPr>
          <p:cNvPr id="11" name="Espaço Reservado para Conteúdo 2">
            <a:extLst>
              <a:ext uri="{FF2B5EF4-FFF2-40B4-BE49-F238E27FC236}">
                <a16:creationId xmlns:a16="http://schemas.microsoft.com/office/drawing/2014/main" id="{9DC47240-EB23-19FC-A766-38D37412B02C}"/>
              </a:ext>
            </a:extLst>
          </p:cNvPr>
          <p:cNvSpPr txBox="1">
            <a:spLocks/>
          </p:cNvSpPr>
          <p:nvPr/>
        </p:nvSpPr>
        <p:spPr>
          <a:xfrm>
            <a:off x="5386586" y="2286776"/>
            <a:ext cx="64877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lumMod val="50000"/>
                  </a:schemeClr>
                </a:solidFill>
                <a:latin typeface="Helvetica" panose="020B0604020202020204" pitchFamily="34" charset="0"/>
                <a:ea typeface="+mn-ea"/>
                <a:cs typeface="Helvetica"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Helvetica" panose="020B0604020202020204" pitchFamily="34" charset="0"/>
                <a:ea typeface="+mn-ea"/>
                <a:cs typeface="Helvetica"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50000"/>
                  </a:schemeClr>
                </a:solidFill>
                <a:latin typeface="Helvetica" panose="020B0604020202020204" pitchFamily="34" charset="0"/>
                <a:ea typeface="+mn-ea"/>
                <a:cs typeface="Helvetica"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Helvetica" panose="020B0604020202020204" pitchFamily="34" charset="0"/>
                <a:ea typeface="+mn-ea"/>
                <a:cs typeface="Helvetica"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pt-BR" dirty="0"/>
              <a:t>Veja o exemplo:</a:t>
            </a:r>
          </a:p>
        </p:txBody>
      </p:sp>
      <p:sp>
        <p:nvSpPr>
          <p:cNvPr id="13" name="CaixaDeTexto 12">
            <a:extLst>
              <a:ext uri="{FF2B5EF4-FFF2-40B4-BE49-F238E27FC236}">
                <a16:creationId xmlns:a16="http://schemas.microsoft.com/office/drawing/2014/main" id="{5976D0EE-A910-FC48-43D8-92939E718553}"/>
              </a:ext>
            </a:extLst>
          </p:cNvPr>
          <p:cNvSpPr txBox="1"/>
          <p:nvPr/>
        </p:nvSpPr>
        <p:spPr>
          <a:xfrm>
            <a:off x="5386586" y="2910159"/>
            <a:ext cx="6220436" cy="2462213"/>
          </a:xfrm>
          <a:prstGeom prst="rect">
            <a:avLst/>
          </a:prstGeom>
          <a:solidFill>
            <a:schemeClr val="tx1"/>
          </a:solidFill>
        </p:spPr>
        <p:txBody>
          <a:bodyPr wrap="square">
            <a:spAutoFit/>
          </a:bodyPr>
          <a:lstStyle/>
          <a:p>
            <a:r>
              <a:rPr lang="pt-BR" sz="1400" b="0" dirty="0">
                <a:solidFill>
                  <a:srgbClr val="CCCCCC"/>
                </a:solidFill>
                <a:effectLst/>
                <a:latin typeface="Consolas" panose="020B0609020204030204" pitchFamily="49" charset="0"/>
              </a:rPr>
              <a:t>    </a:t>
            </a:r>
            <a:r>
              <a:rPr lang="pt-BR" sz="1400" b="0" dirty="0">
                <a:solidFill>
                  <a:srgbClr val="569CD6"/>
                </a:solidFill>
                <a:effectLst/>
                <a:latin typeface="Consolas" panose="020B0609020204030204" pitchFamily="49" charset="0"/>
              </a:rPr>
              <a:t>&lt;?</a:t>
            </a:r>
            <a:r>
              <a:rPr lang="pt-BR" sz="1400" b="0" dirty="0" err="1">
                <a:solidFill>
                  <a:srgbClr val="569CD6"/>
                </a:solidFill>
                <a:effectLst/>
                <a:latin typeface="Consolas" panose="020B0609020204030204" pitchFamily="49" charset="0"/>
              </a:rPr>
              <a:t>php</a:t>
            </a:r>
            <a:endParaRPr lang="pt-BR" sz="1400" b="0" dirty="0">
              <a:solidFill>
                <a:srgbClr val="CCCCCC"/>
              </a:solidFill>
              <a:effectLst/>
              <a:latin typeface="Consolas" panose="020B0609020204030204" pitchFamily="49" charset="0"/>
            </a:endParaRPr>
          </a:p>
          <a:p>
            <a:r>
              <a:rPr lang="pt-BR" sz="1400" b="0" dirty="0">
                <a:solidFill>
                  <a:srgbClr val="D4D4D4"/>
                </a:solidFill>
                <a:effectLst/>
                <a:latin typeface="Consolas" panose="020B0609020204030204" pitchFamily="49" charset="0"/>
              </a:rPr>
              <a:t>    </a:t>
            </a:r>
            <a:r>
              <a:rPr lang="pt-BR" sz="1400" b="0" dirty="0" err="1">
                <a:solidFill>
                  <a:srgbClr val="DCDCAA"/>
                </a:solidFill>
                <a:effectLst/>
                <a:latin typeface="Consolas" panose="020B0609020204030204" pitchFamily="49" charset="0"/>
              </a:rPr>
              <a:t>echo</a:t>
            </a:r>
            <a:r>
              <a:rPr lang="pt-BR" sz="1400" b="0" dirty="0">
                <a:solidFill>
                  <a:srgbClr val="D4D4D4"/>
                </a:solidFill>
                <a:effectLst/>
                <a:latin typeface="Consolas" panose="020B0609020204030204" pitchFamily="49" charset="0"/>
              </a:rPr>
              <a:t>(</a:t>
            </a:r>
            <a:r>
              <a:rPr lang="pt-BR" sz="1400" b="0" dirty="0">
                <a:solidFill>
                  <a:srgbClr val="CE9178"/>
                </a:solidFill>
                <a:effectLst/>
                <a:latin typeface="Consolas" panose="020B0609020204030204" pitchFamily="49" charset="0"/>
              </a:rPr>
              <a:t>"&lt;h1&gt;Esse é o meu primeiro programa em PHP&lt;/h1&gt;"</a:t>
            </a:r>
            <a:r>
              <a:rPr lang="pt-BR" sz="1400" b="0" dirty="0">
                <a:solidFill>
                  <a:srgbClr val="D4D4D4"/>
                </a:solidFill>
                <a:effectLst/>
                <a:latin typeface="Consolas" panose="020B0609020204030204" pitchFamily="49" charset="0"/>
              </a:rPr>
              <a:t>);</a:t>
            </a:r>
            <a:endParaRPr lang="pt-BR" sz="1400" b="0" dirty="0">
              <a:solidFill>
                <a:srgbClr val="CCCCCC"/>
              </a:solidFill>
              <a:effectLst/>
              <a:latin typeface="Consolas" panose="020B0609020204030204" pitchFamily="49" charset="0"/>
            </a:endParaRPr>
          </a:p>
          <a:p>
            <a:r>
              <a:rPr lang="pt-BR" sz="1400" b="0" dirty="0">
                <a:solidFill>
                  <a:srgbClr val="D4D4D4"/>
                </a:solidFill>
                <a:effectLst/>
                <a:latin typeface="Consolas" panose="020B0609020204030204" pitchFamily="49" charset="0"/>
              </a:rPr>
              <a:t>    </a:t>
            </a:r>
            <a:r>
              <a:rPr lang="pt-BR" sz="1400" b="0" dirty="0" err="1">
                <a:solidFill>
                  <a:srgbClr val="DCDCAA"/>
                </a:solidFill>
                <a:effectLst/>
                <a:latin typeface="Consolas" panose="020B0609020204030204" pitchFamily="49" charset="0"/>
              </a:rPr>
              <a:t>echo</a:t>
            </a:r>
            <a:r>
              <a:rPr lang="pt-BR" sz="1400" b="0" dirty="0">
                <a:solidFill>
                  <a:srgbClr val="D4D4D4"/>
                </a:solidFill>
                <a:effectLst/>
                <a:latin typeface="Consolas" panose="020B0609020204030204" pitchFamily="49" charset="0"/>
              </a:rPr>
              <a:t>(</a:t>
            </a:r>
            <a:r>
              <a:rPr lang="pt-BR" sz="1400" b="0" dirty="0">
                <a:solidFill>
                  <a:srgbClr val="CE9178"/>
                </a:solidFill>
                <a:effectLst/>
                <a:latin typeface="Consolas" panose="020B0609020204030204" pitchFamily="49" charset="0"/>
              </a:rPr>
              <a:t>"&lt;</a:t>
            </a:r>
            <a:r>
              <a:rPr lang="pt-BR" sz="1400" b="0" dirty="0" err="1">
                <a:solidFill>
                  <a:srgbClr val="CE9178"/>
                </a:solidFill>
                <a:effectLst/>
                <a:latin typeface="Consolas" panose="020B0609020204030204" pitchFamily="49" charset="0"/>
              </a:rPr>
              <a:t>br</a:t>
            </a:r>
            <a:r>
              <a:rPr lang="pt-BR" sz="1400" b="0" dirty="0">
                <a:solidFill>
                  <a:srgbClr val="CE9178"/>
                </a:solidFill>
                <a:effectLst/>
                <a:latin typeface="Consolas" panose="020B0609020204030204" pitchFamily="49" charset="0"/>
              </a:rPr>
              <a:t>/&gt;"</a:t>
            </a:r>
            <a:r>
              <a:rPr lang="pt-BR" sz="1400" b="0" dirty="0">
                <a:solidFill>
                  <a:srgbClr val="D4D4D4"/>
                </a:solidFill>
                <a:effectLst/>
                <a:latin typeface="Consolas" panose="020B0609020204030204" pitchFamily="49" charset="0"/>
              </a:rPr>
              <a:t>);</a:t>
            </a:r>
            <a:endParaRPr lang="pt-BR" sz="1400" b="0" dirty="0">
              <a:solidFill>
                <a:srgbClr val="CCCCCC"/>
              </a:solidFill>
              <a:effectLst/>
              <a:latin typeface="Consolas" panose="020B0609020204030204" pitchFamily="49" charset="0"/>
            </a:endParaRPr>
          </a:p>
          <a:p>
            <a:r>
              <a:rPr lang="pt-BR" sz="1400" b="0" dirty="0">
                <a:solidFill>
                  <a:srgbClr val="D4D4D4"/>
                </a:solidFill>
                <a:effectLst/>
                <a:latin typeface="Consolas" panose="020B0609020204030204" pitchFamily="49" charset="0"/>
              </a:rPr>
              <a:t>    </a:t>
            </a:r>
            <a:r>
              <a:rPr lang="pt-BR" sz="1400" b="0" dirty="0">
                <a:solidFill>
                  <a:srgbClr val="9CDCFE"/>
                </a:solidFill>
                <a:effectLst/>
                <a:latin typeface="Consolas" panose="020B0609020204030204" pitchFamily="49" charset="0"/>
              </a:rPr>
              <a:t>$n1</a:t>
            </a:r>
            <a:r>
              <a:rPr lang="pt-BR" sz="1400" b="0" dirty="0">
                <a:solidFill>
                  <a:srgbClr val="D4D4D4"/>
                </a:solidFill>
                <a:effectLst/>
                <a:latin typeface="Consolas" panose="020B0609020204030204" pitchFamily="49" charset="0"/>
              </a:rPr>
              <a:t>=</a:t>
            </a:r>
            <a:r>
              <a:rPr lang="pt-BR" sz="1400" b="0" dirty="0">
                <a:solidFill>
                  <a:srgbClr val="B5CEA8"/>
                </a:solidFill>
                <a:effectLst/>
                <a:latin typeface="Consolas" panose="020B0609020204030204" pitchFamily="49" charset="0"/>
              </a:rPr>
              <a:t>1</a:t>
            </a:r>
            <a:r>
              <a:rPr lang="pt-BR" sz="1400" b="0" dirty="0">
                <a:solidFill>
                  <a:srgbClr val="D4D4D4"/>
                </a:solidFill>
                <a:effectLst/>
                <a:latin typeface="Consolas" panose="020B0609020204030204" pitchFamily="49" charset="0"/>
              </a:rPr>
              <a:t>;</a:t>
            </a:r>
            <a:endParaRPr lang="pt-BR" sz="1400" b="0" dirty="0">
              <a:solidFill>
                <a:srgbClr val="CCCCCC"/>
              </a:solidFill>
              <a:effectLst/>
              <a:latin typeface="Consolas" panose="020B0609020204030204" pitchFamily="49" charset="0"/>
            </a:endParaRPr>
          </a:p>
          <a:p>
            <a:r>
              <a:rPr lang="pt-BR" sz="1400" b="0" dirty="0">
                <a:solidFill>
                  <a:srgbClr val="D4D4D4"/>
                </a:solidFill>
                <a:effectLst/>
                <a:latin typeface="Consolas" panose="020B0609020204030204" pitchFamily="49" charset="0"/>
              </a:rPr>
              <a:t>    </a:t>
            </a:r>
            <a:r>
              <a:rPr lang="pt-BR" sz="1400" b="0" dirty="0">
                <a:solidFill>
                  <a:srgbClr val="9CDCFE"/>
                </a:solidFill>
                <a:effectLst/>
                <a:latin typeface="Consolas" panose="020B0609020204030204" pitchFamily="49" charset="0"/>
              </a:rPr>
              <a:t>$n2</a:t>
            </a:r>
            <a:r>
              <a:rPr lang="pt-BR" sz="1400" b="0" dirty="0">
                <a:solidFill>
                  <a:srgbClr val="D4D4D4"/>
                </a:solidFill>
                <a:effectLst/>
                <a:latin typeface="Consolas" panose="020B0609020204030204" pitchFamily="49" charset="0"/>
              </a:rPr>
              <a:t>=</a:t>
            </a:r>
            <a:r>
              <a:rPr lang="pt-BR" sz="1400" b="0" dirty="0">
                <a:solidFill>
                  <a:srgbClr val="B5CEA8"/>
                </a:solidFill>
                <a:effectLst/>
                <a:latin typeface="Consolas" panose="020B0609020204030204" pitchFamily="49" charset="0"/>
              </a:rPr>
              <a:t>2</a:t>
            </a:r>
            <a:r>
              <a:rPr lang="pt-BR" sz="1400" b="0" dirty="0">
                <a:solidFill>
                  <a:srgbClr val="D4D4D4"/>
                </a:solidFill>
                <a:effectLst/>
                <a:latin typeface="Consolas" panose="020B0609020204030204" pitchFamily="49" charset="0"/>
              </a:rPr>
              <a:t>;</a:t>
            </a:r>
            <a:endParaRPr lang="pt-BR" sz="1400" b="0" dirty="0">
              <a:solidFill>
                <a:srgbClr val="CCCCCC"/>
              </a:solidFill>
              <a:effectLst/>
              <a:latin typeface="Consolas" panose="020B0609020204030204" pitchFamily="49" charset="0"/>
            </a:endParaRPr>
          </a:p>
          <a:p>
            <a:r>
              <a:rPr lang="pt-BR" sz="1400" b="0" dirty="0">
                <a:solidFill>
                  <a:srgbClr val="D4D4D4"/>
                </a:solidFill>
                <a:effectLst/>
                <a:latin typeface="Consolas" panose="020B0609020204030204" pitchFamily="49" charset="0"/>
              </a:rPr>
              <a:t>    </a:t>
            </a:r>
            <a:r>
              <a:rPr lang="pt-BR" sz="1400" b="0" dirty="0" err="1">
                <a:solidFill>
                  <a:srgbClr val="DCDCAA"/>
                </a:solidFill>
                <a:effectLst/>
                <a:latin typeface="Consolas" panose="020B0609020204030204" pitchFamily="49" charset="0"/>
              </a:rPr>
              <a:t>echo</a:t>
            </a:r>
            <a:r>
              <a:rPr lang="pt-BR" sz="1400" b="0" dirty="0">
                <a:solidFill>
                  <a:srgbClr val="D4D4D4"/>
                </a:solidFill>
                <a:effectLst/>
                <a:latin typeface="Consolas" panose="020B0609020204030204" pitchFamily="49" charset="0"/>
              </a:rPr>
              <a:t>(</a:t>
            </a:r>
            <a:r>
              <a:rPr lang="pt-BR" sz="1400" b="0" dirty="0">
                <a:solidFill>
                  <a:srgbClr val="9CDCFE"/>
                </a:solidFill>
                <a:effectLst/>
                <a:latin typeface="Consolas" panose="020B0609020204030204" pitchFamily="49" charset="0"/>
              </a:rPr>
              <a:t>$n1</a:t>
            </a:r>
            <a:r>
              <a:rPr lang="pt-BR" sz="1400" b="0" dirty="0">
                <a:solidFill>
                  <a:srgbClr val="D4D4D4"/>
                </a:solidFill>
                <a:effectLst/>
                <a:latin typeface="Consolas" panose="020B0609020204030204" pitchFamily="49" charset="0"/>
              </a:rPr>
              <a:t>+</a:t>
            </a:r>
            <a:r>
              <a:rPr lang="pt-BR" sz="1400" b="0" dirty="0">
                <a:solidFill>
                  <a:srgbClr val="9CDCFE"/>
                </a:solidFill>
                <a:effectLst/>
                <a:latin typeface="Consolas" panose="020B0609020204030204" pitchFamily="49" charset="0"/>
              </a:rPr>
              <a:t>$n2</a:t>
            </a:r>
            <a:r>
              <a:rPr lang="pt-BR" sz="1400" b="0" dirty="0">
                <a:solidFill>
                  <a:srgbClr val="D4D4D4"/>
                </a:solidFill>
                <a:effectLst/>
                <a:latin typeface="Consolas" panose="020B0609020204030204" pitchFamily="49" charset="0"/>
              </a:rPr>
              <a:t>); </a:t>
            </a:r>
            <a:r>
              <a:rPr lang="pt-BR" sz="1400" b="0" dirty="0">
                <a:solidFill>
                  <a:srgbClr val="6A9955"/>
                </a:solidFill>
                <a:effectLst/>
                <a:latin typeface="Consolas" panose="020B0609020204030204" pitchFamily="49" charset="0"/>
              </a:rPr>
              <a:t>// Irá mostrar 3</a:t>
            </a:r>
            <a:endParaRPr lang="pt-BR" sz="1400" b="0" dirty="0">
              <a:solidFill>
                <a:srgbClr val="CCCCCC"/>
              </a:solidFill>
              <a:effectLst/>
              <a:latin typeface="Consolas" panose="020B0609020204030204" pitchFamily="49" charset="0"/>
            </a:endParaRPr>
          </a:p>
          <a:p>
            <a:r>
              <a:rPr lang="pt-BR" sz="1400" b="0" dirty="0">
                <a:solidFill>
                  <a:srgbClr val="D4D4D4"/>
                </a:solidFill>
                <a:effectLst/>
                <a:latin typeface="Consolas" panose="020B0609020204030204" pitchFamily="49" charset="0"/>
              </a:rPr>
              <a:t>    </a:t>
            </a:r>
            <a:r>
              <a:rPr lang="pt-BR" sz="1400" b="0" dirty="0" err="1">
                <a:solidFill>
                  <a:srgbClr val="DCDCAA"/>
                </a:solidFill>
                <a:effectLst/>
                <a:latin typeface="Consolas" panose="020B0609020204030204" pitchFamily="49" charset="0"/>
              </a:rPr>
              <a:t>echo</a:t>
            </a:r>
            <a:r>
              <a:rPr lang="pt-BR" sz="1400" b="0" dirty="0">
                <a:solidFill>
                  <a:srgbClr val="D4D4D4"/>
                </a:solidFill>
                <a:effectLst/>
                <a:latin typeface="Consolas" panose="020B0609020204030204" pitchFamily="49" charset="0"/>
              </a:rPr>
              <a:t>(</a:t>
            </a:r>
            <a:r>
              <a:rPr lang="pt-BR" sz="1400" b="0" dirty="0">
                <a:solidFill>
                  <a:srgbClr val="CE9178"/>
                </a:solidFill>
                <a:effectLst/>
                <a:latin typeface="Consolas" panose="020B0609020204030204" pitchFamily="49" charset="0"/>
              </a:rPr>
              <a:t>"&lt;</a:t>
            </a:r>
            <a:r>
              <a:rPr lang="pt-BR" sz="1400" b="0" dirty="0" err="1">
                <a:solidFill>
                  <a:srgbClr val="CE9178"/>
                </a:solidFill>
                <a:effectLst/>
                <a:latin typeface="Consolas" panose="020B0609020204030204" pitchFamily="49" charset="0"/>
              </a:rPr>
              <a:t>br</a:t>
            </a:r>
            <a:r>
              <a:rPr lang="pt-BR" sz="1400" b="0" dirty="0">
                <a:solidFill>
                  <a:srgbClr val="CE9178"/>
                </a:solidFill>
                <a:effectLst/>
                <a:latin typeface="Consolas" panose="020B0609020204030204" pitchFamily="49" charset="0"/>
              </a:rPr>
              <a:t>/&gt;"</a:t>
            </a:r>
            <a:r>
              <a:rPr lang="pt-BR" sz="1400" b="0" dirty="0">
                <a:solidFill>
                  <a:srgbClr val="D4D4D4"/>
                </a:solidFill>
                <a:effectLst/>
                <a:latin typeface="Consolas" panose="020B0609020204030204" pitchFamily="49" charset="0"/>
              </a:rPr>
              <a:t>);</a:t>
            </a:r>
            <a:endParaRPr lang="pt-BR" sz="1400" b="0" dirty="0">
              <a:solidFill>
                <a:srgbClr val="CCCCCC"/>
              </a:solidFill>
              <a:effectLst/>
              <a:latin typeface="Consolas" panose="020B0609020204030204" pitchFamily="49" charset="0"/>
            </a:endParaRPr>
          </a:p>
          <a:p>
            <a:r>
              <a:rPr lang="pt-BR" sz="1400" b="0" dirty="0">
                <a:solidFill>
                  <a:srgbClr val="D4D4D4"/>
                </a:solidFill>
                <a:effectLst/>
                <a:latin typeface="Consolas" panose="020B0609020204030204" pitchFamily="49" charset="0"/>
              </a:rPr>
              <a:t>    </a:t>
            </a:r>
            <a:r>
              <a:rPr lang="pt-BR" sz="1400" b="0" dirty="0">
                <a:solidFill>
                  <a:srgbClr val="9CDCFE"/>
                </a:solidFill>
                <a:effectLst/>
                <a:latin typeface="Consolas" panose="020B0609020204030204" pitchFamily="49" charset="0"/>
              </a:rPr>
              <a:t>$n3</a:t>
            </a:r>
            <a:r>
              <a:rPr lang="pt-BR" sz="1400" b="0" dirty="0">
                <a:solidFill>
                  <a:srgbClr val="D4D4D4"/>
                </a:solidFill>
                <a:effectLst/>
                <a:latin typeface="Consolas" panose="020B0609020204030204" pitchFamily="49" charset="0"/>
              </a:rPr>
              <a:t>=</a:t>
            </a:r>
            <a:r>
              <a:rPr lang="pt-BR" sz="1400" b="0" dirty="0">
                <a:solidFill>
                  <a:srgbClr val="CE9178"/>
                </a:solidFill>
                <a:effectLst/>
                <a:latin typeface="Consolas" panose="020B0609020204030204" pitchFamily="49" charset="0"/>
              </a:rPr>
              <a:t>"1"</a:t>
            </a:r>
            <a:r>
              <a:rPr lang="pt-BR" sz="1400" b="0" dirty="0">
                <a:solidFill>
                  <a:srgbClr val="D4D4D4"/>
                </a:solidFill>
                <a:effectLst/>
                <a:latin typeface="Consolas" panose="020B0609020204030204" pitchFamily="49" charset="0"/>
              </a:rPr>
              <a:t>;</a:t>
            </a:r>
            <a:endParaRPr lang="pt-BR" sz="1400" b="0" dirty="0">
              <a:solidFill>
                <a:srgbClr val="CCCCCC"/>
              </a:solidFill>
              <a:effectLst/>
              <a:latin typeface="Consolas" panose="020B0609020204030204" pitchFamily="49" charset="0"/>
            </a:endParaRPr>
          </a:p>
          <a:p>
            <a:r>
              <a:rPr lang="pt-BR" sz="1400" b="0" dirty="0">
                <a:solidFill>
                  <a:srgbClr val="D4D4D4"/>
                </a:solidFill>
                <a:effectLst/>
                <a:latin typeface="Consolas" panose="020B0609020204030204" pitchFamily="49" charset="0"/>
              </a:rPr>
              <a:t>    </a:t>
            </a:r>
            <a:r>
              <a:rPr lang="pt-BR" sz="1400" b="0" dirty="0">
                <a:solidFill>
                  <a:srgbClr val="9CDCFE"/>
                </a:solidFill>
                <a:effectLst/>
                <a:latin typeface="Consolas" panose="020B0609020204030204" pitchFamily="49" charset="0"/>
              </a:rPr>
              <a:t>$n4</a:t>
            </a:r>
            <a:r>
              <a:rPr lang="pt-BR" sz="1400" b="0" dirty="0">
                <a:solidFill>
                  <a:srgbClr val="D4D4D4"/>
                </a:solidFill>
                <a:effectLst/>
                <a:latin typeface="Consolas" panose="020B0609020204030204" pitchFamily="49" charset="0"/>
              </a:rPr>
              <a:t>=</a:t>
            </a:r>
            <a:r>
              <a:rPr lang="pt-BR" sz="1400" b="0" dirty="0">
                <a:solidFill>
                  <a:srgbClr val="CE9178"/>
                </a:solidFill>
                <a:effectLst/>
                <a:latin typeface="Consolas" panose="020B0609020204030204" pitchFamily="49" charset="0"/>
              </a:rPr>
              <a:t>"2"</a:t>
            </a:r>
            <a:r>
              <a:rPr lang="pt-BR" sz="1400" b="0" dirty="0">
                <a:solidFill>
                  <a:srgbClr val="D4D4D4"/>
                </a:solidFill>
                <a:effectLst/>
                <a:latin typeface="Consolas" panose="020B0609020204030204" pitchFamily="49" charset="0"/>
              </a:rPr>
              <a:t>;</a:t>
            </a:r>
            <a:endParaRPr lang="pt-BR" sz="1400" b="0" dirty="0">
              <a:solidFill>
                <a:srgbClr val="CCCCCC"/>
              </a:solidFill>
              <a:effectLst/>
              <a:latin typeface="Consolas" panose="020B0609020204030204" pitchFamily="49" charset="0"/>
            </a:endParaRPr>
          </a:p>
          <a:p>
            <a:r>
              <a:rPr lang="pt-BR" sz="1400" b="0" dirty="0">
                <a:solidFill>
                  <a:srgbClr val="D4D4D4"/>
                </a:solidFill>
                <a:effectLst/>
                <a:latin typeface="Consolas" panose="020B0609020204030204" pitchFamily="49" charset="0"/>
              </a:rPr>
              <a:t>    </a:t>
            </a:r>
            <a:r>
              <a:rPr lang="pt-BR" sz="1400" b="0" dirty="0" err="1">
                <a:solidFill>
                  <a:srgbClr val="DCDCAA"/>
                </a:solidFill>
                <a:effectLst/>
                <a:latin typeface="Consolas" panose="020B0609020204030204" pitchFamily="49" charset="0"/>
              </a:rPr>
              <a:t>echo</a:t>
            </a:r>
            <a:r>
              <a:rPr lang="pt-BR" sz="1400" b="0" dirty="0">
                <a:solidFill>
                  <a:srgbClr val="D4D4D4"/>
                </a:solidFill>
                <a:effectLst/>
                <a:latin typeface="Consolas" panose="020B0609020204030204" pitchFamily="49" charset="0"/>
              </a:rPr>
              <a:t>(</a:t>
            </a:r>
            <a:r>
              <a:rPr lang="pt-BR" sz="1400" b="0" dirty="0">
                <a:solidFill>
                  <a:srgbClr val="9CDCFE"/>
                </a:solidFill>
                <a:effectLst/>
                <a:latin typeface="Consolas" panose="020B0609020204030204" pitchFamily="49" charset="0"/>
              </a:rPr>
              <a:t>$n3</a:t>
            </a:r>
            <a:r>
              <a:rPr lang="pt-BR" sz="1400" b="0" dirty="0">
                <a:solidFill>
                  <a:srgbClr val="D4D4D4"/>
                </a:solidFill>
                <a:effectLst/>
                <a:latin typeface="Consolas" panose="020B0609020204030204" pitchFamily="49" charset="0"/>
              </a:rPr>
              <a:t> . </a:t>
            </a:r>
            <a:r>
              <a:rPr lang="pt-BR" sz="1400" b="0" dirty="0">
                <a:solidFill>
                  <a:srgbClr val="9CDCFE"/>
                </a:solidFill>
                <a:effectLst/>
                <a:latin typeface="Consolas" panose="020B0609020204030204" pitchFamily="49" charset="0"/>
              </a:rPr>
              <a:t>$n4</a:t>
            </a:r>
            <a:r>
              <a:rPr lang="pt-BR" sz="1400" b="0" dirty="0">
                <a:solidFill>
                  <a:srgbClr val="D4D4D4"/>
                </a:solidFill>
                <a:effectLst/>
                <a:latin typeface="Consolas" panose="020B0609020204030204" pitchFamily="49" charset="0"/>
              </a:rPr>
              <a:t>);  </a:t>
            </a:r>
            <a:r>
              <a:rPr lang="pt-BR" sz="1400" b="0" dirty="0">
                <a:solidFill>
                  <a:srgbClr val="6A9955"/>
                </a:solidFill>
                <a:effectLst/>
                <a:latin typeface="Consolas" panose="020B0609020204030204" pitchFamily="49" charset="0"/>
              </a:rPr>
              <a:t>// Irá mostrar ‘12'</a:t>
            </a:r>
            <a:endParaRPr lang="pt-BR" sz="1400" b="0" dirty="0">
              <a:solidFill>
                <a:srgbClr val="CCCCCC"/>
              </a:solidFill>
              <a:effectLst/>
              <a:latin typeface="Consolas" panose="020B0609020204030204" pitchFamily="49" charset="0"/>
            </a:endParaRPr>
          </a:p>
          <a:p>
            <a:r>
              <a:rPr lang="pt-BR" sz="1400" b="0" dirty="0">
                <a:solidFill>
                  <a:srgbClr val="D4D4D4"/>
                </a:solidFill>
                <a:effectLst/>
                <a:latin typeface="Consolas" panose="020B0609020204030204" pitchFamily="49" charset="0"/>
              </a:rPr>
              <a:t>    </a:t>
            </a:r>
            <a:r>
              <a:rPr lang="pt-BR" sz="1400" b="0" dirty="0">
                <a:solidFill>
                  <a:srgbClr val="569CD6"/>
                </a:solidFill>
                <a:effectLst/>
                <a:latin typeface="Consolas" panose="020B0609020204030204" pitchFamily="49" charset="0"/>
              </a:rPr>
              <a:t>?&gt;</a:t>
            </a:r>
            <a:endParaRPr lang="pt-BR" sz="1400" b="0" dirty="0">
              <a:solidFill>
                <a:srgbClr val="CCCCCC"/>
              </a:solidFill>
              <a:effectLst/>
              <a:latin typeface="Consolas" panose="020B0609020204030204" pitchFamily="49" charset="0"/>
            </a:endParaRPr>
          </a:p>
        </p:txBody>
      </p:sp>
      <p:sp>
        <p:nvSpPr>
          <p:cNvPr id="14" name="CaixaDeTexto 13">
            <a:extLst>
              <a:ext uri="{FF2B5EF4-FFF2-40B4-BE49-F238E27FC236}">
                <a16:creationId xmlns:a16="http://schemas.microsoft.com/office/drawing/2014/main" id="{A25AFBF4-D309-76A9-608D-F86CEDE46005}"/>
              </a:ext>
            </a:extLst>
          </p:cNvPr>
          <p:cNvSpPr txBox="1"/>
          <p:nvPr/>
        </p:nvSpPr>
        <p:spPr>
          <a:xfrm>
            <a:off x="5585669" y="6265774"/>
            <a:ext cx="6089553" cy="369332"/>
          </a:xfrm>
          <a:prstGeom prst="rect">
            <a:avLst/>
          </a:prstGeom>
          <a:noFill/>
        </p:spPr>
        <p:txBody>
          <a:bodyPr wrap="square" rtlCol="0">
            <a:spAutoFit/>
          </a:bodyPr>
          <a:lstStyle/>
          <a:p>
            <a:r>
              <a:rPr lang="pt-BR" dirty="0"/>
              <a:t>Para concatenar </a:t>
            </a:r>
            <a:r>
              <a:rPr lang="pt-BR" dirty="0" err="1"/>
              <a:t>Strings</a:t>
            </a:r>
            <a:r>
              <a:rPr lang="pt-BR" dirty="0"/>
              <a:t>, usamos o ponto “.”</a:t>
            </a:r>
          </a:p>
        </p:txBody>
      </p:sp>
    </p:spTree>
    <p:extLst>
      <p:ext uri="{BB962C8B-B14F-4D97-AF65-F5344CB8AC3E}">
        <p14:creationId xmlns:p14="http://schemas.microsoft.com/office/powerpoint/2010/main" val="3264045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830FAFBB-4134-5951-5E3A-9D1E96653073}"/>
              </a:ext>
            </a:extLst>
          </p:cNvPr>
          <p:cNvSpPr txBox="1"/>
          <p:nvPr/>
        </p:nvSpPr>
        <p:spPr>
          <a:xfrm>
            <a:off x="525710" y="83890"/>
            <a:ext cx="11140580" cy="5693866"/>
          </a:xfrm>
          <a:prstGeom prst="rect">
            <a:avLst/>
          </a:prstGeom>
          <a:solidFill>
            <a:schemeClr val="tx1"/>
          </a:solidFill>
        </p:spPr>
        <p:txBody>
          <a:bodyPr wrap="square">
            <a:spAutoFit/>
          </a:bodyPr>
          <a:lstStyle/>
          <a:p>
            <a:r>
              <a:rPr lang="pt-BR" sz="1600" b="0" dirty="0">
                <a:solidFill>
                  <a:srgbClr val="6A9955"/>
                </a:solidFill>
                <a:effectLst/>
                <a:latin typeface="Consolas" panose="020B0609020204030204" pitchFamily="49" charset="0"/>
              </a:rPr>
              <a:t>&lt;!-- aula1.php --&gt;</a:t>
            </a:r>
            <a:endParaRPr lang="pt-BR" sz="1600" b="0" dirty="0">
              <a:solidFill>
                <a:srgbClr val="CCCCCC"/>
              </a:solidFill>
              <a:effectLst/>
              <a:latin typeface="Consolas" panose="020B0609020204030204" pitchFamily="49" charset="0"/>
            </a:endParaRPr>
          </a:p>
          <a:p>
            <a:r>
              <a:rPr lang="pt-BR" sz="1600" b="0" dirty="0">
                <a:solidFill>
                  <a:srgbClr val="808080"/>
                </a:solidFill>
                <a:effectLst/>
                <a:latin typeface="Consolas" panose="020B0609020204030204" pitchFamily="49" charset="0"/>
              </a:rPr>
              <a:t>&lt;</a:t>
            </a:r>
            <a:r>
              <a:rPr lang="pt-BR" sz="1600" b="0" dirty="0" err="1">
                <a:solidFill>
                  <a:srgbClr val="569CD6"/>
                </a:solidFill>
                <a:effectLst/>
                <a:latin typeface="Consolas" panose="020B0609020204030204" pitchFamily="49" charset="0"/>
              </a:rPr>
              <a:t>html</a:t>
            </a:r>
            <a:r>
              <a:rPr lang="pt-BR" sz="1600" b="0" dirty="0">
                <a:solidFill>
                  <a:srgbClr val="808080"/>
                </a:solidFill>
                <a:effectLst/>
                <a:latin typeface="Consolas" panose="020B0609020204030204" pitchFamily="49" charset="0"/>
              </a:rPr>
              <a:t>&gt;</a:t>
            </a:r>
            <a:endParaRPr lang="pt-BR" sz="1600" b="0" dirty="0">
              <a:solidFill>
                <a:srgbClr val="CCCCCC"/>
              </a:solidFill>
              <a:effectLst/>
              <a:latin typeface="Consolas" panose="020B0609020204030204" pitchFamily="49" charset="0"/>
            </a:endParaRPr>
          </a:p>
          <a:p>
            <a:r>
              <a:rPr lang="pt-BR" sz="1600" b="0" dirty="0">
                <a:solidFill>
                  <a:srgbClr val="808080"/>
                </a:solidFill>
                <a:effectLst/>
                <a:latin typeface="Consolas" panose="020B0609020204030204" pitchFamily="49" charset="0"/>
              </a:rPr>
              <a:t>&lt;</a:t>
            </a:r>
            <a:r>
              <a:rPr lang="pt-BR" sz="1600" b="0" dirty="0">
                <a:solidFill>
                  <a:srgbClr val="569CD6"/>
                </a:solidFill>
                <a:effectLst/>
                <a:latin typeface="Consolas" panose="020B0609020204030204" pitchFamily="49" charset="0"/>
              </a:rPr>
              <a:t>header</a:t>
            </a:r>
            <a:r>
              <a:rPr lang="pt-BR" sz="1600" b="0" dirty="0">
                <a:solidFill>
                  <a:srgbClr val="808080"/>
                </a:solidFill>
                <a:effectLst/>
                <a:latin typeface="Consolas" panose="020B0609020204030204" pitchFamily="49" charset="0"/>
              </a:rPr>
              <a:t>&gt;</a:t>
            </a:r>
            <a:endParaRPr lang="pt-BR" sz="1600" b="0" dirty="0">
              <a:solidFill>
                <a:srgbClr val="CCCCCC"/>
              </a:solidFill>
              <a:effectLst/>
              <a:latin typeface="Consolas" panose="020B0609020204030204" pitchFamily="49" charset="0"/>
            </a:endParaRPr>
          </a:p>
          <a:p>
            <a:r>
              <a:rPr lang="pt-BR" sz="1600" b="0" dirty="0">
                <a:solidFill>
                  <a:srgbClr val="CCCCCC"/>
                </a:solidFill>
                <a:effectLst/>
                <a:latin typeface="Consolas" panose="020B0609020204030204" pitchFamily="49" charset="0"/>
              </a:rPr>
              <a:t>    </a:t>
            </a:r>
            <a:r>
              <a:rPr lang="pt-BR" sz="1600" b="0" dirty="0">
                <a:solidFill>
                  <a:srgbClr val="808080"/>
                </a:solidFill>
                <a:effectLst/>
                <a:latin typeface="Consolas" panose="020B0609020204030204" pitchFamily="49" charset="0"/>
              </a:rPr>
              <a:t>&lt;</a:t>
            </a:r>
            <a:r>
              <a:rPr lang="pt-BR" sz="1600" b="0" dirty="0" err="1">
                <a:solidFill>
                  <a:srgbClr val="569CD6"/>
                </a:solidFill>
                <a:effectLst/>
                <a:latin typeface="Consolas" panose="020B0609020204030204" pitchFamily="49" charset="0"/>
              </a:rPr>
              <a:t>title</a:t>
            </a:r>
            <a:r>
              <a:rPr lang="pt-BR" sz="1600" b="0" dirty="0">
                <a:solidFill>
                  <a:srgbClr val="808080"/>
                </a:solidFill>
                <a:effectLst/>
                <a:latin typeface="Consolas" panose="020B0609020204030204" pitchFamily="49" charset="0"/>
              </a:rPr>
              <a:t>&gt;</a:t>
            </a:r>
            <a:r>
              <a:rPr lang="pt-BR" sz="1600" b="0" dirty="0">
                <a:solidFill>
                  <a:srgbClr val="CCCCCC"/>
                </a:solidFill>
                <a:effectLst/>
                <a:latin typeface="Consolas" panose="020B0609020204030204" pitchFamily="49" charset="0"/>
              </a:rPr>
              <a:t>Meu primeiro programa</a:t>
            </a:r>
            <a:r>
              <a:rPr lang="pt-BR" sz="1600" b="0" dirty="0">
                <a:solidFill>
                  <a:srgbClr val="808080"/>
                </a:solidFill>
                <a:effectLst/>
                <a:latin typeface="Consolas" panose="020B0609020204030204" pitchFamily="49" charset="0"/>
              </a:rPr>
              <a:t>&lt;/</a:t>
            </a:r>
            <a:r>
              <a:rPr lang="pt-BR" sz="1600" b="0" dirty="0" err="1">
                <a:solidFill>
                  <a:srgbClr val="569CD6"/>
                </a:solidFill>
                <a:effectLst/>
                <a:latin typeface="Consolas" panose="020B0609020204030204" pitchFamily="49" charset="0"/>
              </a:rPr>
              <a:t>title</a:t>
            </a:r>
            <a:r>
              <a:rPr lang="pt-BR" sz="1600" b="0" dirty="0">
                <a:solidFill>
                  <a:srgbClr val="808080"/>
                </a:solidFill>
                <a:effectLst/>
                <a:latin typeface="Consolas" panose="020B0609020204030204" pitchFamily="49" charset="0"/>
              </a:rPr>
              <a:t>&gt;</a:t>
            </a:r>
            <a:endParaRPr lang="pt-BR" sz="1600" b="0" dirty="0">
              <a:solidFill>
                <a:srgbClr val="CCCCCC"/>
              </a:solidFill>
              <a:effectLst/>
              <a:latin typeface="Consolas" panose="020B0609020204030204" pitchFamily="49" charset="0"/>
            </a:endParaRPr>
          </a:p>
          <a:p>
            <a:r>
              <a:rPr lang="pt-BR" sz="1600" b="0" dirty="0">
                <a:solidFill>
                  <a:srgbClr val="808080"/>
                </a:solidFill>
                <a:effectLst/>
                <a:latin typeface="Consolas" panose="020B0609020204030204" pitchFamily="49" charset="0"/>
              </a:rPr>
              <a:t>&lt;/</a:t>
            </a:r>
            <a:r>
              <a:rPr lang="pt-BR" sz="1600" b="0" dirty="0">
                <a:solidFill>
                  <a:srgbClr val="569CD6"/>
                </a:solidFill>
                <a:effectLst/>
                <a:latin typeface="Consolas" panose="020B0609020204030204" pitchFamily="49" charset="0"/>
              </a:rPr>
              <a:t>header</a:t>
            </a:r>
            <a:r>
              <a:rPr lang="pt-BR" sz="1600" b="0" dirty="0">
                <a:solidFill>
                  <a:srgbClr val="808080"/>
                </a:solidFill>
                <a:effectLst/>
                <a:latin typeface="Consolas" panose="020B0609020204030204" pitchFamily="49" charset="0"/>
              </a:rPr>
              <a:t>&gt;</a:t>
            </a:r>
            <a:endParaRPr lang="pt-BR" sz="1600" b="0" dirty="0">
              <a:solidFill>
                <a:srgbClr val="CCCCCC"/>
              </a:solidFill>
              <a:effectLst/>
              <a:latin typeface="Consolas" panose="020B0609020204030204" pitchFamily="49" charset="0"/>
            </a:endParaRPr>
          </a:p>
          <a:p>
            <a:r>
              <a:rPr lang="pt-BR" sz="1600" b="0" dirty="0">
                <a:solidFill>
                  <a:srgbClr val="808080"/>
                </a:solidFill>
                <a:effectLst/>
                <a:latin typeface="Consolas" panose="020B0609020204030204" pitchFamily="49" charset="0"/>
              </a:rPr>
              <a:t>&lt;</a:t>
            </a:r>
            <a:r>
              <a:rPr lang="pt-BR" sz="1600" b="0" dirty="0">
                <a:solidFill>
                  <a:srgbClr val="569CD6"/>
                </a:solidFill>
                <a:effectLst/>
                <a:latin typeface="Consolas" panose="020B0609020204030204" pitchFamily="49" charset="0"/>
              </a:rPr>
              <a:t>body</a:t>
            </a:r>
            <a:r>
              <a:rPr lang="pt-BR" sz="1600" b="0" dirty="0">
                <a:solidFill>
                  <a:srgbClr val="808080"/>
                </a:solidFill>
                <a:effectLst/>
                <a:latin typeface="Consolas" panose="020B0609020204030204" pitchFamily="49" charset="0"/>
              </a:rPr>
              <a:t>&gt;</a:t>
            </a:r>
            <a:endParaRPr lang="pt-BR" sz="1600" b="0" dirty="0">
              <a:solidFill>
                <a:srgbClr val="CCCCCC"/>
              </a:solidFill>
              <a:effectLst/>
              <a:latin typeface="Consolas" panose="020B0609020204030204" pitchFamily="49" charset="0"/>
            </a:endParaRPr>
          </a:p>
          <a:p>
            <a:r>
              <a:rPr lang="pt-BR" sz="1600" b="0" dirty="0">
                <a:solidFill>
                  <a:srgbClr val="CCCCCC"/>
                </a:solidFill>
                <a:effectLst/>
                <a:latin typeface="Consolas" panose="020B0609020204030204" pitchFamily="49" charset="0"/>
              </a:rPr>
              <a:t>    </a:t>
            </a:r>
            <a:r>
              <a:rPr lang="pt-BR" sz="1600" b="0" dirty="0">
                <a:solidFill>
                  <a:srgbClr val="569CD6"/>
                </a:solidFill>
                <a:effectLst/>
                <a:latin typeface="Consolas" panose="020B0609020204030204" pitchFamily="49" charset="0"/>
              </a:rPr>
              <a:t>&lt;?</a:t>
            </a:r>
            <a:r>
              <a:rPr lang="pt-BR" sz="1600" b="0" dirty="0" err="1">
                <a:solidFill>
                  <a:srgbClr val="569CD6"/>
                </a:solidFill>
                <a:effectLst/>
                <a:latin typeface="Consolas" panose="020B0609020204030204" pitchFamily="49" charset="0"/>
              </a:rPr>
              <a:t>php</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err="1">
                <a:solidFill>
                  <a:srgbClr val="DCDCAA"/>
                </a:solidFill>
                <a:effectLst/>
                <a:latin typeface="Consolas" panose="020B0609020204030204" pitchFamily="49" charset="0"/>
              </a:rPr>
              <a:t>echo</a:t>
            </a:r>
            <a:r>
              <a:rPr lang="pt-BR" sz="1600" b="0" dirty="0">
                <a:solidFill>
                  <a:srgbClr val="D4D4D4"/>
                </a:solidFill>
                <a:effectLst/>
                <a:latin typeface="Consolas" panose="020B0609020204030204" pitchFamily="49" charset="0"/>
              </a:rPr>
              <a:t>(</a:t>
            </a:r>
            <a:r>
              <a:rPr lang="pt-BR" sz="1600" b="0" dirty="0">
                <a:solidFill>
                  <a:srgbClr val="CE9178"/>
                </a:solidFill>
                <a:effectLst/>
                <a:latin typeface="Consolas" panose="020B0609020204030204" pitchFamily="49" charset="0"/>
              </a:rPr>
              <a:t>"&lt;h1&gt;Esse é o meu primeiro programa em PHP&lt;/h1&gt;&lt;</a:t>
            </a:r>
            <a:r>
              <a:rPr lang="pt-BR" sz="1600" b="0" dirty="0" err="1">
                <a:solidFill>
                  <a:srgbClr val="CE9178"/>
                </a:solidFill>
                <a:effectLst/>
                <a:latin typeface="Consolas" panose="020B0609020204030204" pitchFamily="49" charset="0"/>
              </a:rPr>
              <a:t>br</a:t>
            </a:r>
            <a:r>
              <a:rPr lang="pt-BR" sz="1600" b="0" dirty="0">
                <a:solidFill>
                  <a:srgbClr val="CE9178"/>
                </a:solidFill>
                <a:effectLst/>
                <a:latin typeface="Consolas" panose="020B0609020204030204" pitchFamily="49" charset="0"/>
              </a:rPr>
              <a:t>/&gt;"</a:t>
            </a:r>
            <a:r>
              <a:rPr lang="pt-BR" sz="1600" b="0" dirty="0">
                <a:solidFill>
                  <a:srgbClr val="D4D4D4"/>
                </a:solidFill>
                <a:effectLst/>
                <a:latin typeface="Consolas" panose="020B0609020204030204" pitchFamily="49" charset="0"/>
              </a:rPr>
              <a:t>);</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a:solidFill>
                  <a:srgbClr val="9CDCFE"/>
                </a:solidFill>
                <a:effectLst/>
                <a:latin typeface="Consolas" panose="020B0609020204030204" pitchFamily="49" charset="0"/>
              </a:rPr>
              <a:t>$n1</a:t>
            </a:r>
            <a:r>
              <a:rPr lang="pt-BR" sz="1600" b="0" dirty="0">
                <a:solidFill>
                  <a:srgbClr val="D4D4D4"/>
                </a:solidFill>
                <a:effectLst/>
                <a:latin typeface="Consolas" panose="020B0609020204030204" pitchFamily="49" charset="0"/>
              </a:rPr>
              <a:t>=</a:t>
            </a:r>
            <a:r>
              <a:rPr lang="pt-BR" sz="1600" b="0" dirty="0">
                <a:solidFill>
                  <a:srgbClr val="B5CEA8"/>
                </a:solidFill>
                <a:effectLst/>
                <a:latin typeface="Consolas" panose="020B0609020204030204" pitchFamily="49" charset="0"/>
              </a:rPr>
              <a:t>1</a:t>
            </a:r>
            <a:r>
              <a:rPr lang="pt-BR" sz="1600" b="0" dirty="0">
                <a:solidFill>
                  <a:srgbClr val="D4D4D4"/>
                </a:solidFill>
                <a:effectLst/>
                <a:latin typeface="Consolas" panose="020B0609020204030204" pitchFamily="49" charset="0"/>
              </a:rPr>
              <a:t>;</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a:solidFill>
                  <a:srgbClr val="9CDCFE"/>
                </a:solidFill>
                <a:effectLst/>
                <a:latin typeface="Consolas" panose="020B0609020204030204" pitchFamily="49" charset="0"/>
              </a:rPr>
              <a:t>$n2</a:t>
            </a:r>
            <a:r>
              <a:rPr lang="pt-BR" sz="1600" b="0" dirty="0">
                <a:solidFill>
                  <a:srgbClr val="D4D4D4"/>
                </a:solidFill>
                <a:effectLst/>
                <a:latin typeface="Consolas" panose="020B0609020204030204" pitchFamily="49" charset="0"/>
              </a:rPr>
              <a:t>=</a:t>
            </a:r>
            <a:r>
              <a:rPr lang="pt-BR" sz="1600" b="0" dirty="0">
                <a:solidFill>
                  <a:srgbClr val="B5CEA8"/>
                </a:solidFill>
                <a:effectLst/>
                <a:latin typeface="Consolas" panose="020B0609020204030204" pitchFamily="49" charset="0"/>
              </a:rPr>
              <a:t>2</a:t>
            </a:r>
            <a:r>
              <a:rPr lang="pt-BR" sz="1600" b="0" dirty="0">
                <a:solidFill>
                  <a:srgbClr val="D4D4D4"/>
                </a:solidFill>
                <a:effectLst/>
                <a:latin typeface="Consolas" panose="020B0609020204030204" pitchFamily="49" charset="0"/>
              </a:rPr>
              <a:t>;</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err="1">
                <a:solidFill>
                  <a:srgbClr val="DCDCAA"/>
                </a:solidFill>
                <a:effectLst/>
                <a:latin typeface="Consolas" panose="020B0609020204030204" pitchFamily="49" charset="0"/>
              </a:rPr>
              <a:t>echo</a:t>
            </a:r>
            <a:r>
              <a:rPr lang="pt-BR" sz="1600" b="0" dirty="0">
                <a:solidFill>
                  <a:srgbClr val="D4D4D4"/>
                </a:solidFill>
                <a:effectLst/>
                <a:latin typeface="Consolas" panose="020B0609020204030204" pitchFamily="49" charset="0"/>
              </a:rPr>
              <a:t>(</a:t>
            </a:r>
            <a:r>
              <a:rPr lang="pt-BR" sz="1600" b="0" dirty="0">
                <a:solidFill>
                  <a:srgbClr val="CE9178"/>
                </a:solidFill>
                <a:effectLst/>
                <a:latin typeface="Consolas" panose="020B0609020204030204" pitchFamily="49" charset="0"/>
              </a:rPr>
              <a:t>"O resultado é: "</a:t>
            </a:r>
            <a:r>
              <a:rPr lang="pt-BR" sz="1600" b="0" dirty="0">
                <a:solidFill>
                  <a:srgbClr val="D4D4D4"/>
                </a:solidFill>
                <a:effectLst/>
                <a:latin typeface="Consolas" panose="020B0609020204030204" pitchFamily="49" charset="0"/>
              </a:rPr>
              <a:t>. </a:t>
            </a:r>
            <a:r>
              <a:rPr lang="pt-BR" sz="1600" b="0" dirty="0">
                <a:solidFill>
                  <a:srgbClr val="9CDCFE"/>
                </a:solidFill>
                <a:effectLst/>
                <a:latin typeface="Consolas" panose="020B0609020204030204" pitchFamily="49" charset="0"/>
              </a:rPr>
              <a:t>$n1</a:t>
            </a:r>
            <a:r>
              <a:rPr lang="pt-BR" sz="1600" b="0" dirty="0">
                <a:solidFill>
                  <a:srgbClr val="D4D4D4"/>
                </a:solidFill>
                <a:effectLst/>
                <a:latin typeface="Consolas" panose="020B0609020204030204" pitchFamily="49" charset="0"/>
              </a:rPr>
              <a:t>+</a:t>
            </a:r>
            <a:r>
              <a:rPr lang="pt-BR" sz="1600" b="0" dirty="0">
                <a:solidFill>
                  <a:srgbClr val="9CDCFE"/>
                </a:solidFill>
                <a:effectLst/>
                <a:latin typeface="Consolas" panose="020B0609020204030204" pitchFamily="49" charset="0"/>
              </a:rPr>
              <a:t>$n2</a:t>
            </a:r>
            <a:r>
              <a:rPr lang="pt-BR" sz="1600" b="0" dirty="0">
                <a:solidFill>
                  <a:srgbClr val="D4D4D4"/>
                </a:solidFill>
                <a:effectLst/>
                <a:latin typeface="Consolas" panose="020B0609020204030204" pitchFamily="49" charset="0"/>
              </a:rPr>
              <a:t>); </a:t>
            </a:r>
            <a:r>
              <a:rPr lang="pt-BR" sz="1600" b="0" dirty="0">
                <a:solidFill>
                  <a:srgbClr val="6A9955"/>
                </a:solidFill>
                <a:effectLst/>
                <a:latin typeface="Consolas" panose="020B0609020204030204" pitchFamily="49" charset="0"/>
              </a:rPr>
              <a:t>// Irá mostrar 3</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err="1">
                <a:solidFill>
                  <a:srgbClr val="DCDCAA"/>
                </a:solidFill>
                <a:effectLst/>
                <a:latin typeface="Consolas" panose="020B0609020204030204" pitchFamily="49" charset="0"/>
              </a:rPr>
              <a:t>echo</a:t>
            </a:r>
            <a:r>
              <a:rPr lang="pt-BR" sz="1600" b="0" dirty="0">
                <a:solidFill>
                  <a:srgbClr val="D4D4D4"/>
                </a:solidFill>
                <a:effectLst/>
                <a:latin typeface="Consolas" panose="020B0609020204030204" pitchFamily="49" charset="0"/>
              </a:rPr>
              <a:t>(</a:t>
            </a:r>
            <a:r>
              <a:rPr lang="pt-BR" sz="1600" b="0" dirty="0">
                <a:solidFill>
                  <a:srgbClr val="CE9178"/>
                </a:solidFill>
                <a:effectLst/>
                <a:latin typeface="Consolas" panose="020B0609020204030204" pitchFamily="49" charset="0"/>
              </a:rPr>
              <a:t>"&lt;</a:t>
            </a:r>
            <a:r>
              <a:rPr lang="pt-BR" sz="1600" b="0" dirty="0" err="1">
                <a:solidFill>
                  <a:srgbClr val="CE9178"/>
                </a:solidFill>
                <a:effectLst/>
                <a:latin typeface="Consolas" panose="020B0609020204030204" pitchFamily="49" charset="0"/>
              </a:rPr>
              <a:t>br</a:t>
            </a:r>
            <a:r>
              <a:rPr lang="pt-BR" sz="1600" b="0" dirty="0">
                <a:solidFill>
                  <a:srgbClr val="CE9178"/>
                </a:solidFill>
                <a:effectLst/>
                <a:latin typeface="Consolas" panose="020B0609020204030204" pitchFamily="49" charset="0"/>
              </a:rPr>
              <a:t>/&gt;"</a:t>
            </a:r>
            <a:r>
              <a:rPr lang="pt-BR" sz="1600" b="0" dirty="0">
                <a:solidFill>
                  <a:srgbClr val="D4D4D4"/>
                </a:solidFill>
                <a:effectLst/>
                <a:latin typeface="Consolas" panose="020B0609020204030204" pitchFamily="49" charset="0"/>
              </a:rPr>
              <a:t>);</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a:solidFill>
                  <a:srgbClr val="9CDCFE"/>
                </a:solidFill>
                <a:effectLst/>
                <a:latin typeface="Consolas" panose="020B0609020204030204" pitchFamily="49" charset="0"/>
              </a:rPr>
              <a:t>$n3</a:t>
            </a:r>
            <a:r>
              <a:rPr lang="pt-BR" sz="1600" b="0" dirty="0">
                <a:solidFill>
                  <a:srgbClr val="D4D4D4"/>
                </a:solidFill>
                <a:effectLst/>
                <a:latin typeface="Consolas" panose="020B0609020204030204" pitchFamily="49" charset="0"/>
              </a:rPr>
              <a:t>=</a:t>
            </a:r>
            <a:r>
              <a:rPr lang="pt-BR" sz="1600" b="0" dirty="0">
                <a:solidFill>
                  <a:srgbClr val="CE9178"/>
                </a:solidFill>
                <a:effectLst/>
                <a:latin typeface="Consolas" panose="020B0609020204030204" pitchFamily="49" charset="0"/>
              </a:rPr>
              <a:t>"1"</a:t>
            </a:r>
            <a:r>
              <a:rPr lang="pt-BR" sz="1600" b="0" dirty="0">
                <a:solidFill>
                  <a:srgbClr val="D4D4D4"/>
                </a:solidFill>
                <a:effectLst/>
                <a:latin typeface="Consolas" panose="020B0609020204030204" pitchFamily="49" charset="0"/>
              </a:rPr>
              <a:t>;</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a:solidFill>
                  <a:srgbClr val="9CDCFE"/>
                </a:solidFill>
                <a:effectLst/>
                <a:latin typeface="Consolas" panose="020B0609020204030204" pitchFamily="49" charset="0"/>
              </a:rPr>
              <a:t>$n4</a:t>
            </a:r>
            <a:r>
              <a:rPr lang="pt-BR" sz="1600" b="0" dirty="0">
                <a:solidFill>
                  <a:srgbClr val="D4D4D4"/>
                </a:solidFill>
                <a:effectLst/>
                <a:latin typeface="Consolas" panose="020B0609020204030204" pitchFamily="49" charset="0"/>
              </a:rPr>
              <a:t>=</a:t>
            </a:r>
            <a:r>
              <a:rPr lang="pt-BR" sz="1600" b="0" dirty="0">
                <a:solidFill>
                  <a:srgbClr val="CE9178"/>
                </a:solidFill>
                <a:effectLst/>
                <a:latin typeface="Consolas" panose="020B0609020204030204" pitchFamily="49" charset="0"/>
              </a:rPr>
              <a:t>"2"</a:t>
            </a:r>
            <a:r>
              <a:rPr lang="pt-BR" sz="1600" b="0" dirty="0">
                <a:solidFill>
                  <a:srgbClr val="D4D4D4"/>
                </a:solidFill>
                <a:effectLst/>
                <a:latin typeface="Consolas" panose="020B0609020204030204" pitchFamily="49" charset="0"/>
              </a:rPr>
              <a:t>;</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err="1">
                <a:solidFill>
                  <a:srgbClr val="DCDCAA"/>
                </a:solidFill>
                <a:effectLst/>
                <a:latin typeface="Consolas" panose="020B0609020204030204" pitchFamily="49" charset="0"/>
              </a:rPr>
              <a:t>echo</a:t>
            </a:r>
            <a:r>
              <a:rPr lang="pt-BR" sz="1600" b="0" dirty="0">
                <a:solidFill>
                  <a:srgbClr val="D4D4D4"/>
                </a:solidFill>
                <a:effectLst/>
                <a:latin typeface="Consolas" panose="020B0609020204030204" pitchFamily="49" charset="0"/>
              </a:rPr>
              <a:t>(</a:t>
            </a:r>
            <a:r>
              <a:rPr lang="pt-BR" sz="1600" b="0" dirty="0">
                <a:solidFill>
                  <a:srgbClr val="CE9178"/>
                </a:solidFill>
                <a:effectLst/>
                <a:latin typeface="Consolas" panose="020B0609020204030204" pitchFamily="49" charset="0"/>
              </a:rPr>
              <a:t>"O resultado é: "</a:t>
            </a:r>
            <a:r>
              <a:rPr lang="pt-BR" sz="1600" b="0" dirty="0">
                <a:solidFill>
                  <a:srgbClr val="D4D4D4"/>
                </a:solidFill>
                <a:effectLst/>
                <a:latin typeface="Consolas" panose="020B0609020204030204" pitchFamily="49" charset="0"/>
              </a:rPr>
              <a:t>. </a:t>
            </a:r>
            <a:r>
              <a:rPr lang="pt-BR" sz="1600" b="0" dirty="0">
                <a:solidFill>
                  <a:srgbClr val="9CDCFE"/>
                </a:solidFill>
                <a:effectLst/>
                <a:latin typeface="Consolas" panose="020B0609020204030204" pitchFamily="49" charset="0"/>
              </a:rPr>
              <a:t>$n3</a:t>
            </a:r>
            <a:r>
              <a:rPr lang="pt-BR" sz="1600" b="0" dirty="0">
                <a:solidFill>
                  <a:srgbClr val="D4D4D4"/>
                </a:solidFill>
                <a:effectLst/>
                <a:latin typeface="Consolas" panose="020B0609020204030204" pitchFamily="49" charset="0"/>
              </a:rPr>
              <a:t> . </a:t>
            </a:r>
            <a:r>
              <a:rPr lang="pt-BR" sz="1600" b="0" dirty="0">
                <a:solidFill>
                  <a:srgbClr val="9CDCFE"/>
                </a:solidFill>
                <a:effectLst/>
                <a:latin typeface="Consolas" panose="020B0609020204030204" pitchFamily="49" charset="0"/>
              </a:rPr>
              <a:t>$n4</a:t>
            </a:r>
            <a:r>
              <a:rPr lang="pt-BR" sz="1600" b="0" dirty="0">
                <a:solidFill>
                  <a:srgbClr val="D4D4D4"/>
                </a:solidFill>
                <a:effectLst/>
                <a:latin typeface="Consolas" panose="020B0609020204030204" pitchFamily="49" charset="0"/>
              </a:rPr>
              <a:t>);  </a:t>
            </a:r>
            <a:r>
              <a:rPr lang="pt-BR" sz="1600" b="0" dirty="0">
                <a:solidFill>
                  <a:srgbClr val="6A9955"/>
                </a:solidFill>
                <a:effectLst/>
                <a:latin typeface="Consolas" panose="020B0609020204030204" pitchFamily="49" charset="0"/>
              </a:rPr>
              <a:t>// Concatenando </a:t>
            </a:r>
            <a:r>
              <a:rPr lang="pt-BR" sz="1600" b="0" dirty="0" err="1">
                <a:solidFill>
                  <a:srgbClr val="6A9955"/>
                </a:solidFill>
                <a:effectLst/>
                <a:latin typeface="Consolas" panose="020B0609020204030204" pitchFamily="49" charset="0"/>
              </a:rPr>
              <a:t>string</a:t>
            </a:r>
            <a:r>
              <a:rPr lang="pt-BR" sz="1600" b="0" dirty="0">
                <a:solidFill>
                  <a:srgbClr val="6A9955"/>
                </a:solidFill>
                <a:effectLst/>
                <a:latin typeface="Consolas" panose="020B0609020204030204" pitchFamily="49" charset="0"/>
              </a:rPr>
              <a:t> - Irá mostrar '12'</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err="1">
                <a:solidFill>
                  <a:srgbClr val="DCDCAA"/>
                </a:solidFill>
                <a:effectLst/>
                <a:latin typeface="Consolas" panose="020B0609020204030204" pitchFamily="49" charset="0"/>
              </a:rPr>
              <a:t>echo</a:t>
            </a:r>
            <a:r>
              <a:rPr lang="pt-BR" sz="1600" b="0" dirty="0">
                <a:solidFill>
                  <a:srgbClr val="D4D4D4"/>
                </a:solidFill>
                <a:effectLst/>
                <a:latin typeface="Consolas" panose="020B0609020204030204" pitchFamily="49" charset="0"/>
              </a:rPr>
              <a:t>(</a:t>
            </a:r>
            <a:r>
              <a:rPr lang="pt-BR" sz="1600" b="0" dirty="0">
                <a:solidFill>
                  <a:srgbClr val="CE9178"/>
                </a:solidFill>
                <a:effectLst/>
                <a:latin typeface="Consolas" panose="020B0609020204030204" pitchFamily="49" charset="0"/>
              </a:rPr>
              <a:t>"&lt;</a:t>
            </a:r>
            <a:r>
              <a:rPr lang="pt-BR" sz="1600" b="0" dirty="0" err="1">
                <a:solidFill>
                  <a:srgbClr val="CE9178"/>
                </a:solidFill>
                <a:effectLst/>
                <a:latin typeface="Consolas" panose="020B0609020204030204" pitchFamily="49" charset="0"/>
              </a:rPr>
              <a:t>br</a:t>
            </a:r>
            <a:r>
              <a:rPr lang="pt-BR" sz="1600" b="0" dirty="0">
                <a:solidFill>
                  <a:srgbClr val="CE9178"/>
                </a:solidFill>
                <a:effectLst/>
                <a:latin typeface="Consolas" panose="020B0609020204030204" pitchFamily="49" charset="0"/>
              </a:rPr>
              <a:t>/&gt;"</a:t>
            </a:r>
            <a:r>
              <a:rPr lang="pt-BR" sz="1600" b="0" dirty="0">
                <a:solidFill>
                  <a:srgbClr val="D4D4D4"/>
                </a:solidFill>
                <a:effectLst/>
                <a:latin typeface="Consolas" panose="020B0609020204030204" pitchFamily="49" charset="0"/>
              </a:rPr>
              <a:t>);</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a:solidFill>
                  <a:srgbClr val="9CDCFE"/>
                </a:solidFill>
                <a:effectLst/>
                <a:latin typeface="Consolas" panose="020B0609020204030204" pitchFamily="49" charset="0"/>
              </a:rPr>
              <a:t>$nome</a:t>
            </a:r>
            <a:r>
              <a:rPr lang="pt-BR" sz="1600" b="0" dirty="0">
                <a:solidFill>
                  <a:srgbClr val="D4D4D4"/>
                </a:solidFill>
                <a:effectLst/>
                <a:latin typeface="Consolas" panose="020B0609020204030204" pitchFamily="49" charset="0"/>
              </a:rPr>
              <a:t>=</a:t>
            </a:r>
            <a:r>
              <a:rPr lang="pt-BR" sz="1600" b="0" dirty="0">
                <a:solidFill>
                  <a:srgbClr val="CE9178"/>
                </a:solidFill>
                <a:effectLst/>
                <a:latin typeface="Consolas" panose="020B0609020204030204" pitchFamily="49" charset="0"/>
              </a:rPr>
              <a:t>"José"</a:t>
            </a:r>
            <a:r>
              <a:rPr lang="pt-BR" sz="1600" b="0" dirty="0">
                <a:solidFill>
                  <a:srgbClr val="D4D4D4"/>
                </a:solidFill>
                <a:effectLst/>
                <a:latin typeface="Consolas" panose="020B0609020204030204" pitchFamily="49" charset="0"/>
              </a:rPr>
              <a:t>;</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a:solidFill>
                  <a:srgbClr val="9CDCFE"/>
                </a:solidFill>
                <a:effectLst/>
                <a:latin typeface="Consolas" panose="020B0609020204030204" pitchFamily="49" charset="0"/>
              </a:rPr>
              <a:t>$sobrenome</a:t>
            </a:r>
            <a:r>
              <a:rPr lang="pt-BR" sz="1600" b="0" dirty="0">
                <a:solidFill>
                  <a:srgbClr val="D4D4D4"/>
                </a:solidFill>
                <a:effectLst/>
                <a:latin typeface="Consolas" panose="020B0609020204030204" pitchFamily="49" charset="0"/>
              </a:rPr>
              <a:t>=</a:t>
            </a:r>
            <a:r>
              <a:rPr lang="pt-BR" sz="1600" b="0" dirty="0">
                <a:solidFill>
                  <a:srgbClr val="CE9178"/>
                </a:solidFill>
                <a:effectLst/>
                <a:latin typeface="Consolas" panose="020B0609020204030204" pitchFamily="49" charset="0"/>
              </a:rPr>
              <a:t>"Manoel"</a:t>
            </a:r>
            <a:r>
              <a:rPr lang="pt-BR" sz="1600" b="0" dirty="0">
                <a:solidFill>
                  <a:srgbClr val="D4D4D4"/>
                </a:solidFill>
                <a:effectLst/>
                <a:latin typeface="Consolas" panose="020B0609020204030204" pitchFamily="49" charset="0"/>
              </a:rPr>
              <a:t>;</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err="1">
                <a:solidFill>
                  <a:srgbClr val="DCDCAA"/>
                </a:solidFill>
                <a:effectLst/>
                <a:latin typeface="Consolas" panose="020B0609020204030204" pitchFamily="49" charset="0"/>
              </a:rPr>
              <a:t>echo</a:t>
            </a:r>
            <a:r>
              <a:rPr lang="pt-BR" sz="1600" b="0" dirty="0">
                <a:solidFill>
                  <a:srgbClr val="D4D4D4"/>
                </a:solidFill>
                <a:effectLst/>
                <a:latin typeface="Consolas" panose="020B0609020204030204" pitchFamily="49" charset="0"/>
              </a:rPr>
              <a:t>(</a:t>
            </a:r>
            <a:r>
              <a:rPr lang="pt-BR" sz="1600" b="0" dirty="0">
                <a:solidFill>
                  <a:srgbClr val="CE9178"/>
                </a:solidFill>
                <a:effectLst/>
                <a:latin typeface="Consolas" panose="020B0609020204030204" pitchFamily="49" charset="0"/>
              </a:rPr>
              <a:t>"seja bem vindo "</a:t>
            </a:r>
            <a:r>
              <a:rPr lang="pt-BR" sz="1600" b="0" dirty="0">
                <a:solidFill>
                  <a:srgbClr val="D4D4D4"/>
                </a:solidFill>
                <a:effectLst/>
                <a:latin typeface="Consolas" panose="020B0609020204030204" pitchFamily="49" charset="0"/>
              </a:rPr>
              <a:t> . </a:t>
            </a:r>
            <a:r>
              <a:rPr lang="pt-BR" sz="1600" b="0" dirty="0">
                <a:solidFill>
                  <a:srgbClr val="9CDCFE"/>
                </a:solidFill>
                <a:effectLst/>
                <a:latin typeface="Consolas" panose="020B0609020204030204" pitchFamily="49" charset="0"/>
              </a:rPr>
              <a:t>$nome</a:t>
            </a:r>
            <a:r>
              <a:rPr lang="pt-BR" sz="1600" b="0" dirty="0">
                <a:solidFill>
                  <a:srgbClr val="D4D4D4"/>
                </a:solidFill>
                <a:effectLst/>
                <a:latin typeface="Consolas" panose="020B0609020204030204" pitchFamily="49" charset="0"/>
              </a:rPr>
              <a:t> . </a:t>
            </a:r>
            <a:r>
              <a:rPr lang="pt-BR" sz="1600" b="0" dirty="0">
                <a:solidFill>
                  <a:srgbClr val="CE9178"/>
                </a:solidFill>
                <a:effectLst/>
                <a:latin typeface="Consolas" panose="020B0609020204030204" pitchFamily="49" charset="0"/>
              </a:rPr>
              <a:t>" "</a:t>
            </a:r>
            <a:r>
              <a:rPr lang="pt-BR" sz="1600" b="0" dirty="0">
                <a:solidFill>
                  <a:srgbClr val="D4D4D4"/>
                </a:solidFill>
                <a:effectLst/>
                <a:latin typeface="Consolas" panose="020B0609020204030204" pitchFamily="49" charset="0"/>
              </a:rPr>
              <a:t> . </a:t>
            </a:r>
            <a:r>
              <a:rPr lang="pt-BR" sz="1600" b="0" dirty="0">
                <a:solidFill>
                  <a:srgbClr val="9CDCFE"/>
                </a:solidFill>
                <a:effectLst/>
                <a:latin typeface="Consolas" panose="020B0609020204030204" pitchFamily="49" charset="0"/>
              </a:rPr>
              <a:t>$sobrenome</a:t>
            </a:r>
            <a:r>
              <a:rPr lang="pt-BR" sz="1600" b="0" dirty="0">
                <a:solidFill>
                  <a:srgbClr val="D4D4D4"/>
                </a:solidFill>
                <a:effectLst/>
                <a:latin typeface="Consolas" panose="020B0609020204030204" pitchFamily="49" charset="0"/>
              </a:rPr>
              <a:t>); </a:t>
            </a:r>
            <a:r>
              <a:rPr lang="pt-BR" sz="1600" b="0" dirty="0">
                <a:solidFill>
                  <a:srgbClr val="6A9955"/>
                </a:solidFill>
                <a:effectLst/>
                <a:latin typeface="Consolas" panose="020B0609020204030204" pitchFamily="49" charset="0"/>
              </a:rPr>
              <a:t>// Concatenando </a:t>
            </a:r>
            <a:r>
              <a:rPr lang="pt-BR" sz="1600" b="0" dirty="0" err="1">
                <a:solidFill>
                  <a:srgbClr val="6A9955"/>
                </a:solidFill>
                <a:effectLst/>
                <a:latin typeface="Consolas" panose="020B0609020204030204" pitchFamily="49" charset="0"/>
              </a:rPr>
              <a:t>string</a:t>
            </a:r>
            <a:r>
              <a:rPr lang="pt-BR" sz="1600" b="0" dirty="0">
                <a:solidFill>
                  <a:srgbClr val="6A9955"/>
                </a:solidFill>
                <a:effectLst/>
                <a:latin typeface="Consolas" panose="020B0609020204030204" pitchFamily="49" charset="0"/>
              </a:rPr>
              <a:t> </a:t>
            </a:r>
            <a:endParaRPr lang="pt-BR" sz="1600" b="0" dirty="0">
              <a:solidFill>
                <a:srgbClr val="CCCCCC"/>
              </a:solidFill>
              <a:effectLst/>
              <a:latin typeface="Consolas" panose="020B0609020204030204" pitchFamily="49" charset="0"/>
            </a:endParaRPr>
          </a:p>
          <a:p>
            <a:r>
              <a:rPr lang="pt-BR" sz="1600" b="0" dirty="0">
                <a:solidFill>
                  <a:srgbClr val="D4D4D4"/>
                </a:solidFill>
                <a:effectLst/>
                <a:latin typeface="Consolas" panose="020B0609020204030204" pitchFamily="49" charset="0"/>
              </a:rPr>
              <a:t>    </a:t>
            </a:r>
            <a:r>
              <a:rPr lang="pt-BR" sz="1600" b="0" dirty="0">
                <a:solidFill>
                  <a:srgbClr val="569CD6"/>
                </a:solidFill>
                <a:effectLst/>
                <a:latin typeface="Consolas" panose="020B0609020204030204" pitchFamily="49" charset="0"/>
              </a:rPr>
              <a:t>?&gt;</a:t>
            </a:r>
            <a:endParaRPr lang="pt-BR" sz="1600" b="0" dirty="0">
              <a:solidFill>
                <a:srgbClr val="CCCCCC"/>
              </a:solidFill>
              <a:effectLst/>
              <a:latin typeface="Consolas" panose="020B0609020204030204" pitchFamily="49" charset="0"/>
            </a:endParaRPr>
          </a:p>
          <a:p>
            <a:r>
              <a:rPr lang="pt-BR" sz="1600" b="0" dirty="0">
                <a:solidFill>
                  <a:srgbClr val="808080"/>
                </a:solidFill>
                <a:effectLst/>
                <a:latin typeface="Consolas" panose="020B0609020204030204" pitchFamily="49" charset="0"/>
              </a:rPr>
              <a:t>&lt;/</a:t>
            </a:r>
            <a:r>
              <a:rPr lang="pt-BR" sz="1600" b="0" dirty="0">
                <a:solidFill>
                  <a:srgbClr val="569CD6"/>
                </a:solidFill>
                <a:effectLst/>
                <a:latin typeface="Consolas" panose="020B0609020204030204" pitchFamily="49" charset="0"/>
              </a:rPr>
              <a:t>body</a:t>
            </a:r>
            <a:r>
              <a:rPr lang="pt-BR" sz="1600" b="0" dirty="0">
                <a:solidFill>
                  <a:srgbClr val="808080"/>
                </a:solidFill>
                <a:effectLst/>
                <a:latin typeface="Consolas" panose="020B0609020204030204" pitchFamily="49" charset="0"/>
              </a:rPr>
              <a:t>&gt;</a:t>
            </a:r>
            <a:endParaRPr lang="pt-BR" sz="1600" b="0" dirty="0">
              <a:solidFill>
                <a:srgbClr val="CCCCCC"/>
              </a:solidFill>
              <a:effectLst/>
              <a:latin typeface="Consolas" panose="020B0609020204030204" pitchFamily="49" charset="0"/>
            </a:endParaRPr>
          </a:p>
          <a:p>
            <a:r>
              <a:rPr lang="pt-BR" sz="1600" b="0" dirty="0">
                <a:solidFill>
                  <a:srgbClr val="808080"/>
                </a:solidFill>
                <a:effectLst/>
                <a:latin typeface="Consolas" panose="020B0609020204030204" pitchFamily="49" charset="0"/>
              </a:rPr>
              <a:t>&lt;/</a:t>
            </a:r>
            <a:r>
              <a:rPr lang="pt-BR" sz="1600" b="0" dirty="0" err="1">
                <a:solidFill>
                  <a:srgbClr val="569CD6"/>
                </a:solidFill>
                <a:effectLst/>
                <a:latin typeface="Consolas" panose="020B0609020204030204" pitchFamily="49" charset="0"/>
              </a:rPr>
              <a:t>html</a:t>
            </a:r>
            <a:r>
              <a:rPr lang="pt-BR" sz="1600" b="0" dirty="0">
                <a:solidFill>
                  <a:srgbClr val="808080"/>
                </a:solidFill>
                <a:effectLst/>
                <a:latin typeface="Consolas" panose="020B0609020204030204" pitchFamily="49" charset="0"/>
              </a:rPr>
              <a:t>&gt;</a:t>
            </a:r>
            <a:endParaRPr lang="pt-BR" sz="1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811772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A1B171-A0CB-C168-C7FD-34CAC378C672}"/>
              </a:ext>
            </a:extLst>
          </p:cNvPr>
          <p:cNvSpPr>
            <a:spLocks noGrp="1"/>
          </p:cNvSpPr>
          <p:nvPr>
            <p:ph type="title"/>
          </p:nvPr>
        </p:nvSpPr>
        <p:spPr/>
        <p:txBody>
          <a:bodyPr/>
          <a:lstStyle/>
          <a:p>
            <a:r>
              <a:rPr lang="pt-BR" dirty="0"/>
              <a:t>Operadores Aritméticos</a:t>
            </a:r>
          </a:p>
        </p:txBody>
      </p:sp>
      <p:graphicFrame>
        <p:nvGraphicFramePr>
          <p:cNvPr id="4" name="Espaço Reservado para Conteúdo 3">
            <a:extLst>
              <a:ext uri="{FF2B5EF4-FFF2-40B4-BE49-F238E27FC236}">
                <a16:creationId xmlns:a16="http://schemas.microsoft.com/office/drawing/2014/main" id="{68E3DD86-C5EA-4738-7F0A-1A1ECC337AB5}"/>
              </a:ext>
            </a:extLst>
          </p:cNvPr>
          <p:cNvGraphicFramePr>
            <a:graphicFrameLocks noGrp="1"/>
          </p:cNvGraphicFramePr>
          <p:nvPr>
            <p:ph idx="1"/>
            <p:extLst>
              <p:ext uri="{D42A27DB-BD31-4B8C-83A1-F6EECF244321}">
                <p14:modId xmlns:p14="http://schemas.microsoft.com/office/powerpoint/2010/main" val="3019679836"/>
              </p:ext>
            </p:extLst>
          </p:nvPr>
        </p:nvGraphicFramePr>
        <p:xfrm>
          <a:off x="410120" y="1083213"/>
          <a:ext cx="11202948" cy="3440469"/>
        </p:xfrm>
        <a:graphic>
          <a:graphicData uri="http://schemas.openxmlformats.org/drawingml/2006/table">
            <a:tbl>
              <a:tblPr/>
              <a:tblGrid>
                <a:gridCol w="2390610">
                  <a:extLst>
                    <a:ext uri="{9D8B030D-6E8A-4147-A177-3AD203B41FA5}">
                      <a16:colId xmlns:a16="http://schemas.microsoft.com/office/drawing/2014/main" val="1346154628"/>
                    </a:ext>
                  </a:extLst>
                </a:gridCol>
                <a:gridCol w="3095538">
                  <a:extLst>
                    <a:ext uri="{9D8B030D-6E8A-4147-A177-3AD203B41FA5}">
                      <a16:colId xmlns:a16="http://schemas.microsoft.com/office/drawing/2014/main" val="2105476821"/>
                    </a:ext>
                  </a:extLst>
                </a:gridCol>
                <a:gridCol w="5716800">
                  <a:extLst>
                    <a:ext uri="{9D8B030D-6E8A-4147-A177-3AD203B41FA5}">
                      <a16:colId xmlns:a16="http://schemas.microsoft.com/office/drawing/2014/main" val="219476629"/>
                    </a:ext>
                  </a:extLst>
                </a:gridCol>
              </a:tblGrid>
              <a:tr h="378907">
                <a:tc>
                  <a:txBody>
                    <a:bodyPr/>
                    <a:lstStyle/>
                    <a:p>
                      <a:pPr algn="l"/>
                      <a:r>
                        <a:rPr lang="pt-BR" sz="1600" b="1">
                          <a:effectLst/>
                        </a:rPr>
                        <a:t>Exemplo</a:t>
                      </a:r>
                    </a:p>
                  </a:txBody>
                  <a:tcPr marL="55865" marR="55865" marT="27932" marB="27932" anchor="ctr">
                    <a:lnL w="9525" cap="flat" cmpd="sng" algn="ctr">
                      <a:solidFill>
                        <a:srgbClr val="C4C9DF"/>
                      </a:solidFill>
                      <a:prstDash val="solid"/>
                      <a:round/>
                      <a:headEnd type="none" w="med" len="med"/>
                      <a:tailEnd type="none" w="med" len="med"/>
                    </a:lnL>
                    <a:lnR w="9525" cap="flat" cmpd="sng" algn="ctr">
                      <a:solidFill>
                        <a:srgbClr val="C4C9DF"/>
                      </a:solidFill>
                      <a:prstDash val="solid"/>
                      <a:round/>
                      <a:headEnd type="none" w="med" len="med"/>
                      <a:tailEnd type="none" w="med" len="med"/>
                    </a:lnR>
                    <a:lnT w="9525" cap="flat" cmpd="sng" algn="ctr">
                      <a:solidFill>
                        <a:srgbClr val="C4C9DF"/>
                      </a:solidFill>
                      <a:prstDash val="solid"/>
                      <a:round/>
                      <a:headEnd type="none" w="med" len="med"/>
                      <a:tailEnd type="none" w="med" len="med"/>
                    </a:lnT>
                    <a:lnB w="9525" cap="flat" cmpd="sng" algn="ctr">
                      <a:solidFill>
                        <a:srgbClr val="D00F24"/>
                      </a:solidFill>
                      <a:prstDash val="solid"/>
                      <a:round/>
                      <a:headEnd type="none" w="med" len="med"/>
                      <a:tailEnd type="none" w="med" len="med"/>
                    </a:lnB>
                    <a:solidFill>
                      <a:srgbClr val="C4C9DF"/>
                    </a:solidFill>
                  </a:tcPr>
                </a:tc>
                <a:tc>
                  <a:txBody>
                    <a:bodyPr/>
                    <a:lstStyle/>
                    <a:p>
                      <a:pPr algn="l"/>
                      <a:r>
                        <a:rPr lang="pt-BR" sz="1600" b="1" dirty="0">
                          <a:effectLst/>
                        </a:rPr>
                        <a:t>Nome</a:t>
                      </a:r>
                    </a:p>
                  </a:txBody>
                  <a:tcPr marL="55865" marR="55865" marT="27932" marB="27932" anchor="ctr">
                    <a:lnL w="9525" cap="flat" cmpd="sng" algn="ctr">
                      <a:solidFill>
                        <a:srgbClr val="C4C9DF"/>
                      </a:solidFill>
                      <a:prstDash val="solid"/>
                      <a:round/>
                      <a:headEnd type="none" w="med" len="med"/>
                      <a:tailEnd type="none" w="med" len="med"/>
                    </a:lnL>
                    <a:lnR w="9525" cap="flat" cmpd="sng" algn="ctr">
                      <a:solidFill>
                        <a:srgbClr val="C4C9DF"/>
                      </a:solidFill>
                      <a:prstDash val="solid"/>
                      <a:round/>
                      <a:headEnd type="none" w="med" len="med"/>
                      <a:tailEnd type="none" w="med" len="med"/>
                    </a:lnR>
                    <a:lnT w="9525" cap="flat" cmpd="sng" algn="ctr">
                      <a:solidFill>
                        <a:srgbClr val="C4C9DF"/>
                      </a:solidFill>
                      <a:prstDash val="solid"/>
                      <a:round/>
                      <a:headEnd type="none" w="med" len="med"/>
                      <a:tailEnd type="none" w="med" len="med"/>
                    </a:lnT>
                    <a:lnB w="9525" cap="flat" cmpd="sng" algn="ctr">
                      <a:solidFill>
                        <a:srgbClr val="D00F24"/>
                      </a:solidFill>
                      <a:prstDash val="solid"/>
                      <a:round/>
                      <a:headEnd type="none" w="med" len="med"/>
                      <a:tailEnd type="none" w="med" len="med"/>
                    </a:lnB>
                    <a:solidFill>
                      <a:srgbClr val="C4C9DF"/>
                    </a:solidFill>
                  </a:tcPr>
                </a:tc>
                <a:tc>
                  <a:txBody>
                    <a:bodyPr/>
                    <a:lstStyle/>
                    <a:p>
                      <a:pPr algn="l"/>
                      <a:r>
                        <a:rPr lang="pt-BR" sz="1600" b="1">
                          <a:effectLst/>
                        </a:rPr>
                        <a:t>Resultado</a:t>
                      </a:r>
                    </a:p>
                  </a:txBody>
                  <a:tcPr marL="55865" marR="55865" marT="27932" marB="27932" anchor="ctr">
                    <a:lnL w="9525" cap="flat" cmpd="sng" algn="ctr">
                      <a:solidFill>
                        <a:srgbClr val="C4C9DF"/>
                      </a:solidFill>
                      <a:prstDash val="solid"/>
                      <a:round/>
                      <a:headEnd type="none" w="med" len="med"/>
                      <a:tailEnd type="none" w="med" len="med"/>
                    </a:lnL>
                    <a:lnR w="9525" cap="flat" cmpd="sng" algn="ctr">
                      <a:solidFill>
                        <a:srgbClr val="C4C9DF"/>
                      </a:solidFill>
                      <a:prstDash val="solid"/>
                      <a:round/>
                      <a:headEnd type="none" w="med" len="med"/>
                      <a:tailEnd type="none" w="med" len="med"/>
                    </a:lnR>
                    <a:lnT w="9525" cap="flat" cmpd="sng" algn="ctr">
                      <a:solidFill>
                        <a:srgbClr val="C4C9DF"/>
                      </a:solidFill>
                      <a:prstDash val="solid"/>
                      <a:round/>
                      <a:headEnd type="none" w="med" len="med"/>
                      <a:tailEnd type="none" w="med" len="med"/>
                    </a:lnT>
                    <a:lnB w="9525" cap="flat" cmpd="sng" algn="ctr">
                      <a:solidFill>
                        <a:srgbClr val="D00F24"/>
                      </a:solidFill>
                      <a:prstDash val="solid"/>
                      <a:round/>
                      <a:headEnd type="none" w="med" len="med"/>
                      <a:tailEnd type="none" w="med" len="med"/>
                    </a:lnB>
                    <a:solidFill>
                      <a:srgbClr val="C4C9DF"/>
                    </a:solidFill>
                  </a:tcPr>
                </a:tc>
                <a:extLst>
                  <a:ext uri="{0D108BD9-81ED-4DB2-BD59-A6C34878D82A}">
                    <a16:rowId xmlns:a16="http://schemas.microsoft.com/office/drawing/2014/main" val="3978188311"/>
                  </a:ext>
                </a:extLst>
              </a:tr>
              <a:tr h="409213">
                <a:tc>
                  <a:txBody>
                    <a:bodyPr/>
                    <a:lstStyle/>
                    <a:p>
                      <a:pPr fontAlgn="t"/>
                      <a:r>
                        <a:rPr lang="pt-BR" sz="1600" b="1">
                          <a:effectLst/>
                        </a:rPr>
                        <a:t>+$a</a:t>
                      </a:r>
                    </a:p>
                  </a:txBody>
                  <a:tcPr marL="55865" marR="55865" marT="27932" marB="27932">
                    <a:lnL w="9525" cap="flat" cmpd="sng" algn="ctr">
                      <a:solidFill>
                        <a:srgbClr val="D00F24"/>
                      </a:solidFill>
                      <a:prstDash val="solid"/>
                      <a:round/>
                      <a:headEnd type="none" w="med" len="med"/>
                      <a:tailEnd type="none" w="med" len="med"/>
                    </a:lnL>
                    <a:lnR w="9525" cap="flat" cmpd="sng" algn="ctr">
                      <a:solidFill>
                        <a:srgbClr val="D00F24"/>
                      </a:solidFill>
                      <a:prstDash val="solid"/>
                      <a:round/>
                      <a:headEnd type="none" w="med" len="med"/>
                      <a:tailEnd type="none" w="med" len="med"/>
                    </a:lnR>
                    <a:lnT w="9525" cap="flat" cmpd="sng" algn="ctr">
                      <a:solidFill>
                        <a:srgbClr val="D00F24"/>
                      </a:solidFill>
                      <a:prstDash val="solid"/>
                      <a:round/>
                      <a:headEnd type="none" w="med" len="med"/>
                      <a:tailEnd type="none" w="med" len="med"/>
                    </a:lnT>
                    <a:lnB w="9525" cap="flat" cmpd="sng" algn="ctr">
                      <a:solidFill>
                        <a:srgbClr val="501E24"/>
                      </a:solidFill>
                      <a:prstDash val="solid"/>
                      <a:round/>
                      <a:headEnd type="none" w="med" len="med"/>
                      <a:tailEnd type="none" w="med" len="med"/>
                    </a:lnB>
                    <a:solidFill>
                      <a:srgbClr val="FFFFFF"/>
                    </a:solidFill>
                  </a:tcPr>
                </a:tc>
                <a:tc>
                  <a:txBody>
                    <a:bodyPr/>
                    <a:lstStyle/>
                    <a:p>
                      <a:pPr fontAlgn="t"/>
                      <a:r>
                        <a:rPr lang="pt-BR" sz="1600" b="1">
                          <a:effectLst/>
                        </a:rPr>
                        <a:t>Identidade</a:t>
                      </a:r>
                    </a:p>
                  </a:txBody>
                  <a:tcPr marL="55865" marR="55865" marT="27932" marB="27932">
                    <a:lnL w="9525" cap="flat" cmpd="sng" algn="ctr">
                      <a:solidFill>
                        <a:srgbClr val="D00F24"/>
                      </a:solidFill>
                      <a:prstDash val="solid"/>
                      <a:round/>
                      <a:headEnd type="none" w="med" len="med"/>
                      <a:tailEnd type="none" w="med" len="med"/>
                    </a:lnL>
                    <a:lnR w="9525" cap="flat" cmpd="sng" algn="ctr">
                      <a:solidFill>
                        <a:srgbClr val="D00F24"/>
                      </a:solidFill>
                      <a:prstDash val="solid"/>
                      <a:round/>
                      <a:headEnd type="none" w="med" len="med"/>
                      <a:tailEnd type="none" w="med" len="med"/>
                    </a:lnR>
                    <a:lnT w="9525" cap="flat" cmpd="sng" algn="ctr">
                      <a:solidFill>
                        <a:srgbClr val="D00F24"/>
                      </a:solidFill>
                      <a:prstDash val="solid"/>
                      <a:round/>
                      <a:headEnd type="none" w="med" len="med"/>
                      <a:tailEnd type="none" w="med" len="med"/>
                    </a:lnT>
                    <a:lnB w="9525" cap="flat" cmpd="sng" algn="ctr">
                      <a:solidFill>
                        <a:srgbClr val="501E24"/>
                      </a:solidFill>
                      <a:prstDash val="solid"/>
                      <a:round/>
                      <a:headEnd type="none" w="med" len="med"/>
                      <a:tailEnd type="none" w="med" len="med"/>
                    </a:lnB>
                    <a:solidFill>
                      <a:srgbClr val="FFFFFF"/>
                    </a:solidFill>
                  </a:tcPr>
                </a:tc>
                <a:tc>
                  <a:txBody>
                    <a:bodyPr/>
                    <a:lstStyle/>
                    <a:p>
                      <a:pPr fontAlgn="t"/>
                      <a:r>
                        <a:rPr lang="pt-BR" sz="1600" b="1">
                          <a:effectLst/>
                        </a:rPr>
                        <a:t>Conversão de </a:t>
                      </a:r>
                      <a:r>
                        <a:rPr lang="pt-BR" sz="1600" b="1" i="1">
                          <a:effectLst/>
                        </a:rPr>
                        <a:t>$a</a:t>
                      </a:r>
                      <a:r>
                        <a:rPr lang="pt-BR" sz="1600" b="1">
                          <a:effectLst/>
                        </a:rPr>
                        <a:t> para int ou float conforme apropriado.</a:t>
                      </a:r>
                    </a:p>
                  </a:txBody>
                  <a:tcPr marL="55865" marR="55865" marT="27932" marB="27932">
                    <a:lnL w="9525" cap="flat" cmpd="sng" algn="ctr">
                      <a:solidFill>
                        <a:srgbClr val="D00F24"/>
                      </a:solidFill>
                      <a:prstDash val="solid"/>
                      <a:round/>
                      <a:headEnd type="none" w="med" len="med"/>
                      <a:tailEnd type="none" w="med" len="med"/>
                    </a:lnL>
                    <a:lnR w="9525" cap="flat" cmpd="sng" algn="ctr">
                      <a:solidFill>
                        <a:srgbClr val="D00F24"/>
                      </a:solidFill>
                      <a:prstDash val="solid"/>
                      <a:round/>
                      <a:headEnd type="none" w="med" len="med"/>
                      <a:tailEnd type="none" w="med" len="med"/>
                    </a:lnR>
                    <a:lnT w="9525" cap="flat" cmpd="sng" algn="ctr">
                      <a:solidFill>
                        <a:srgbClr val="D00F24"/>
                      </a:solidFill>
                      <a:prstDash val="solid"/>
                      <a:round/>
                      <a:headEnd type="none" w="med" len="med"/>
                      <a:tailEnd type="none" w="med" len="med"/>
                    </a:lnT>
                    <a:lnB w="9525" cap="flat" cmpd="sng" algn="ctr">
                      <a:solidFill>
                        <a:srgbClr val="501E24"/>
                      </a:solidFill>
                      <a:prstDash val="solid"/>
                      <a:round/>
                      <a:headEnd type="none" w="med" len="med"/>
                      <a:tailEnd type="none" w="med" len="med"/>
                    </a:lnB>
                    <a:solidFill>
                      <a:srgbClr val="FFFFFF"/>
                    </a:solidFill>
                  </a:tcPr>
                </a:tc>
                <a:extLst>
                  <a:ext uri="{0D108BD9-81ED-4DB2-BD59-A6C34878D82A}">
                    <a16:rowId xmlns:a16="http://schemas.microsoft.com/office/drawing/2014/main" val="1205492630"/>
                  </a:ext>
                </a:extLst>
              </a:tr>
              <a:tr h="378907">
                <a:tc>
                  <a:txBody>
                    <a:bodyPr/>
                    <a:lstStyle/>
                    <a:p>
                      <a:pPr fontAlgn="t"/>
                      <a:r>
                        <a:rPr lang="pt-BR" sz="1600" b="1">
                          <a:effectLst/>
                        </a:rPr>
                        <a:t>-$a</a:t>
                      </a:r>
                    </a:p>
                  </a:txBody>
                  <a:tcPr marL="55865" marR="55865" marT="27932" marB="27932">
                    <a:lnL w="9525" cap="flat" cmpd="sng" algn="ctr">
                      <a:solidFill>
                        <a:srgbClr val="501E24"/>
                      </a:solidFill>
                      <a:prstDash val="solid"/>
                      <a:round/>
                      <a:headEnd type="none" w="med" len="med"/>
                      <a:tailEnd type="none" w="med" len="med"/>
                    </a:lnL>
                    <a:lnR w="9525" cap="flat" cmpd="sng" algn="ctr">
                      <a:solidFill>
                        <a:srgbClr val="501E24"/>
                      </a:solidFill>
                      <a:prstDash val="solid"/>
                      <a:round/>
                      <a:headEnd type="none" w="med" len="med"/>
                      <a:tailEnd type="none" w="med" len="med"/>
                    </a:lnR>
                    <a:lnT w="9525" cap="flat" cmpd="sng" algn="ctr">
                      <a:solidFill>
                        <a:srgbClr val="501E24"/>
                      </a:solidFill>
                      <a:prstDash val="solid"/>
                      <a:round/>
                      <a:headEnd type="none" w="med" len="med"/>
                      <a:tailEnd type="none" w="med" len="med"/>
                    </a:lnT>
                    <a:lnB w="9525" cap="flat" cmpd="sng" algn="ctr">
                      <a:solidFill>
                        <a:srgbClr val="D02124"/>
                      </a:solidFill>
                      <a:prstDash val="solid"/>
                      <a:round/>
                      <a:headEnd type="none" w="med" len="med"/>
                      <a:tailEnd type="none" w="med" len="med"/>
                    </a:lnB>
                    <a:solidFill>
                      <a:srgbClr val="E6E6E6"/>
                    </a:solidFill>
                  </a:tcPr>
                </a:tc>
                <a:tc>
                  <a:txBody>
                    <a:bodyPr/>
                    <a:lstStyle/>
                    <a:p>
                      <a:pPr fontAlgn="t"/>
                      <a:r>
                        <a:rPr lang="pt-BR" sz="1600" b="1">
                          <a:effectLst/>
                        </a:rPr>
                        <a:t>Negação</a:t>
                      </a:r>
                    </a:p>
                  </a:txBody>
                  <a:tcPr marL="55865" marR="55865" marT="27932" marB="27932">
                    <a:lnL w="9525" cap="flat" cmpd="sng" algn="ctr">
                      <a:solidFill>
                        <a:srgbClr val="501E24"/>
                      </a:solidFill>
                      <a:prstDash val="solid"/>
                      <a:round/>
                      <a:headEnd type="none" w="med" len="med"/>
                      <a:tailEnd type="none" w="med" len="med"/>
                    </a:lnL>
                    <a:lnR w="9525" cap="flat" cmpd="sng" algn="ctr">
                      <a:solidFill>
                        <a:srgbClr val="501E24"/>
                      </a:solidFill>
                      <a:prstDash val="solid"/>
                      <a:round/>
                      <a:headEnd type="none" w="med" len="med"/>
                      <a:tailEnd type="none" w="med" len="med"/>
                    </a:lnR>
                    <a:lnT w="9525" cap="flat" cmpd="sng" algn="ctr">
                      <a:solidFill>
                        <a:srgbClr val="501E24"/>
                      </a:solidFill>
                      <a:prstDash val="solid"/>
                      <a:round/>
                      <a:headEnd type="none" w="med" len="med"/>
                      <a:tailEnd type="none" w="med" len="med"/>
                    </a:lnT>
                    <a:lnB w="9525" cap="flat" cmpd="sng" algn="ctr">
                      <a:solidFill>
                        <a:srgbClr val="D02124"/>
                      </a:solidFill>
                      <a:prstDash val="solid"/>
                      <a:round/>
                      <a:headEnd type="none" w="med" len="med"/>
                      <a:tailEnd type="none" w="med" len="med"/>
                    </a:lnB>
                    <a:solidFill>
                      <a:srgbClr val="E6E6E6"/>
                    </a:solidFill>
                  </a:tcPr>
                </a:tc>
                <a:tc>
                  <a:txBody>
                    <a:bodyPr/>
                    <a:lstStyle/>
                    <a:p>
                      <a:pPr fontAlgn="t"/>
                      <a:r>
                        <a:rPr lang="pt-BR" sz="1600" b="1">
                          <a:effectLst/>
                        </a:rPr>
                        <a:t>Oposto de </a:t>
                      </a:r>
                      <a:r>
                        <a:rPr lang="pt-BR" sz="1600" b="1" i="1">
                          <a:effectLst/>
                        </a:rPr>
                        <a:t>$a</a:t>
                      </a:r>
                      <a:r>
                        <a:rPr lang="pt-BR" sz="1600" b="1">
                          <a:effectLst/>
                        </a:rPr>
                        <a:t>.</a:t>
                      </a:r>
                    </a:p>
                  </a:txBody>
                  <a:tcPr marL="55865" marR="55865" marT="27932" marB="27932">
                    <a:lnL w="9525" cap="flat" cmpd="sng" algn="ctr">
                      <a:solidFill>
                        <a:srgbClr val="501E24"/>
                      </a:solidFill>
                      <a:prstDash val="solid"/>
                      <a:round/>
                      <a:headEnd type="none" w="med" len="med"/>
                      <a:tailEnd type="none" w="med" len="med"/>
                    </a:lnL>
                    <a:lnR w="9525" cap="flat" cmpd="sng" algn="ctr">
                      <a:solidFill>
                        <a:srgbClr val="501E24"/>
                      </a:solidFill>
                      <a:prstDash val="solid"/>
                      <a:round/>
                      <a:headEnd type="none" w="med" len="med"/>
                      <a:tailEnd type="none" w="med" len="med"/>
                    </a:lnR>
                    <a:lnT w="9525" cap="flat" cmpd="sng" algn="ctr">
                      <a:solidFill>
                        <a:srgbClr val="501E24"/>
                      </a:solidFill>
                      <a:prstDash val="solid"/>
                      <a:round/>
                      <a:headEnd type="none" w="med" len="med"/>
                      <a:tailEnd type="none" w="med" len="med"/>
                    </a:lnT>
                    <a:lnB w="9525" cap="flat" cmpd="sng" algn="ctr">
                      <a:solidFill>
                        <a:srgbClr val="D02124"/>
                      </a:solidFill>
                      <a:prstDash val="solid"/>
                      <a:round/>
                      <a:headEnd type="none" w="med" len="med"/>
                      <a:tailEnd type="none" w="med" len="med"/>
                    </a:lnB>
                    <a:solidFill>
                      <a:srgbClr val="E6E6E6"/>
                    </a:solidFill>
                  </a:tcPr>
                </a:tc>
                <a:extLst>
                  <a:ext uri="{0D108BD9-81ED-4DB2-BD59-A6C34878D82A}">
                    <a16:rowId xmlns:a16="http://schemas.microsoft.com/office/drawing/2014/main" val="45122099"/>
                  </a:ext>
                </a:extLst>
              </a:tr>
              <a:tr h="378907">
                <a:tc>
                  <a:txBody>
                    <a:bodyPr/>
                    <a:lstStyle/>
                    <a:p>
                      <a:pPr fontAlgn="t"/>
                      <a:r>
                        <a:rPr lang="pt-BR" sz="1600" b="1">
                          <a:effectLst/>
                        </a:rPr>
                        <a:t>$a + $b</a:t>
                      </a:r>
                    </a:p>
                  </a:txBody>
                  <a:tcPr marL="55865" marR="55865" marT="27932" marB="27932">
                    <a:lnL w="9525" cap="flat" cmpd="sng" algn="ctr">
                      <a:solidFill>
                        <a:srgbClr val="D02124"/>
                      </a:solidFill>
                      <a:prstDash val="solid"/>
                      <a:round/>
                      <a:headEnd type="none" w="med" len="med"/>
                      <a:tailEnd type="none" w="med" len="med"/>
                    </a:lnL>
                    <a:lnR w="9525" cap="flat" cmpd="sng" algn="ctr">
                      <a:solidFill>
                        <a:srgbClr val="D02124"/>
                      </a:solidFill>
                      <a:prstDash val="solid"/>
                      <a:round/>
                      <a:headEnd type="none" w="med" len="med"/>
                      <a:tailEnd type="none" w="med" len="med"/>
                    </a:lnR>
                    <a:lnT w="9525" cap="flat" cmpd="sng" algn="ctr">
                      <a:solidFill>
                        <a:srgbClr val="D02124"/>
                      </a:solidFill>
                      <a:prstDash val="solid"/>
                      <a:round/>
                      <a:headEnd type="none" w="med" len="med"/>
                      <a:tailEnd type="none" w="med" len="med"/>
                    </a:lnT>
                    <a:lnB w="9525" cap="flat" cmpd="sng" algn="ctr">
                      <a:solidFill>
                        <a:srgbClr val="107324"/>
                      </a:solidFill>
                      <a:prstDash val="solid"/>
                      <a:round/>
                      <a:headEnd type="none" w="med" len="med"/>
                      <a:tailEnd type="none" w="med" len="med"/>
                    </a:lnB>
                    <a:solidFill>
                      <a:srgbClr val="FFFFFF"/>
                    </a:solidFill>
                  </a:tcPr>
                </a:tc>
                <a:tc>
                  <a:txBody>
                    <a:bodyPr/>
                    <a:lstStyle/>
                    <a:p>
                      <a:pPr fontAlgn="t"/>
                      <a:r>
                        <a:rPr lang="pt-BR" sz="1600" b="1">
                          <a:effectLst/>
                        </a:rPr>
                        <a:t>Adição</a:t>
                      </a:r>
                    </a:p>
                  </a:txBody>
                  <a:tcPr marL="55865" marR="55865" marT="27932" marB="27932">
                    <a:lnL w="9525" cap="flat" cmpd="sng" algn="ctr">
                      <a:solidFill>
                        <a:srgbClr val="D02124"/>
                      </a:solidFill>
                      <a:prstDash val="solid"/>
                      <a:round/>
                      <a:headEnd type="none" w="med" len="med"/>
                      <a:tailEnd type="none" w="med" len="med"/>
                    </a:lnL>
                    <a:lnR w="9525" cap="flat" cmpd="sng" algn="ctr">
                      <a:solidFill>
                        <a:srgbClr val="D02124"/>
                      </a:solidFill>
                      <a:prstDash val="solid"/>
                      <a:round/>
                      <a:headEnd type="none" w="med" len="med"/>
                      <a:tailEnd type="none" w="med" len="med"/>
                    </a:lnR>
                    <a:lnT w="9525" cap="flat" cmpd="sng" algn="ctr">
                      <a:solidFill>
                        <a:srgbClr val="D02124"/>
                      </a:solidFill>
                      <a:prstDash val="solid"/>
                      <a:round/>
                      <a:headEnd type="none" w="med" len="med"/>
                      <a:tailEnd type="none" w="med" len="med"/>
                    </a:lnT>
                    <a:lnB w="9525" cap="flat" cmpd="sng" algn="ctr">
                      <a:solidFill>
                        <a:srgbClr val="107324"/>
                      </a:solidFill>
                      <a:prstDash val="solid"/>
                      <a:round/>
                      <a:headEnd type="none" w="med" len="med"/>
                      <a:tailEnd type="none" w="med" len="med"/>
                    </a:lnB>
                    <a:solidFill>
                      <a:srgbClr val="FFFFFF"/>
                    </a:solidFill>
                  </a:tcPr>
                </a:tc>
                <a:tc>
                  <a:txBody>
                    <a:bodyPr/>
                    <a:lstStyle/>
                    <a:p>
                      <a:pPr fontAlgn="t"/>
                      <a:r>
                        <a:rPr lang="pt-BR" sz="1600" b="1">
                          <a:effectLst/>
                        </a:rPr>
                        <a:t>Soma de </a:t>
                      </a:r>
                      <a:r>
                        <a:rPr lang="pt-BR" sz="1600" b="1" i="1">
                          <a:effectLst/>
                        </a:rPr>
                        <a:t>$a</a:t>
                      </a:r>
                      <a:r>
                        <a:rPr lang="pt-BR" sz="1600" b="1">
                          <a:effectLst/>
                        </a:rPr>
                        <a:t> e </a:t>
                      </a:r>
                      <a:r>
                        <a:rPr lang="pt-BR" sz="1600" b="1" i="1">
                          <a:effectLst/>
                        </a:rPr>
                        <a:t>$b</a:t>
                      </a:r>
                      <a:r>
                        <a:rPr lang="pt-BR" sz="1600" b="1">
                          <a:effectLst/>
                        </a:rPr>
                        <a:t>.</a:t>
                      </a:r>
                    </a:p>
                  </a:txBody>
                  <a:tcPr marL="55865" marR="55865" marT="27932" marB="27932">
                    <a:lnL w="9525" cap="flat" cmpd="sng" algn="ctr">
                      <a:solidFill>
                        <a:srgbClr val="D02124"/>
                      </a:solidFill>
                      <a:prstDash val="solid"/>
                      <a:round/>
                      <a:headEnd type="none" w="med" len="med"/>
                      <a:tailEnd type="none" w="med" len="med"/>
                    </a:lnL>
                    <a:lnR w="9525" cap="flat" cmpd="sng" algn="ctr">
                      <a:solidFill>
                        <a:srgbClr val="D02124"/>
                      </a:solidFill>
                      <a:prstDash val="solid"/>
                      <a:round/>
                      <a:headEnd type="none" w="med" len="med"/>
                      <a:tailEnd type="none" w="med" len="med"/>
                    </a:lnR>
                    <a:lnT w="9525" cap="flat" cmpd="sng" algn="ctr">
                      <a:solidFill>
                        <a:srgbClr val="D02124"/>
                      </a:solidFill>
                      <a:prstDash val="solid"/>
                      <a:round/>
                      <a:headEnd type="none" w="med" len="med"/>
                      <a:tailEnd type="none" w="med" len="med"/>
                    </a:lnT>
                    <a:lnB w="9525" cap="flat" cmpd="sng" algn="ctr">
                      <a:solidFill>
                        <a:srgbClr val="107324"/>
                      </a:solidFill>
                      <a:prstDash val="solid"/>
                      <a:round/>
                      <a:headEnd type="none" w="med" len="med"/>
                      <a:tailEnd type="none" w="med" len="med"/>
                    </a:lnB>
                    <a:solidFill>
                      <a:srgbClr val="FFFFFF"/>
                    </a:solidFill>
                  </a:tcPr>
                </a:tc>
                <a:extLst>
                  <a:ext uri="{0D108BD9-81ED-4DB2-BD59-A6C34878D82A}">
                    <a16:rowId xmlns:a16="http://schemas.microsoft.com/office/drawing/2014/main" val="1682036183"/>
                  </a:ext>
                </a:extLst>
              </a:tr>
              <a:tr h="378907">
                <a:tc>
                  <a:txBody>
                    <a:bodyPr/>
                    <a:lstStyle/>
                    <a:p>
                      <a:pPr fontAlgn="t"/>
                      <a:r>
                        <a:rPr lang="pt-BR" sz="1600" b="1">
                          <a:effectLst/>
                        </a:rPr>
                        <a:t>$a - $b</a:t>
                      </a:r>
                    </a:p>
                  </a:txBody>
                  <a:tcPr marL="55865" marR="55865" marT="27932" marB="27932">
                    <a:lnL w="9525" cap="flat" cmpd="sng" algn="ctr">
                      <a:solidFill>
                        <a:srgbClr val="107324"/>
                      </a:solidFill>
                      <a:prstDash val="solid"/>
                      <a:round/>
                      <a:headEnd type="none" w="med" len="med"/>
                      <a:tailEnd type="none" w="med" len="med"/>
                    </a:lnL>
                    <a:lnR w="9525" cap="flat" cmpd="sng" algn="ctr">
                      <a:solidFill>
                        <a:srgbClr val="107324"/>
                      </a:solidFill>
                      <a:prstDash val="solid"/>
                      <a:round/>
                      <a:headEnd type="none" w="med" len="med"/>
                      <a:tailEnd type="none" w="med" len="med"/>
                    </a:lnR>
                    <a:lnT w="9525" cap="flat" cmpd="sng" algn="ctr">
                      <a:solidFill>
                        <a:srgbClr val="107324"/>
                      </a:solidFill>
                      <a:prstDash val="solid"/>
                      <a:round/>
                      <a:headEnd type="none" w="med" len="med"/>
                      <a:tailEnd type="none" w="med" len="med"/>
                    </a:lnT>
                    <a:lnB w="9525" cap="flat" cmpd="sng" algn="ctr">
                      <a:solidFill>
                        <a:srgbClr val="50C224"/>
                      </a:solidFill>
                      <a:prstDash val="solid"/>
                      <a:round/>
                      <a:headEnd type="none" w="med" len="med"/>
                      <a:tailEnd type="none" w="med" len="med"/>
                    </a:lnB>
                    <a:solidFill>
                      <a:srgbClr val="E6E6E6"/>
                    </a:solidFill>
                  </a:tcPr>
                </a:tc>
                <a:tc>
                  <a:txBody>
                    <a:bodyPr/>
                    <a:lstStyle/>
                    <a:p>
                      <a:pPr fontAlgn="t"/>
                      <a:r>
                        <a:rPr lang="pt-BR" sz="1600" b="1">
                          <a:effectLst/>
                        </a:rPr>
                        <a:t>Subtração</a:t>
                      </a:r>
                    </a:p>
                  </a:txBody>
                  <a:tcPr marL="55865" marR="55865" marT="27932" marB="27932">
                    <a:lnL w="9525" cap="flat" cmpd="sng" algn="ctr">
                      <a:solidFill>
                        <a:srgbClr val="107324"/>
                      </a:solidFill>
                      <a:prstDash val="solid"/>
                      <a:round/>
                      <a:headEnd type="none" w="med" len="med"/>
                      <a:tailEnd type="none" w="med" len="med"/>
                    </a:lnL>
                    <a:lnR w="9525" cap="flat" cmpd="sng" algn="ctr">
                      <a:solidFill>
                        <a:srgbClr val="107324"/>
                      </a:solidFill>
                      <a:prstDash val="solid"/>
                      <a:round/>
                      <a:headEnd type="none" w="med" len="med"/>
                      <a:tailEnd type="none" w="med" len="med"/>
                    </a:lnR>
                    <a:lnT w="9525" cap="flat" cmpd="sng" algn="ctr">
                      <a:solidFill>
                        <a:srgbClr val="107324"/>
                      </a:solidFill>
                      <a:prstDash val="solid"/>
                      <a:round/>
                      <a:headEnd type="none" w="med" len="med"/>
                      <a:tailEnd type="none" w="med" len="med"/>
                    </a:lnT>
                    <a:lnB w="9525" cap="flat" cmpd="sng" algn="ctr">
                      <a:solidFill>
                        <a:srgbClr val="50C224"/>
                      </a:solidFill>
                      <a:prstDash val="solid"/>
                      <a:round/>
                      <a:headEnd type="none" w="med" len="med"/>
                      <a:tailEnd type="none" w="med" len="med"/>
                    </a:lnB>
                    <a:solidFill>
                      <a:srgbClr val="E6E6E6"/>
                    </a:solidFill>
                  </a:tcPr>
                </a:tc>
                <a:tc>
                  <a:txBody>
                    <a:bodyPr/>
                    <a:lstStyle/>
                    <a:p>
                      <a:pPr fontAlgn="t"/>
                      <a:r>
                        <a:rPr lang="pt-BR" sz="1600" b="1">
                          <a:effectLst/>
                        </a:rPr>
                        <a:t>Diferença entre </a:t>
                      </a:r>
                      <a:r>
                        <a:rPr lang="pt-BR" sz="1600" b="1" i="1">
                          <a:effectLst/>
                        </a:rPr>
                        <a:t>$a</a:t>
                      </a:r>
                      <a:r>
                        <a:rPr lang="pt-BR" sz="1600" b="1">
                          <a:effectLst/>
                        </a:rPr>
                        <a:t> e </a:t>
                      </a:r>
                      <a:r>
                        <a:rPr lang="pt-BR" sz="1600" b="1" i="1">
                          <a:effectLst/>
                        </a:rPr>
                        <a:t>$b</a:t>
                      </a:r>
                      <a:r>
                        <a:rPr lang="pt-BR" sz="1600" b="1">
                          <a:effectLst/>
                        </a:rPr>
                        <a:t>.</a:t>
                      </a:r>
                    </a:p>
                  </a:txBody>
                  <a:tcPr marL="55865" marR="55865" marT="27932" marB="27932">
                    <a:lnL w="9525" cap="flat" cmpd="sng" algn="ctr">
                      <a:solidFill>
                        <a:srgbClr val="107324"/>
                      </a:solidFill>
                      <a:prstDash val="solid"/>
                      <a:round/>
                      <a:headEnd type="none" w="med" len="med"/>
                      <a:tailEnd type="none" w="med" len="med"/>
                    </a:lnL>
                    <a:lnR w="9525" cap="flat" cmpd="sng" algn="ctr">
                      <a:solidFill>
                        <a:srgbClr val="107324"/>
                      </a:solidFill>
                      <a:prstDash val="solid"/>
                      <a:round/>
                      <a:headEnd type="none" w="med" len="med"/>
                      <a:tailEnd type="none" w="med" len="med"/>
                    </a:lnR>
                    <a:lnT w="9525" cap="flat" cmpd="sng" algn="ctr">
                      <a:solidFill>
                        <a:srgbClr val="107324"/>
                      </a:solidFill>
                      <a:prstDash val="solid"/>
                      <a:round/>
                      <a:headEnd type="none" w="med" len="med"/>
                      <a:tailEnd type="none" w="med" len="med"/>
                    </a:lnT>
                    <a:lnB w="9525" cap="flat" cmpd="sng" algn="ctr">
                      <a:solidFill>
                        <a:srgbClr val="50C224"/>
                      </a:solidFill>
                      <a:prstDash val="solid"/>
                      <a:round/>
                      <a:headEnd type="none" w="med" len="med"/>
                      <a:tailEnd type="none" w="med" len="med"/>
                    </a:lnB>
                    <a:solidFill>
                      <a:srgbClr val="E6E6E6"/>
                    </a:solidFill>
                  </a:tcPr>
                </a:tc>
                <a:extLst>
                  <a:ext uri="{0D108BD9-81ED-4DB2-BD59-A6C34878D82A}">
                    <a16:rowId xmlns:a16="http://schemas.microsoft.com/office/drawing/2014/main" val="851667322"/>
                  </a:ext>
                </a:extLst>
              </a:tr>
              <a:tr h="378907">
                <a:tc>
                  <a:txBody>
                    <a:bodyPr/>
                    <a:lstStyle/>
                    <a:p>
                      <a:pPr fontAlgn="t"/>
                      <a:r>
                        <a:rPr lang="pt-BR" sz="1600" b="1">
                          <a:effectLst/>
                        </a:rPr>
                        <a:t>$a * $b</a:t>
                      </a:r>
                    </a:p>
                  </a:txBody>
                  <a:tcPr marL="55865" marR="55865" marT="27932" marB="27932">
                    <a:lnL w="9525" cap="flat" cmpd="sng" algn="ctr">
                      <a:solidFill>
                        <a:srgbClr val="50C224"/>
                      </a:solidFill>
                      <a:prstDash val="solid"/>
                      <a:round/>
                      <a:headEnd type="none" w="med" len="med"/>
                      <a:tailEnd type="none" w="med" len="med"/>
                    </a:lnL>
                    <a:lnR w="9525" cap="flat" cmpd="sng" algn="ctr">
                      <a:solidFill>
                        <a:srgbClr val="50C224"/>
                      </a:solidFill>
                      <a:prstDash val="solid"/>
                      <a:round/>
                      <a:headEnd type="none" w="med" len="med"/>
                      <a:tailEnd type="none" w="med" len="med"/>
                    </a:lnR>
                    <a:lnT w="9525" cap="flat" cmpd="sng" algn="ctr">
                      <a:solidFill>
                        <a:srgbClr val="50C224"/>
                      </a:solidFill>
                      <a:prstDash val="solid"/>
                      <a:round/>
                      <a:headEnd type="none" w="med" len="med"/>
                      <a:tailEnd type="none" w="med" len="med"/>
                    </a:lnT>
                    <a:lnB w="9525" cap="flat" cmpd="sng" algn="ctr">
                      <a:solidFill>
                        <a:srgbClr val="D02E25"/>
                      </a:solidFill>
                      <a:prstDash val="solid"/>
                      <a:round/>
                      <a:headEnd type="none" w="med" len="med"/>
                      <a:tailEnd type="none" w="med" len="med"/>
                    </a:lnB>
                    <a:solidFill>
                      <a:srgbClr val="FFFFFF"/>
                    </a:solidFill>
                  </a:tcPr>
                </a:tc>
                <a:tc>
                  <a:txBody>
                    <a:bodyPr/>
                    <a:lstStyle/>
                    <a:p>
                      <a:pPr fontAlgn="t"/>
                      <a:r>
                        <a:rPr lang="pt-BR" sz="1600" b="1">
                          <a:effectLst/>
                        </a:rPr>
                        <a:t>Multiplicação</a:t>
                      </a:r>
                    </a:p>
                  </a:txBody>
                  <a:tcPr marL="55865" marR="55865" marT="27932" marB="27932">
                    <a:lnL w="9525" cap="flat" cmpd="sng" algn="ctr">
                      <a:solidFill>
                        <a:srgbClr val="50C224"/>
                      </a:solidFill>
                      <a:prstDash val="solid"/>
                      <a:round/>
                      <a:headEnd type="none" w="med" len="med"/>
                      <a:tailEnd type="none" w="med" len="med"/>
                    </a:lnL>
                    <a:lnR w="9525" cap="flat" cmpd="sng" algn="ctr">
                      <a:solidFill>
                        <a:srgbClr val="50C224"/>
                      </a:solidFill>
                      <a:prstDash val="solid"/>
                      <a:round/>
                      <a:headEnd type="none" w="med" len="med"/>
                      <a:tailEnd type="none" w="med" len="med"/>
                    </a:lnR>
                    <a:lnT w="9525" cap="flat" cmpd="sng" algn="ctr">
                      <a:solidFill>
                        <a:srgbClr val="50C224"/>
                      </a:solidFill>
                      <a:prstDash val="solid"/>
                      <a:round/>
                      <a:headEnd type="none" w="med" len="med"/>
                      <a:tailEnd type="none" w="med" len="med"/>
                    </a:lnT>
                    <a:lnB w="9525" cap="flat" cmpd="sng" algn="ctr">
                      <a:solidFill>
                        <a:srgbClr val="D02E25"/>
                      </a:solidFill>
                      <a:prstDash val="solid"/>
                      <a:round/>
                      <a:headEnd type="none" w="med" len="med"/>
                      <a:tailEnd type="none" w="med" len="med"/>
                    </a:lnB>
                    <a:solidFill>
                      <a:srgbClr val="FFFFFF"/>
                    </a:solidFill>
                  </a:tcPr>
                </a:tc>
                <a:tc>
                  <a:txBody>
                    <a:bodyPr/>
                    <a:lstStyle/>
                    <a:p>
                      <a:pPr fontAlgn="t"/>
                      <a:r>
                        <a:rPr lang="pt-BR" sz="1600" b="1">
                          <a:effectLst/>
                        </a:rPr>
                        <a:t>Produto de </a:t>
                      </a:r>
                      <a:r>
                        <a:rPr lang="pt-BR" sz="1600" b="1" i="1">
                          <a:effectLst/>
                        </a:rPr>
                        <a:t>$a</a:t>
                      </a:r>
                      <a:r>
                        <a:rPr lang="pt-BR" sz="1600" b="1">
                          <a:effectLst/>
                        </a:rPr>
                        <a:t> e </a:t>
                      </a:r>
                      <a:r>
                        <a:rPr lang="pt-BR" sz="1600" b="1" i="1">
                          <a:effectLst/>
                        </a:rPr>
                        <a:t>$b</a:t>
                      </a:r>
                      <a:r>
                        <a:rPr lang="pt-BR" sz="1600" b="1">
                          <a:effectLst/>
                        </a:rPr>
                        <a:t>.</a:t>
                      </a:r>
                    </a:p>
                  </a:txBody>
                  <a:tcPr marL="55865" marR="55865" marT="27932" marB="27932">
                    <a:lnL w="9525" cap="flat" cmpd="sng" algn="ctr">
                      <a:solidFill>
                        <a:srgbClr val="50C224"/>
                      </a:solidFill>
                      <a:prstDash val="solid"/>
                      <a:round/>
                      <a:headEnd type="none" w="med" len="med"/>
                      <a:tailEnd type="none" w="med" len="med"/>
                    </a:lnL>
                    <a:lnR w="9525" cap="flat" cmpd="sng" algn="ctr">
                      <a:solidFill>
                        <a:srgbClr val="50C224"/>
                      </a:solidFill>
                      <a:prstDash val="solid"/>
                      <a:round/>
                      <a:headEnd type="none" w="med" len="med"/>
                      <a:tailEnd type="none" w="med" len="med"/>
                    </a:lnR>
                    <a:lnT w="9525" cap="flat" cmpd="sng" algn="ctr">
                      <a:solidFill>
                        <a:srgbClr val="50C224"/>
                      </a:solidFill>
                      <a:prstDash val="solid"/>
                      <a:round/>
                      <a:headEnd type="none" w="med" len="med"/>
                      <a:tailEnd type="none" w="med" len="med"/>
                    </a:lnT>
                    <a:lnB w="9525" cap="flat" cmpd="sng" algn="ctr">
                      <a:solidFill>
                        <a:srgbClr val="D02E25"/>
                      </a:solidFill>
                      <a:prstDash val="solid"/>
                      <a:round/>
                      <a:headEnd type="none" w="med" len="med"/>
                      <a:tailEnd type="none" w="med" len="med"/>
                    </a:lnB>
                    <a:solidFill>
                      <a:srgbClr val="FFFFFF"/>
                    </a:solidFill>
                  </a:tcPr>
                </a:tc>
                <a:extLst>
                  <a:ext uri="{0D108BD9-81ED-4DB2-BD59-A6C34878D82A}">
                    <a16:rowId xmlns:a16="http://schemas.microsoft.com/office/drawing/2014/main" val="3050435936"/>
                  </a:ext>
                </a:extLst>
              </a:tr>
              <a:tr h="378907">
                <a:tc>
                  <a:txBody>
                    <a:bodyPr/>
                    <a:lstStyle/>
                    <a:p>
                      <a:pPr fontAlgn="t"/>
                      <a:r>
                        <a:rPr lang="pt-BR" sz="1600" b="1">
                          <a:effectLst/>
                        </a:rPr>
                        <a:t>$a / $b</a:t>
                      </a:r>
                    </a:p>
                  </a:txBody>
                  <a:tcPr marL="55865" marR="55865" marT="27932" marB="27932">
                    <a:lnL w="9525" cap="flat" cmpd="sng" algn="ctr">
                      <a:solidFill>
                        <a:srgbClr val="D02E25"/>
                      </a:solidFill>
                      <a:prstDash val="solid"/>
                      <a:round/>
                      <a:headEnd type="none" w="med" len="med"/>
                      <a:tailEnd type="none" w="med" len="med"/>
                    </a:lnL>
                    <a:lnR w="9525" cap="flat" cmpd="sng" algn="ctr">
                      <a:solidFill>
                        <a:srgbClr val="D02E25"/>
                      </a:solidFill>
                      <a:prstDash val="solid"/>
                      <a:round/>
                      <a:headEnd type="none" w="med" len="med"/>
                      <a:tailEnd type="none" w="med" len="med"/>
                    </a:lnR>
                    <a:lnT w="9525" cap="flat" cmpd="sng" algn="ctr">
                      <a:solidFill>
                        <a:srgbClr val="D02E25"/>
                      </a:solidFill>
                      <a:prstDash val="solid"/>
                      <a:round/>
                      <a:headEnd type="none" w="med" len="med"/>
                      <a:tailEnd type="none" w="med" len="med"/>
                    </a:lnT>
                    <a:lnB w="9525" cap="flat" cmpd="sng" algn="ctr">
                      <a:solidFill>
                        <a:srgbClr val="70C290"/>
                      </a:solidFill>
                      <a:prstDash val="solid"/>
                      <a:round/>
                      <a:headEnd type="none" w="med" len="med"/>
                      <a:tailEnd type="none" w="med" len="med"/>
                    </a:lnB>
                    <a:solidFill>
                      <a:srgbClr val="E6E6E6"/>
                    </a:solidFill>
                  </a:tcPr>
                </a:tc>
                <a:tc>
                  <a:txBody>
                    <a:bodyPr/>
                    <a:lstStyle/>
                    <a:p>
                      <a:pPr fontAlgn="t"/>
                      <a:r>
                        <a:rPr lang="pt-BR" sz="1600" b="1">
                          <a:effectLst/>
                        </a:rPr>
                        <a:t>Divisão</a:t>
                      </a:r>
                    </a:p>
                  </a:txBody>
                  <a:tcPr marL="55865" marR="55865" marT="27932" marB="27932">
                    <a:lnL w="9525" cap="flat" cmpd="sng" algn="ctr">
                      <a:solidFill>
                        <a:srgbClr val="D02E25"/>
                      </a:solidFill>
                      <a:prstDash val="solid"/>
                      <a:round/>
                      <a:headEnd type="none" w="med" len="med"/>
                      <a:tailEnd type="none" w="med" len="med"/>
                    </a:lnL>
                    <a:lnR w="9525" cap="flat" cmpd="sng" algn="ctr">
                      <a:solidFill>
                        <a:srgbClr val="D02E25"/>
                      </a:solidFill>
                      <a:prstDash val="solid"/>
                      <a:round/>
                      <a:headEnd type="none" w="med" len="med"/>
                      <a:tailEnd type="none" w="med" len="med"/>
                    </a:lnR>
                    <a:lnT w="9525" cap="flat" cmpd="sng" algn="ctr">
                      <a:solidFill>
                        <a:srgbClr val="D02E25"/>
                      </a:solidFill>
                      <a:prstDash val="solid"/>
                      <a:round/>
                      <a:headEnd type="none" w="med" len="med"/>
                      <a:tailEnd type="none" w="med" len="med"/>
                    </a:lnT>
                    <a:lnB w="9525" cap="flat" cmpd="sng" algn="ctr">
                      <a:solidFill>
                        <a:srgbClr val="70C290"/>
                      </a:solidFill>
                      <a:prstDash val="solid"/>
                      <a:round/>
                      <a:headEnd type="none" w="med" len="med"/>
                      <a:tailEnd type="none" w="med" len="med"/>
                    </a:lnB>
                    <a:solidFill>
                      <a:srgbClr val="E6E6E6"/>
                    </a:solidFill>
                  </a:tcPr>
                </a:tc>
                <a:tc>
                  <a:txBody>
                    <a:bodyPr/>
                    <a:lstStyle/>
                    <a:p>
                      <a:pPr fontAlgn="t"/>
                      <a:r>
                        <a:rPr lang="pt-BR" sz="1600" b="1">
                          <a:effectLst/>
                        </a:rPr>
                        <a:t>Quociente de </a:t>
                      </a:r>
                      <a:r>
                        <a:rPr lang="pt-BR" sz="1600" b="1" i="1">
                          <a:effectLst/>
                        </a:rPr>
                        <a:t>$a</a:t>
                      </a:r>
                      <a:r>
                        <a:rPr lang="pt-BR" sz="1600" b="1">
                          <a:effectLst/>
                        </a:rPr>
                        <a:t> e </a:t>
                      </a:r>
                      <a:r>
                        <a:rPr lang="pt-BR" sz="1600" b="1" i="1">
                          <a:effectLst/>
                        </a:rPr>
                        <a:t>$b</a:t>
                      </a:r>
                      <a:r>
                        <a:rPr lang="pt-BR" sz="1600" b="1">
                          <a:effectLst/>
                        </a:rPr>
                        <a:t>.</a:t>
                      </a:r>
                    </a:p>
                  </a:txBody>
                  <a:tcPr marL="55865" marR="55865" marT="27932" marB="27932">
                    <a:lnL w="9525" cap="flat" cmpd="sng" algn="ctr">
                      <a:solidFill>
                        <a:srgbClr val="D02E25"/>
                      </a:solidFill>
                      <a:prstDash val="solid"/>
                      <a:round/>
                      <a:headEnd type="none" w="med" len="med"/>
                      <a:tailEnd type="none" w="med" len="med"/>
                    </a:lnL>
                    <a:lnR w="9525" cap="flat" cmpd="sng" algn="ctr">
                      <a:solidFill>
                        <a:srgbClr val="D02E25"/>
                      </a:solidFill>
                      <a:prstDash val="solid"/>
                      <a:round/>
                      <a:headEnd type="none" w="med" len="med"/>
                      <a:tailEnd type="none" w="med" len="med"/>
                    </a:lnR>
                    <a:lnT w="9525" cap="flat" cmpd="sng" algn="ctr">
                      <a:solidFill>
                        <a:srgbClr val="D02E25"/>
                      </a:solidFill>
                      <a:prstDash val="solid"/>
                      <a:round/>
                      <a:headEnd type="none" w="med" len="med"/>
                      <a:tailEnd type="none" w="med" len="med"/>
                    </a:lnT>
                    <a:lnB w="9525" cap="flat" cmpd="sng" algn="ctr">
                      <a:solidFill>
                        <a:srgbClr val="70C290"/>
                      </a:solidFill>
                      <a:prstDash val="solid"/>
                      <a:round/>
                      <a:headEnd type="none" w="med" len="med"/>
                      <a:tailEnd type="none" w="med" len="med"/>
                    </a:lnB>
                    <a:solidFill>
                      <a:srgbClr val="E6E6E6"/>
                    </a:solidFill>
                  </a:tcPr>
                </a:tc>
                <a:extLst>
                  <a:ext uri="{0D108BD9-81ED-4DB2-BD59-A6C34878D82A}">
                    <a16:rowId xmlns:a16="http://schemas.microsoft.com/office/drawing/2014/main" val="1546899595"/>
                  </a:ext>
                </a:extLst>
              </a:tr>
              <a:tr h="378907">
                <a:tc>
                  <a:txBody>
                    <a:bodyPr/>
                    <a:lstStyle/>
                    <a:p>
                      <a:pPr fontAlgn="t"/>
                      <a:r>
                        <a:rPr lang="pt-BR" sz="1600" b="1" dirty="0">
                          <a:effectLst/>
                        </a:rPr>
                        <a:t>$a % $b</a:t>
                      </a:r>
                    </a:p>
                  </a:txBody>
                  <a:tcPr marL="55865" marR="55865" marT="27932" marB="27932">
                    <a:lnL w="9525" cap="flat" cmpd="sng" algn="ctr">
                      <a:solidFill>
                        <a:srgbClr val="70C290"/>
                      </a:solidFill>
                      <a:prstDash val="solid"/>
                      <a:round/>
                      <a:headEnd type="none" w="med" len="med"/>
                      <a:tailEnd type="none" w="med" len="med"/>
                    </a:lnL>
                    <a:lnR w="9525" cap="flat" cmpd="sng" algn="ctr">
                      <a:solidFill>
                        <a:srgbClr val="70C290"/>
                      </a:solidFill>
                      <a:prstDash val="solid"/>
                      <a:round/>
                      <a:headEnd type="none" w="med" len="med"/>
                      <a:tailEnd type="none" w="med" len="med"/>
                    </a:lnR>
                    <a:lnT w="9525" cap="flat" cmpd="sng" algn="ctr">
                      <a:solidFill>
                        <a:srgbClr val="70C290"/>
                      </a:solidFill>
                      <a:prstDash val="solid"/>
                      <a:round/>
                      <a:headEnd type="none" w="med" len="med"/>
                      <a:tailEnd type="none" w="med" len="med"/>
                    </a:lnT>
                    <a:lnB w="9525" cap="flat" cmpd="sng" algn="ctr">
                      <a:solidFill>
                        <a:srgbClr val="B0C390"/>
                      </a:solidFill>
                      <a:prstDash val="solid"/>
                      <a:round/>
                      <a:headEnd type="none" w="med" len="med"/>
                      <a:tailEnd type="none" w="med" len="med"/>
                    </a:lnB>
                    <a:solidFill>
                      <a:srgbClr val="FFFFFF"/>
                    </a:solidFill>
                  </a:tcPr>
                </a:tc>
                <a:tc>
                  <a:txBody>
                    <a:bodyPr/>
                    <a:lstStyle/>
                    <a:p>
                      <a:pPr fontAlgn="t"/>
                      <a:r>
                        <a:rPr lang="pt-BR" sz="1600" b="1">
                          <a:effectLst/>
                        </a:rPr>
                        <a:t>Módulo</a:t>
                      </a:r>
                    </a:p>
                  </a:txBody>
                  <a:tcPr marL="55865" marR="55865" marT="27932" marB="27932">
                    <a:lnL w="9525" cap="flat" cmpd="sng" algn="ctr">
                      <a:solidFill>
                        <a:srgbClr val="70C290"/>
                      </a:solidFill>
                      <a:prstDash val="solid"/>
                      <a:round/>
                      <a:headEnd type="none" w="med" len="med"/>
                      <a:tailEnd type="none" w="med" len="med"/>
                    </a:lnL>
                    <a:lnR w="9525" cap="flat" cmpd="sng" algn="ctr">
                      <a:solidFill>
                        <a:srgbClr val="70C290"/>
                      </a:solidFill>
                      <a:prstDash val="solid"/>
                      <a:round/>
                      <a:headEnd type="none" w="med" len="med"/>
                      <a:tailEnd type="none" w="med" len="med"/>
                    </a:lnR>
                    <a:lnT w="9525" cap="flat" cmpd="sng" algn="ctr">
                      <a:solidFill>
                        <a:srgbClr val="70C290"/>
                      </a:solidFill>
                      <a:prstDash val="solid"/>
                      <a:round/>
                      <a:headEnd type="none" w="med" len="med"/>
                      <a:tailEnd type="none" w="med" len="med"/>
                    </a:lnT>
                    <a:lnB w="9525" cap="flat" cmpd="sng" algn="ctr">
                      <a:solidFill>
                        <a:srgbClr val="B0C390"/>
                      </a:solidFill>
                      <a:prstDash val="solid"/>
                      <a:round/>
                      <a:headEnd type="none" w="med" len="med"/>
                      <a:tailEnd type="none" w="med" len="med"/>
                    </a:lnB>
                    <a:solidFill>
                      <a:srgbClr val="FFFFFF"/>
                    </a:solidFill>
                  </a:tcPr>
                </a:tc>
                <a:tc>
                  <a:txBody>
                    <a:bodyPr/>
                    <a:lstStyle/>
                    <a:p>
                      <a:pPr fontAlgn="t"/>
                      <a:r>
                        <a:rPr lang="pt-BR" sz="1600" b="1">
                          <a:effectLst/>
                        </a:rPr>
                        <a:t>Resto de </a:t>
                      </a:r>
                      <a:r>
                        <a:rPr lang="pt-BR" sz="1600" b="1" i="1">
                          <a:effectLst/>
                        </a:rPr>
                        <a:t>$a</a:t>
                      </a:r>
                      <a:r>
                        <a:rPr lang="pt-BR" sz="1600" b="1">
                          <a:effectLst/>
                        </a:rPr>
                        <a:t> dividido por </a:t>
                      </a:r>
                      <a:r>
                        <a:rPr lang="pt-BR" sz="1600" b="1" i="1">
                          <a:effectLst/>
                        </a:rPr>
                        <a:t>$b</a:t>
                      </a:r>
                      <a:r>
                        <a:rPr lang="pt-BR" sz="1600" b="1">
                          <a:effectLst/>
                        </a:rPr>
                        <a:t>.</a:t>
                      </a:r>
                    </a:p>
                  </a:txBody>
                  <a:tcPr marL="55865" marR="55865" marT="27932" marB="27932">
                    <a:lnL w="9525" cap="flat" cmpd="sng" algn="ctr">
                      <a:solidFill>
                        <a:srgbClr val="70C290"/>
                      </a:solidFill>
                      <a:prstDash val="solid"/>
                      <a:round/>
                      <a:headEnd type="none" w="med" len="med"/>
                      <a:tailEnd type="none" w="med" len="med"/>
                    </a:lnL>
                    <a:lnR w="9525" cap="flat" cmpd="sng" algn="ctr">
                      <a:solidFill>
                        <a:srgbClr val="70C290"/>
                      </a:solidFill>
                      <a:prstDash val="solid"/>
                      <a:round/>
                      <a:headEnd type="none" w="med" len="med"/>
                      <a:tailEnd type="none" w="med" len="med"/>
                    </a:lnR>
                    <a:lnT w="9525" cap="flat" cmpd="sng" algn="ctr">
                      <a:solidFill>
                        <a:srgbClr val="70C290"/>
                      </a:solidFill>
                      <a:prstDash val="solid"/>
                      <a:round/>
                      <a:headEnd type="none" w="med" len="med"/>
                      <a:tailEnd type="none" w="med" len="med"/>
                    </a:lnT>
                    <a:lnB w="9525" cap="flat" cmpd="sng" algn="ctr">
                      <a:solidFill>
                        <a:srgbClr val="B0C390"/>
                      </a:solidFill>
                      <a:prstDash val="solid"/>
                      <a:round/>
                      <a:headEnd type="none" w="med" len="med"/>
                      <a:tailEnd type="none" w="med" len="med"/>
                    </a:lnB>
                    <a:solidFill>
                      <a:srgbClr val="FFFFFF"/>
                    </a:solidFill>
                  </a:tcPr>
                </a:tc>
                <a:extLst>
                  <a:ext uri="{0D108BD9-81ED-4DB2-BD59-A6C34878D82A}">
                    <a16:rowId xmlns:a16="http://schemas.microsoft.com/office/drawing/2014/main" val="288708089"/>
                  </a:ext>
                </a:extLst>
              </a:tr>
              <a:tr h="378907">
                <a:tc>
                  <a:txBody>
                    <a:bodyPr/>
                    <a:lstStyle/>
                    <a:p>
                      <a:pPr fontAlgn="t"/>
                      <a:r>
                        <a:rPr lang="pt-BR" sz="1600" b="1" dirty="0">
                          <a:effectLst/>
                        </a:rPr>
                        <a:t>$a ** $b</a:t>
                      </a:r>
                    </a:p>
                  </a:txBody>
                  <a:tcPr marL="55865" marR="55865" marT="27932" marB="27932">
                    <a:lnL w="9525" cap="flat" cmpd="sng" algn="ctr">
                      <a:solidFill>
                        <a:srgbClr val="B0C390"/>
                      </a:solidFill>
                      <a:prstDash val="solid"/>
                      <a:round/>
                      <a:headEnd type="none" w="med" len="med"/>
                      <a:tailEnd type="none" w="med" len="med"/>
                    </a:lnL>
                    <a:lnR w="9525" cap="flat" cmpd="sng" algn="ctr">
                      <a:solidFill>
                        <a:srgbClr val="B0C390"/>
                      </a:solidFill>
                      <a:prstDash val="solid"/>
                      <a:round/>
                      <a:headEnd type="none" w="med" len="med"/>
                      <a:tailEnd type="none" w="med" len="med"/>
                    </a:lnR>
                    <a:lnT w="9525" cap="flat" cmpd="sng" algn="ctr">
                      <a:solidFill>
                        <a:srgbClr val="B0C390"/>
                      </a:solidFill>
                      <a:prstDash val="solid"/>
                      <a:round/>
                      <a:headEnd type="none" w="med" len="med"/>
                      <a:tailEnd type="none" w="med" len="med"/>
                    </a:lnT>
                    <a:lnB w="9525" cap="flat" cmpd="sng" algn="ctr">
                      <a:solidFill>
                        <a:srgbClr val="B0C390"/>
                      </a:solidFill>
                      <a:prstDash val="solid"/>
                      <a:round/>
                      <a:headEnd type="none" w="med" len="med"/>
                      <a:tailEnd type="none" w="med" len="med"/>
                    </a:lnB>
                    <a:solidFill>
                      <a:srgbClr val="E6E6E6"/>
                    </a:solidFill>
                  </a:tcPr>
                </a:tc>
                <a:tc>
                  <a:txBody>
                    <a:bodyPr/>
                    <a:lstStyle/>
                    <a:p>
                      <a:pPr fontAlgn="t"/>
                      <a:r>
                        <a:rPr lang="pt-BR" sz="1600" b="1">
                          <a:effectLst/>
                        </a:rPr>
                        <a:t>Exponencial</a:t>
                      </a:r>
                    </a:p>
                  </a:txBody>
                  <a:tcPr marL="55865" marR="55865" marT="27932" marB="27932">
                    <a:lnL w="9525" cap="flat" cmpd="sng" algn="ctr">
                      <a:solidFill>
                        <a:srgbClr val="B0C390"/>
                      </a:solidFill>
                      <a:prstDash val="solid"/>
                      <a:round/>
                      <a:headEnd type="none" w="med" len="med"/>
                      <a:tailEnd type="none" w="med" len="med"/>
                    </a:lnL>
                    <a:lnR w="9525" cap="flat" cmpd="sng" algn="ctr">
                      <a:solidFill>
                        <a:srgbClr val="B0C390"/>
                      </a:solidFill>
                      <a:prstDash val="solid"/>
                      <a:round/>
                      <a:headEnd type="none" w="med" len="med"/>
                      <a:tailEnd type="none" w="med" len="med"/>
                    </a:lnR>
                    <a:lnT w="9525" cap="flat" cmpd="sng" algn="ctr">
                      <a:solidFill>
                        <a:srgbClr val="B0C390"/>
                      </a:solidFill>
                      <a:prstDash val="solid"/>
                      <a:round/>
                      <a:headEnd type="none" w="med" len="med"/>
                      <a:tailEnd type="none" w="med" len="med"/>
                    </a:lnT>
                    <a:lnB w="9525" cap="flat" cmpd="sng" algn="ctr">
                      <a:solidFill>
                        <a:srgbClr val="B0C390"/>
                      </a:solidFill>
                      <a:prstDash val="solid"/>
                      <a:round/>
                      <a:headEnd type="none" w="med" len="med"/>
                      <a:tailEnd type="none" w="med" len="med"/>
                    </a:lnB>
                    <a:solidFill>
                      <a:srgbClr val="E6E6E6"/>
                    </a:solidFill>
                  </a:tcPr>
                </a:tc>
                <a:tc>
                  <a:txBody>
                    <a:bodyPr/>
                    <a:lstStyle/>
                    <a:p>
                      <a:pPr fontAlgn="t"/>
                      <a:r>
                        <a:rPr lang="pt-BR" sz="1600" b="1" dirty="0">
                          <a:effectLst/>
                        </a:rPr>
                        <a:t>Resultado de </a:t>
                      </a:r>
                      <a:r>
                        <a:rPr lang="pt-BR" sz="1600" b="1" i="1" dirty="0">
                          <a:effectLst/>
                        </a:rPr>
                        <a:t>$a</a:t>
                      </a:r>
                      <a:r>
                        <a:rPr lang="pt-BR" sz="1600" b="1" dirty="0">
                          <a:effectLst/>
                        </a:rPr>
                        <a:t> elevado a </a:t>
                      </a:r>
                      <a:r>
                        <a:rPr lang="pt-BR" sz="1600" b="1" i="1" dirty="0">
                          <a:effectLst/>
                        </a:rPr>
                        <a:t>$b</a:t>
                      </a:r>
                      <a:r>
                        <a:rPr lang="pt-BR" sz="1600" b="1" dirty="0">
                          <a:effectLst/>
                        </a:rPr>
                        <a:t>.</a:t>
                      </a:r>
                    </a:p>
                  </a:txBody>
                  <a:tcPr marL="55865" marR="55865" marT="27932" marB="27932">
                    <a:lnL w="9525" cap="flat" cmpd="sng" algn="ctr">
                      <a:solidFill>
                        <a:srgbClr val="B0C390"/>
                      </a:solidFill>
                      <a:prstDash val="solid"/>
                      <a:round/>
                      <a:headEnd type="none" w="med" len="med"/>
                      <a:tailEnd type="none" w="med" len="med"/>
                    </a:lnL>
                    <a:lnR w="9525" cap="flat" cmpd="sng" algn="ctr">
                      <a:solidFill>
                        <a:srgbClr val="B0C390"/>
                      </a:solidFill>
                      <a:prstDash val="solid"/>
                      <a:round/>
                      <a:headEnd type="none" w="med" len="med"/>
                      <a:tailEnd type="none" w="med" len="med"/>
                    </a:lnR>
                    <a:lnT w="9525" cap="flat" cmpd="sng" algn="ctr">
                      <a:solidFill>
                        <a:srgbClr val="B0C390"/>
                      </a:solidFill>
                      <a:prstDash val="solid"/>
                      <a:round/>
                      <a:headEnd type="none" w="med" len="med"/>
                      <a:tailEnd type="none" w="med" len="med"/>
                    </a:lnT>
                    <a:lnB w="9525" cap="flat" cmpd="sng" algn="ctr">
                      <a:solidFill>
                        <a:srgbClr val="B0C390"/>
                      </a:solidFill>
                      <a:prstDash val="solid"/>
                      <a:round/>
                      <a:headEnd type="none" w="med" len="med"/>
                      <a:tailEnd type="none" w="med" len="med"/>
                    </a:lnB>
                    <a:solidFill>
                      <a:srgbClr val="E6E6E6"/>
                    </a:solidFill>
                  </a:tcPr>
                </a:tc>
                <a:extLst>
                  <a:ext uri="{0D108BD9-81ED-4DB2-BD59-A6C34878D82A}">
                    <a16:rowId xmlns:a16="http://schemas.microsoft.com/office/drawing/2014/main" val="3773001722"/>
                  </a:ext>
                </a:extLst>
              </a:tr>
            </a:tbl>
          </a:graphicData>
        </a:graphic>
      </p:graphicFrame>
      <p:sp>
        <p:nvSpPr>
          <p:cNvPr id="5" name="CaixaDeTexto 4">
            <a:extLst>
              <a:ext uri="{FF2B5EF4-FFF2-40B4-BE49-F238E27FC236}">
                <a16:creationId xmlns:a16="http://schemas.microsoft.com/office/drawing/2014/main" id="{C8C8FABC-DDB9-9CB9-818B-DA0BCEC631A4}"/>
              </a:ext>
            </a:extLst>
          </p:cNvPr>
          <p:cNvSpPr txBox="1"/>
          <p:nvPr/>
        </p:nvSpPr>
        <p:spPr>
          <a:xfrm>
            <a:off x="537777" y="4643782"/>
            <a:ext cx="10947633" cy="1477328"/>
          </a:xfrm>
          <a:prstGeom prst="rect">
            <a:avLst/>
          </a:prstGeom>
          <a:noFill/>
        </p:spPr>
        <p:txBody>
          <a:bodyPr wrap="square" rtlCol="0">
            <a:spAutoFit/>
          </a:bodyPr>
          <a:lstStyle/>
          <a:p>
            <a:r>
              <a:rPr lang="pt-BR" sz="2400" dirty="0"/>
              <a:t>Os operadores matemáticos como Seno, </a:t>
            </a:r>
            <a:r>
              <a:rPr lang="pt-BR" sz="2400" dirty="0" err="1"/>
              <a:t>Coseno</a:t>
            </a:r>
            <a:r>
              <a:rPr lang="pt-BR" sz="2400" dirty="0"/>
              <a:t>, Tangente e demais, podem ser estudados no link:</a:t>
            </a:r>
          </a:p>
          <a:p>
            <a:r>
              <a:rPr lang="pt-BR" sz="2400" dirty="0">
                <a:hlinkClick r:id="rId2"/>
              </a:rPr>
              <a:t>https://www.php.net/manual/pt_BR/ref.math.php</a:t>
            </a:r>
            <a:endParaRPr lang="pt-BR" sz="2400" dirty="0"/>
          </a:p>
          <a:p>
            <a:endParaRPr lang="pt-BR" dirty="0"/>
          </a:p>
        </p:txBody>
      </p:sp>
    </p:spTree>
    <p:extLst>
      <p:ext uri="{BB962C8B-B14F-4D97-AF65-F5344CB8AC3E}">
        <p14:creationId xmlns:p14="http://schemas.microsoft.com/office/powerpoint/2010/main" val="4153794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4DC2B8-C5E0-B3FB-EE7C-E6A5A60B99CE}"/>
              </a:ext>
            </a:extLst>
          </p:cNvPr>
          <p:cNvSpPr>
            <a:spLocks noGrp="1"/>
          </p:cNvSpPr>
          <p:nvPr>
            <p:ph type="title"/>
          </p:nvPr>
        </p:nvSpPr>
        <p:spPr/>
        <p:txBody>
          <a:bodyPr/>
          <a:lstStyle/>
          <a:p>
            <a:r>
              <a:rPr lang="pt-BR" dirty="0"/>
              <a:t>Operadores Lógicos</a:t>
            </a:r>
          </a:p>
        </p:txBody>
      </p:sp>
      <p:sp>
        <p:nvSpPr>
          <p:cNvPr id="3" name="Espaço Reservado para Conteúdo 2">
            <a:extLst>
              <a:ext uri="{FF2B5EF4-FFF2-40B4-BE49-F238E27FC236}">
                <a16:creationId xmlns:a16="http://schemas.microsoft.com/office/drawing/2014/main" id="{3F2928F9-2A7D-D7CF-3C70-3D9AB3716F13}"/>
              </a:ext>
            </a:extLst>
          </p:cNvPr>
          <p:cNvSpPr>
            <a:spLocks noGrp="1"/>
          </p:cNvSpPr>
          <p:nvPr>
            <p:ph idx="1"/>
          </p:nvPr>
        </p:nvSpPr>
        <p:spPr>
          <a:xfrm>
            <a:off x="364377" y="4792878"/>
            <a:ext cx="11705493" cy="981909"/>
          </a:xfrm>
        </p:spPr>
        <p:txBody>
          <a:bodyPr/>
          <a:lstStyle/>
          <a:p>
            <a:pPr marL="0" indent="0">
              <a:buNone/>
            </a:pPr>
            <a:r>
              <a:rPr lang="pt-BR" dirty="0"/>
              <a:t>Note que o sinal ! Significa negação, ou seja, não</a:t>
            </a:r>
          </a:p>
        </p:txBody>
      </p:sp>
      <p:graphicFrame>
        <p:nvGraphicFramePr>
          <p:cNvPr id="4" name="Tabela 3">
            <a:extLst>
              <a:ext uri="{FF2B5EF4-FFF2-40B4-BE49-F238E27FC236}">
                <a16:creationId xmlns:a16="http://schemas.microsoft.com/office/drawing/2014/main" id="{66818B71-2759-F42F-7553-2DE1D6C69867}"/>
              </a:ext>
            </a:extLst>
          </p:cNvPr>
          <p:cNvGraphicFramePr>
            <a:graphicFrameLocks noGrp="1"/>
          </p:cNvGraphicFramePr>
          <p:nvPr>
            <p:extLst>
              <p:ext uri="{D42A27DB-BD31-4B8C-83A1-F6EECF244321}">
                <p14:modId xmlns:p14="http://schemas.microsoft.com/office/powerpoint/2010/main" val="1327710640"/>
              </p:ext>
            </p:extLst>
          </p:nvPr>
        </p:nvGraphicFramePr>
        <p:xfrm>
          <a:off x="411061" y="1083213"/>
          <a:ext cx="11612126" cy="3566160"/>
        </p:xfrm>
        <a:graphic>
          <a:graphicData uri="http://schemas.openxmlformats.org/drawingml/2006/table">
            <a:tbl>
              <a:tblPr/>
              <a:tblGrid>
                <a:gridCol w="2051100">
                  <a:extLst>
                    <a:ext uri="{9D8B030D-6E8A-4147-A177-3AD203B41FA5}">
                      <a16:colId xmlns:a16="http://schemas.microsoft.com/office/drawing/2014/main" val="513063092"/>
                    </a:ext>
                  </a:extLst>
                </a:gridCol>
                <a:gridCol w="2550843">
                  <a:extLst>
                    <a:ext uri="{9D8B030D-6E8A-4147-A177-3AD203B41FA5}">
                      <a16:colId xmlns:a16="http://schemas.microsoft.com/office/drawing/2014/main" val="1072302122"/>
                    </a:ext>
                  </a:extLst>
                </a:gridCol>
                <a:gridCol w="7010183">
                  <a:extLst>
                    <a:ext uri="{9D8B030D-6E8A-4147-A177-3AD203B41FA5}">
                      <a16:colId xmlns:a16="http://schemas.microsoft.com/office/drawing/2014/main" val="4094082760"/>
                    </a:ext>
                  </a:extLst>
                </a:gridCol>
              </a:tblGrid>
              <a:tr h="0">
                <a:tc>
                  <a:txBody>
                    <a:bodyPr/>
                    <a:lstStyle/>
                    <a:p>
                      <a:pPr algn="l"/>
                      <a:r>
                        <a:rPr lang="pt-BR" sz="2400" dirty="0">
                          <a:effectLst/>
                        </a:rPr>
                        <a:t>Exemplo</a:t>
                      </a:r>
                    </a:p>
                  </a:txBody>
                  <a:tcPr anchor="ctr">
                    <a:lnL w="9525" cap="flat" cmpd="sng" algn="ctr">
                      <a:solidFill>
                        <a:srgbClr val="C4C9DF"/>
                      </a:solidFill>
                      <a:prstDash val="solid"/>
                      <a:round/>
                      <a:headEnd type="none" w="med" len="med"/>
                      <a:tailEnd type="none" w="med" len="med"/>
                    </a:lnL>
                    <a:lnR w="9525" cap="flat" cmpd="sng" algn="ctr">
                      <a:solidFill>
                        <a:srgbClr val="C4C9DF"/>
                      </a:solidFill>
                      <a:prstDash val="solid"/>
                      <a:round/>
                      <a:headEnd type="none" w="med" len="med"/>
                      <a:tailEnd type="none" w="med" len="med"/>
                    </a:lnR>
                    <a:lnT w="9525" cap="flat" cmpd="sng" algn="ctr">
                      <a:solidFill>
                        <a:srgbClr val="C4C9DF"/>
                      </a:solidFill>
                      <a:prstDash val="solid"/>
                      <a:round/>
                      <a:headEnd type="none" w="med" len="med"/>
                      <a:tailEnd type="none" w="med" len="med"/>
                    </a:lnT>
                    <a:lnB w="9525" cap="flat" cmpd="sng" algn="ctr">
                      <a:solidFill>
                        <a:srgbClr val="906A24"/>
                      </a:solidFill>
                      <a:prstDash val="solid"/>
                      <a:round/>
                      <a:headEnd type="none" w="med" len="med"/>
                      <a:tailEnd type="none" w="med" len="med"/>
                    </a:lnB>
                    <a:solidFill>
                      <a:srgbClr val="C4C9DF"/>
                    </a:solidFill>
                  </a:tcPr>
                </a:tc>
                <a:tc>
                  <a:txBody>
                    <a:bodyPr/>
                    <a:lstStyle/>
                    <a:p>
                      <a:pPr algn="l"/>
                      <a:r>
                        <a:rPr lang="pt-BR" sz="2400">
                          <a:effectLst/>
                        </a:rPr>
                        <a:t>Nome</a:t>
                      </a:r>
                    </a:p>
                  </a:txBody>
                  <a:tcPr anchor="ctr">
                    <a:lnL w="9525" cap="flat" cmpd="sng" algn="ctr">
                      <a:solidFill>
                        <a:srgbClr val="C4C9DF"/>
                      </a:solidFill>
                      <a:prstDash val="solid"/>
                      <a:round/>
                      <a:headEnd type="none" w="med" len="med"/>
                      <a:tailEnd type="none" w="med" len="med"/>
                    </a:lnL>
                    <a:lnR w="9525" cap="flat" cmpd="sng" algn="ctr">
                      <a:solidFill>
                        <a:srgbClr val="C4C9DF"/>
                      </a:solidFill>
                      <a:prstDash val="solid"/>
                      <a:round/>
                      <a:headEnd type="none" w="med" len="med"/>
                      <a:tailEnd type="none" w="med" len="med"/>
                    </a:lnR>
                    <a:lnT w="9525" cap="flat" cmpd="sng" algn="ctr">
                      <a:solidFill>
                        <a:srgbClr val="C4C9DF"/>
                      </a:solidFill>
                      <a:prstDash val="solid"/>
                      <a:round/>
                      <a:headEnd type="none" w="med" len="med"/>
                      <a:tailEnd type="none" w="med" len="med"/>
                    </a:lnT>
                    <a:lnB w="9525" cap="flat" cmpd="sng" algn="ctr">
                      <a:solidFill>
                        <a:srgbClr val="906A24"/>
                      </a:solidFill>
                      <a:prstDash val="solid"/>
                      <a:round/>
                      <a:headEnd type="none" w="med" len="med"/>
                      <a:tailEnd type="none" w="med" len="med"/>
                    </a:lnB>
                    <a:solidFill>
                      <a:srgbClr val="C4C9DF"/>
                    </a:solidFill>
                  </a:tcPr>
                </a:tc>
                <a:tc>
                  <a:txBody>
                    <a:bodyPr/>
                    <a:lstStyle/>
                    <a:p>
                      <a:pPr algn="l"/>
                      <a:r>
                        <a:rPr lang="pt-BR" sz="2400">
                          <a:effectLst/>
                        </a:rPr>
                        <a:t>Resultado</a:t>
                      </a:r>
                    </a:p>
                  </a:txBody>
                  <a:tcPr anchor="ctr">
                    <a:lnL w="9525" cap="flat" cmpd="sng" algn="ctr">
                      <a:solidFill>
                        <a:srgbClr val="C4C9DF"/>
                      </a:solidFill>
                      <a:prstDash val="solid"/>
                      <a:round/>
                      <a:headEnd type="none" w="med" len="med"/>
                      <a:tailEnd type="none" w="med" len="med"/>
                    </a:lnL>
                    <a:lnR w="9525" cap="flat" cmpd="sng" algn="ctr">
                      <a:solidFill>
                        <a:srgbClr val="C4C9DF"/>
                      </a:solidFill>
                      <a:prstDash val="solid"/>
                      <a:round/>
                      <a:headEnd type="none" w="med" len="med"/>
                      <a:tailEnd type="none" w="med" len="med"/>
                    </a:lnR>
                    <a:lnT w="9525" cap="flat" cmpd="sng" algn="ctr">
                      <a:solidFill>
                        <a:srgbClr val="C4C9DF"/>
                      </a:solidFill>
                      <a:prstDash val="solid"/>
                      <a:round/>
                      <a:headEnd type="none" w="med" len="med"/>
                      <a:tailEnd type="none" w="med" len="med"/>
                    </a:lnT>
                    <a:lnB w="9525" cap="flat" cmpd="sng" algn="ctr">
                      <a:solidFill>
                        <a:srgbClr val="906A24"/>
                      </a:solidFill>
                      <a:prstDash val="solid"/>
                      <a:round/>
                      <a:headEnd type="none" w="med" len="med"/>
                      <a:tailEnd type="none" w="med" len="med"/>
                    </a:lnB>
                    <a:solidFill>
                      <a:srgbClr val="C4C9DF"/>
                    </a:solidFill>
                  </a:tcPr>
                </a:tc>
                <a:extLst>
                  <a:ext uri="{0D108BD9-81ED-4DB2-BD59-A6C34878D82A}">
                    <a16:rowId xmlns:a16="http://schemas.microsoft.com/office/drawing/2014/main" val="2654975990"/>
                  </a:ext>
                </a:extLst>
              </a:tr>
              <a:tr h="0">
                <a:tc>
                  <a:txBody>
                    <a:bodyPr/>
                    <a:lstStyle/>
                    <a:p>
                      <a:pPr fontAlgn="t"/>
                      <a:r>
                        <a:rPr lang="pt-BR" sz="2400">
                          <a:effectLst/>
                        </a:rPr>
                        <a:t>$a and $b</a:t>
                      </a:r>
                    </a:p>
                  </a:txBody>
                  <a:tcPr>
                    <a:lnL w="9525" cap="flat" cmpd="sng" algn="ctr">
                      <a:solidFill>
                        <a:srgbClr val="906A24"/>
                      </a:solidFill>
                      <a:prstDash val="solid"/>
                      <a:round/>
                      <a:headEnd type="none" w="med" len="med"/>
                      <a:tailEnd type="none" w="med" len="med"/>
                    </a:lnL>
                    <a:lnR w="9525" cap="flat" cmpd="sng" algn="ctr">
                      <a:solidFill>
                        <a:srgbClr val="906A24"/>
                      </a:solidFill>
                      <a:prstDash val="solid"/>
                      <a:round/>
                      <a:headEnd type="none" w="med" len="med"/>
                      <a:tailEnd type="none" w="med" len="med"/>
                    </a:lnR>
                    <a:lnT w="9525" cap="flat" cmpd="sng" algn="ctr">
                      <a:solidFill>
                        <a:srgbClr val="906A24"/>
                      </a:solidFill>
                      <a:prstDash val="solid"/>
                      <a:round/>
                      <a:headEnd type="none" w="med" len="med"/>
                      <a:tailEnd type="none" w="med" len="med"/>
                    </a:lnT>
                    <a:lnB w="9525" cap="flat" cmpd="sng" algn="ctr">
                      <a:solidFill>
                        <a:srgbClr val="D06824"/>
                      </a:solidFill>
                      <a:prstDash val="solid"/>
                      <a:round/>
                      <a:headEnd type="none" w="med" len="med"/>
                      <a:tailEnd type="none" w="med" len="med"/>
                    </a:lnB>
                    <a:solidFill>
                      <a:srgbClr val="FFFFFF"/>
                    </a:solidFill>
                  </a:tcPr>
                </a:tc>
                <a:tc>
                  <a:txBody>
                    <a:bodyPr/>
                    <a:lstStyle/>
                    <a:p>
                      <a:pPr fontAlgn="t"/>
                      <a:r>
                        <a:rPr lang="pt-BR" sz="2400">
                          <a:effectLst/>
                        </a:rPr>
                        <a:t>E</a:t>
                      </a:r>
                    </a:p>
                  </a:txBody>
                  <a:tcPr>
                    <a:lnL w="9525" cap="flat" cmpd="sng" algn="ctr">
                      <a:solidFill>
                        <a:srgbClr val="906A24"/>
                      </a:solidFill>
                      <a:prstDash val="solid"/>
                      <a:round/>
                      <a:headEnd type="none" w="med" len="med"/>
                      <a:tailEnd type="none" w="med" len="med"/>
                    </a:lnL>
                    <a:lnR w="9525" cap="flat" cmpd="sng" algn="ctr">
                      <a:solidFill>
                        <a:srgbClr val="906A24"/>
                      </a:solidFill>
                      <a:prstDash val="solid"/>
                      <a:round/>
                      <a:headEnd type="none" w="med" len="med"/>
                      <a:tailEnd type="none" w="med" len="med"/>
                    </a:lnR>
                    <a:lnT w="9525" cap="flat" cmpd="sng" algn="ctr">
                      <a:solidFill>
                        <a:srgbClr val="906A24"/>
                      </a:solidFill>
                      <a:prstDash val="solid"/>
                      <a:round/>
                      <a:headEnd type="none" w="med" len="med"/>
                      <a:tailEnd type="none" w="med" len="med"/>
                    </a:lnT>
                    <a:lnB w="9525" cap="flat" cmpd="sng" algn="ctr">
                      <a:solidFill>
                        <a:srgbClr val="D06824"/>
                      </a:solidFill>
                      <a:prstDash val="solid"/>
                      <a:round/>
                      <a:headEnd type="none" w="med" len="med"/>
                      <a:tailEnd type="none" w="med" len="med"/>
                    </a:lnB>
                    <a:solidFill>
                      <a:srgbClr val="FFFFFF"/>
                    </a:solidFill>
                  </a:tcPr>
                </a:tc>
                <a:tc>
                  <a:txBody>
                    <a:bodyPr/>
                    <a:lstStyle/>
                    <a:p>
                      <a:pPr fontAlgn="t"/>
                      <a:r>
                        <a:rPr lang="pt-BR" sz="2400" b="1" i="0" dirty="0" err="1">
                          <a:effectLst/>
                        </a:rPr>
                        <a:t>true</a:t>
                      </a:r>
                      <a:r>
                        <a:rPr lang="pt-BR" sz="2400" dirty="0">
                          <a:effectLst/>
                        </a:rPr>
                        <a:t> se ambos </a:t>
                      </a:r>
                      <a:r>
                        <a:rPr lang="pt-BR" sz="2400" i="1" dirty="0">
                          <a:effectLst/>
                        </a:rPr>
                        <a:t>$a</a:t>
                      </a:r>
                      <a:r>
                        <a:rPr lang="pt-BR" sz="2400" dirty="0">
                          <a:effectLst/>
                        </a:rPr>
                        <a:t> e </a:t>
                      </a:r>
                      <a:r>
                        <a:rPr lang="pt-BR" sz="2400" i="1" dirty="0">
                          <a:effectLst/>
                        </a:rPr>
                        <a:t>$b</a:t>
                      </a:r>
                      <a:r>
                        <a:rPr lang="pt-BR" sz="2400" dirty="0">
                          <a:effectLst/>
                        </a:rPr>
                        <a:t> é </a:t>
                      </a:r>
                      <a:r>
                        <a:rPr lang="pt-BR" sz="2400" b="1" i="0" dirty="0" err="1">
                          <a:effectLst/>
                        </a:rPr>
                        <a:t>true</a:t>
                      </a:r>
                      <a:r>
                        <a:rPr lang="pt-BR" sz="2400" dirty="0">
                          <a:effectLst/>
                        </a:rPr>
                        <a:t>.</a:t>
                      </a:r>
                    </a:p>
                  </a:txBody>
                  <a:tcPr>
                    <a:lnL w="9525" cap="flat" cmpd="sng" algn="ctr">
                      <a:solidFill>
                        <a:srgbClr val="906A24"/>
                      </a:solidFill>
                      <a:prstDash val="solid"/>
                      <a:round/>
                      <a:headEnd type="none" w="med" len="med"/>
                      <a:tailEnd type="none" w="med" len="med"/>
                    </a:lnL>
                    <a:lnR w="9525" cap="flat" cmpd="sng" algn="ctr">
                      <a:solidFill>
                        <a:srgbClr val="906A24"/>
                      </a:solidFill>
                      <a:prstDash val="solid"/>
                      <a:round/>
                      <a:headEnd type="none" w="med" len="med"/>
                      <a:tailEnd type="none" w="med" len="med"/>
                    </a:lnR>
                    <a:lnT w="9525" cap="flat" cmpd="sng" algn="ctr">
                      <a:solidFill>
                        <a:srgbClr val="906A24"/>
                      </a:solidFill>
                      <a:prstDash val="solid"/>
                      <a:round/>
                      <a:headEnd type="none" w="med" len="med"/>
                      <a:tailEnd type="none" w="med" len="med"/>
                    </a:lnT>
                    <a:lnB w="9525" cap="flat" cmpd="sng" algn="ctr">
                      <a:solidFill>
                        <a:srgbClr val="D06824"/>
                      </a:solidFill>
                      <a:prstDash val="solid"/>
                      <a:round/>
                      <a:headEnd type="none" w="med" len="med"/>
                      <a:tailEnd type="none" w="med" len="med"/>
                    </a:lnB>
                    <a:solidFill>
                      <a:srgbClr val="FFFFFF"/>
                    </a:solidFill>
                  </a:tcPr>
                </a:tc>
                <a:extLst>
                  <a:ext uri="{0D108BD9-81ED-4DB2-BD59-A6C34878D82A}">
                    <a16:rowId xmlns:a16="http://schemas.microsoft.com/office/drawing/2014/main" val="2950165784"/>
                  </a:ext>
                </a:extLst>
              </a:tr>
              <a:tr h="0">
                <a:tc>
                  <a:txBody>
                    <a:bodyPr/>
                    <a:lstStyle/>
                    <a:p>
                      <a:pPr fontAlgn="t"/>
                      <a:r>
                        <a:rPr lang="pt-BR" sz="2400">
                          <a:effectLst/>
                        </a:rPr>
                        <a:t>$a or $b</a:t>
                      </a:r>
                    </a:p>
                  </a:txBody>
                  <a:tcPr>
                    <a:lnL w="9525" cap="flat" cmpd="sng" algn="ctr">
                      <a:solidFill>
                        <a:srgbClr val="D06824"/>
                      </a:solidFill>
                      <a:prstDash val="solid"/>
                      <a:round/>
                      <a:headEnd type="none" w="med" len="med"/>
                      <a:tailEnd type="none" w="med" len="med"/>
                    </a:lnL>
                    <a:lnR w="9525" cap="flat" cmpd="sng" algn="ctr">
                      <a:solidFill>
                        <a:srgbClr val="D06824"/>
                      </a:solidFill>
                      <a:prstDash val="solid"/>
                      <a:round/>
                      <a:headEnd type="none" w="med" len="med"/>
                      <a:tailEnd type="none" w="med" len="med"/>
                    </a:lnR>
                    <a:lnT w="9525" cap="flat" cmpd="sng" algn="ctr">
                      <a:solidFill>
                        <a:srgbClr val="D06824"/>
                      </a:solidFill>
                      <a:prstDash val="solid"/>
                      <a:round/>
                      <a:headEnd type="none" w="med" len="med"/>
                      <a:tailEnd type="none" w="med" len="med"/>
                    </a:lnT>
                    <a:lnB w="9525" cap="flat" cmpd="sng" algn="ctr">
                      <a:solidFill>
                        <a:srgbClr val="107A24"/>
                      </a:solidFill>
                      <a:prstDash val="solid"/>
                      <a:round/>
                      <a:headEnd type="none" w="med" len="med"/>
                      <a:tailEnd type="none" w="med" len="med"/>
                    </a:lnB>
                    <a:solidFill>
                      <a:srgbClr val="E6E6E6"/>
                    </a:solidFill>
                  </a:tcPr>
                </a:tc>
                <a:tc>
                  <a:txBody>
                    <a:bodyPr/>
                    <a:lstStyle/>
                    <a:p>
                      <a:pPr fontAlgn="t"/>
                      <a:r>
                        <a:rPr lang="pt-BR" sz="2400">
                          <a:effectLst/>
                        </a:rPr>
                        <a:t>OU</a:t>
                      </a:r>
                    </a:p>
                  </a:txBody>
                  <a:tcPr>
                    <a:lnL w="9525" cap="flat" cmpd="sng" algn="ctr">
                      <a:solidFill>
                        <a:srgbClr val="D06824"/>
                      </a:solidFill>
                      <a:prstDash val="solid"/>
                      <a:round/>
                      <a:headEnd type="none" w="med" len="med"/>
                      <a:tailEnd type="none" w="med" len="med"/>
                    </a:lnL>
                    <a:lnR w="9525" cap="flat" cmpd="sng" algn="ctr">
                      <a:solidFill>
                        <a:srgbClr val="D06824"/>
                      </a:solidFill>
                      <a:prstDash val="solid"/>
                      <a:round/>
                      <a:headEnd type="none" w="med" len="med"/>
                      <a:tailEnd type="none" w="med" len="med"/>
                    </a:lnR>
                    <a:lnT w="9525" cap="flat" cmpd="sng" algn="ctr">
                      <a:solidFill>
                        <a:srgbClr val="D06824"/>
                      </a:solidFill>
                      <a:prstDash val="solid"/>
                      <a:round/>
                      <a:headEnd type="none" w="med" len="med"/>
                      <a:tailEnd type="none" w="med" len="med"/>
                    </a:lnT>
                    <a:lnB w="9525" cap="flat" cmpd="sng" algn="ctr">
                      <a:solidFill>
                        <a:srgbClr val="107A24"/>
                      </a:solidFill>
                      <a:prstDash val="solid"/>
                      <a:round/>
                      <a:headEnd type="none" w="med" len="med"/>
                      <a:tailEnd type="none" w="med" len="med"/>
                    </a:lnB>
                    <a:solidFill>
                      <a:srgbClr val="E6E6E6"/>
                    </a:solidFill>
                  </a:tcPr>
                </a:tc>
                <a:tc>
                  <a:txBody>
                    <a:bodyPr/>
                    <a:lstStyle/>
                    <a:p>
                      <a:pPr fontAlgn="t"/>
                      <a:r>
                        <a:rPr lang="pt-BR" sz="2400" b="1" i="0">
                          <a:effectLst/>
                        </a:rPr>
                        <a:t>true</a:t>
                      </a:r>
                      <a:r>
                        <a:rPr lang="pt-BR" sz="2400">
                          <a:effectLst/>
                        </a:rPr>
                        <a:t> se </a:t>
                      </a:r>
                      <a:r>
                        <a:rPr lang="pt-BR" sz="2400" i="1">
                          <a:effectLst/>
                        </a:rPr>
                        <a:t>$a</a:t>
                      </a:r>
                      <a:r>
                        <a:rPr lang="pt-BR" sz="2400">
                          <a:effectLst/>
                        </a:rPr>
                        <a:t> ou </a:t>
                      </a:r>
                      <a:r>
                        <a:rPr lang="pt-BR" sz="2400" i="1">
                          <a:effectLst/>
                        </a:rPr>
                        <a:t>$b</a:t>
                      </a:r>
                      <a:r>
                        <a:rPr lang="pt-BR" sz="2400">
                          <a:effectLst/>
                        </a:rPr>
                        <a:t> é </a:t>
                      </a:r>
                      <a:r>
                        <a:rPr lang="pt-BR" sz="2400" b="1" i="0">
                          <a:effectLst/>
                        </a:rPr>
                        <a:t>true</a:t>
                      </a:r>
                      <a:r>
                        <a:rPr lang="pt-BR" sz="2400">
                          <a:effectLst/>
                        </a:rPr>
                        <a:t>.</a:t>
                      </a:r>
                    </a:p>
                  </a:txBody>
                  <a:tcPr>
                    <a:lnL w="9525" cap="flat" cmpd="sng" algn="ctr">
                      <a:solidFill>
                        <a:srgbClr val="D06824"/>
                      </a:solidFill>
                      <a:prstDash val="solid"/>
                      <a:round/>
                      <a:headEnd type="none" w="med" len="med"/>
                      <a:tailEnd type="none" w="med" len="med"/>
                    </a:lnL>
                    <a:lnR w="9525" cap="flat" cmpd="sng" algn="ctr">
                      <a:solidFill>
                        <a:srgbClr val="D06824"/>
                      </a:solidFill>
                      <a:prstDash val="solid"/>
                      <a:round/>
                      <a:headEnd type="none" w="med" len="med"/>
                      <a:tailEnd type="none" w="med" len="med"/>
                    </a:lnR>
                    <a:lnT w="9525" cap="flat" cmpd="sng" algn="ctr">
                      <a:solidFill>
                        <a:srgbClr val="D06824"/>
                      </a:solidFill>
                      <a:prstDash val="solid"/>
                      <a:round/>
                      <a:headEnd type="none" w="med" len="med"/>
                      <a:tailEnd type="none" w="med" len="med"/>
                    </a:lnT>
                    <a:lnB w="9525" cap="flat" cmpd="sng" algn="ctr">
                      <a:solidFill>
                        <a:srgbClr val="107A24"/>
                      </a:solidFill>
                      <a:prstDash val="solid"/>
                      <a:round/>
                      <a:headEnd type="none" w="med" len="med"/>
                      <a:tailEnd type="none" w="med" len="med"/>
                    </a:lnB>
                    <a:solidFill>
                      <a:srgbClr val="E6E6E6"/>
                    </a:solidFill>
                  </a:tcPr>
                </a:tc>
                <a:extLst>
                  <a:ext uri="{0D108BD9-81ED-4DB2-BD59-A6C34878D82A}">
                    <a16:rowId xmlns:a16="http://schemas.microsoft.com/office/drawing/2014/main" val="3988201674"/>
                  </a:ext>
                </a:extLst>
              </a:tr>
              <a:tr h="0">
                <a:tc>
                  <a:txBody>
                    <a:bodyPr/>
                    <a:lstStyle/>
                    <a:p>
                      <a:pPr fontAlgn="t"/>
                      <a:r>
                        <a:rPr lang="pt-BR" sz="2400">
                          <a:effectLst/>
                        </a:rPr>
                        <a:t>$a xor $b</a:t>
                      </a:r>
                    </a:p>
                  </a:txBody>
                  <a:tcPr>
                    <a:lnL w="9525" cap="flat" cmpd="sng" algn="ctr">
                      <a:solidFill>
                        <a:srgbClr val="107A24"/>
                      </a:solidFill>
                      <a:prstDash val="solid"/>
                      <a:round/>
                      <a:headEnd type="none" w="med" len="med"/>
                      <a:tailEnd type="none" w="med" len="med"/>
                    </a:lnL>
                    <a:lnR w="9525" cap="flat" cmpd="sng" algn="ctr">
                      <a:solidFill>
                        <a:srgbClr val="107A24"/>
                      </a:solidFill>
                      <a:prstDash val="solid"/>
                      <a:round/>
                      <a:headEnd type="none" w="med" len="med"/>
                      <a:tailEnd type="none" w="med" len="med"/>
                    </a:lnR>
                    <a:lnT w="9525" cap="flat" cmpd="sng" algn="ctr">
                      <a:solidFill>
                        <a:srgbClr val="107A24"/>
                      </a:solidFill>
                      <a:prstDash val="solid"/>
                      <a:round/>
                      <a:headEnd type="none" w="med" len="med"/>
                      <a:tailEnd type="none" w="med" len="med"/>
                    </a:lnT>
                    <a:lnB w="9525" cap="flat" cmpd="sng" algn="ctr">
                      <a:solidFill>
                        <a:srgbClr val="508224"/>
                      </a:solidFill>
                      <a:prstDash val="solid"/>
                      <a:round/>
                      <a:headEnd type="none" w="med" len="med"/>
                      <a:tailEnd type="none" w="med" len="med"/>
                    </a:lnB>
                    <a:solidFill>
                      <a:srgbClr val="FFFFFF"/>
                    </a:solidFill>
                  </a:tcPr>
                </a:tc>
                <a:tc>
                  <a:txBody>
                    <a:bodyPr/>
                    <a:lstStyle/>
                    <a:p>
                      <a:pPr fontAlgn="t"/>
                      <a:r>
                        <a:rPr lang="pt-BR" sz="2400">
                          <a:effectLst/>
                        </a:rPr>
                        <a:t>XOR</a:t>
                      </a:r>
                    </a:p>
                  </a:txBody>
                  <a:tcPr>
                    <a:lnL w="9525" cap="flat" cmpd="sng" algn="ctr">
                      <a:solidFill>
                        <a:srgbClr val="107A24"/>
                      </a:solidFill>
                      <a:prstDash val="solid"/>
                      <a:round/>
                      <a:headEnd type="none" w="med" len="med"/>
                      <a:tailEnd type="none" w="med" len="med"/>
                    </a:lnL>
                    <a:lnR w="9525" cap="flat" cmpd="sng" algn="ctr">
                      <a:solidFill>
                        <a:srgbClr val="107A24"/>
                      </a:solidFill>
                      <a:prstDash val="solid"/>
                      <a:round/>
                      <a:headEnd type="none" w="med" len="med"/>
                      <a:tailEnd type="none" w="med" len="med"/>
                    </a:lnR>
                    <a:lnT w="9525" cap="flat" cmpd="sng" algn="ctr">
                      <a:solidFill>
                        <a:srgbClr val="107A24"/>
                      </a:solidFill>
                      <a:prstDash val="solid"/>
                      <a:round/>
                      <a:headEnd type="none" w="med" len="med"/>
                      <a:tailEnd type="none" w="med" len="med"/>
                    </a:lnT>
                    <a:lnB w="9525" cap="flat" cmpd="sng" algn="ctr">
                      <a:solidFill>
                        <a:srgbClr val="508224"/>
                      </a:solidFill>
                      <a:prstDash val="solid"/>
                      <a:round/>
                      <a:headEnd type="none" w="med" len="med"/>
                      <a:tailEnd type="none" w="med" len="med"/>
                    </a:lnB>
                    <a:solidFill>
                      <a:srgbClr val="FFFFFF"/>
                    </a:solidFill>
                  </a:tcPr>
                </a:tc>
                <a:tc>
                  <a:txBody>
                    <a:bodyPr/>
                    <a:lstStyle/>
                    <a:p>
                      <a:pPr fontAlgn="t"/>
                      <a:r>
                        <a:rPr lang="pt-BR" sz="2400" b="1" i="0">
                          <a:effectLst/>
                        </a:rPr>
                        <a:t>true</a:t>
                      </a:r>
                      <a:r>
                        <a:rPr lang="pt-BR" sz="2400">
                          <a:effectLst/>
                        </a:rPr>
                        <a:t> se </a:t>
                      </a:r>
                      <a:r>
                        <a:rPr lang="pt-BR" sz="2400" i="1">
                          <a:effectLst/>
                        </a:rPr>
                        <a:t>$a</a:t>
                      </a:r>
                      <a:r>
                        <a:rPr lang="pt-BR" sz="2400">
                          <a:effectLst/>
                        </a:rPr>
                        <a:t> ou </a:t>
                      </a:r>
                      <a:r>
                        <a:rPr lang="pt-BR" sz="2400" i="1">
                          <a:effectLst/>
                        </a:rPr>
                        <a:t>$b</a:t>
                      </a:r>
                      <a:r>
                        <a:rPr lang="pt-BR" sz="2400">
                          <a:effectLst/>
                        </a:rPr>
                        <a:t> é </a:t>
                      </a:r>
                      <a:r>
                        <a:rPr lang="pt-BR" sz="2400" b="1" i="0">
                          <a:effectLst/>
                        </a:rPr>
                        <a:t>true</a:t>
                      </a:r>
                      <a:r>
                        <a:rPr lang="pt-BR" sz="2400">
                          <a:effectLst/>
                        </a:rPr>
                        <a:t>, mas não ambos ao mesmo tempo.</a:t>
                      </a:r>
                    </a:p>
                  </a:txBody>
                  <a:tcPr>
                    <a:lnL w="9525" cap="flat" cmpd="sng" algn="ctr">
                      <a:solidFill>
                        <a:srgbClr val="107A24"/>
                      </a:solidFill>
                      <a:prstDash val="solid"/>
                      <a:round/>
                      <a:headEnd type="none" w="med" len="med"/>
                      <a:tailEnd type="none" w="med" len="med"/>
                    </a:lnL>
                    <a:lnR w="9525" cap="flat" cmpd="sng" algn="ctr">
                      <a:solidFill>
                        <a:srgbClr val="107A24"/>
                      </a:solidFill>
                      <a:prstDash val="solid"/>
                      <a:round/>
                      <a:headEnd type="none" w="med" len="med"/>
                      <a:tailEnd type="none" w="med" len="med"/>
                    </a:lnR>
                    <a:lnT w="9525" cap="flat" cmpd="sng" algn="ctr">
                      <a:solidFill>
                        <a:srgbClr val="107A24"/>
                      </a:solidFill>
                      <a:prstDash val="solid"/>
                      <a:round/>
                      <a:headEnd type="none" w="med" len="med"/>
                      <a:tailEnd type="none" w="med" len="med"/>
                    </a:lnT>
                    <a:lnB w="9525" cap="flat" cmpd="sng" algn="ctr">
                      <a:solidFill>
                        <a:srgbClr val="508224"/>
                      </a:solidFill>
                      <a:prstDash val="solid"/>
                      <a:round/>
                      <a:headEnd type="none" w="med" len="med"/>
                      <a:tailEnd type="none" w="med" len="med"/>
                    </a:lnB>
                    <a:solidFill>
                      <a:srgbClr val="FFFFFF"/>
                    </a:solidFill>
                  </a:tcPr>
                </a:tc>
                <a:extLst>
                  <a:ext uri="{0D108BD9-81ED-4DB2-BD59-A6C34878D82A}">
                    <a16:rowId xmlns:a16="http://schemas.microsoft.com/office/drawing/2014/main" val="1539967063"/>
                  </a:ext>
                </a:extLst>
              </a:tr>
              <a:tr h="0">
                <a:tc>
                  <a:txBody>
                    <a:bodyPr/>
                    <a:lstStyle/>
                    <a:p>
                      <a:pPr fontAlgn="t"/>
                      <a:r>
                        <a:rPr lang="pt-BR" sz="2400">
                          <a:effectLst/>
                        </a:rPr>
                        <a:t>! $a</a:t>
                      </a:r>
                    </a:p>
                  </a:txBody>
                  <a:tcPr>
                    <a:lnL w="9525" cap="flat" cmpd="sng" algn="ctr">
                      <a:solidFill>
                        <a:srgbClr val="508224"/>
                      </a:solidFill>
                      <a:prstDash val="solid"/>
                      <a:round/>
                      <a:headEnd type="none" w="med" len="med"/>
                      <a:tailEnd type="none" w="med" len="med"/>
                    </a:lnL>
                    <a:lnR w="9525" cap="flat" cmpd="sng" algn="ctr">
                      <a:solidFill>
                        <a:srgbClr val="508224"/>
                      </a:solidFill>
                      <a:prstDash val="solid"/>
                      <a:round/>
                      <a:headEnd type="none" w="med" len="med"/>
                      <a:tailEnd type="none" w="med" len="med"/>
                    </a:lnR>
                    <a:lnT w="9525" cap="flat" cmpd="sng" algn="ctr">
                      <a:solidFill>
                        <a:srgbClr val="508224"/>
                      </a:solidFill>
                      <a:prstDash val="solid"/>
                      <a:round/>
                      <a:headEnd type="none" w="med" len="med"/>
                      <a:tailEnd type="none" w="med" len="med"/>
                    </a:lnT>
                    <a:lnB w="9525" cap="flat" cmpd="sng" algn="ctr">
                      <a:solidFill>
                        <a:srgbClr val="508624"/>
                      </a:solidFill>
                      <a:prstDash val="solid"/>
                      <a:round/>
                      <a:headEnd type="none" w="med" len="med"/>
                      <a:tailEnd type="none" w="med" len="med"/>
                    </a:lnB>
                    <a:solidFill>
                      <a:srgbClr val="E6E6E6"/>
                    </a:solidFill>
                  </a:tcPr>
                </a:tc>
                <a:tc>
                  <a:txBody>
                    <a:bodyPr/>
                    <a:lstStyle/>
                    <a:p>
                      <a:pPr fontAlgn="t"/>
                      <a:r>
                        <a:rPr lang="pt-BR" sz="2400">
                          <a:effectLst/>
                        </a:rPr>
                        <a:t>Não</a:t>
                      </a:r>
                    </a:p>
                  </a:txBody>
                  <a:tcPr>
                    <a:lnL w="9525" cap="flat" cmpd="sng" algn="ctr">
                      <a:solidFill>
                        <a:srgbClr val="508224"/>
                      </a:solidFill>
                      <a:prstDash val="solid"/>
                      <a:round/>
                      <a:headEnd type="none" w="med" len="med"/>
                      <a:tailEnd type="none" w="med" len="med"/>
                    </a:lnL>
                    <a:lnR w="9525" cap="flat" cmpd="sng" algn="ctr">
                      <a:solidFill>
                        <a:srgbClr val="508224"/>
                      </a:solidFill>
                      <a:prstDash val="solid"/>
                      <a:round/>
                      <a:headEnd type="none" w="med" len="med"/>
                      <a:tailEnd type="none" w="med" len="med"/>
                    </a:lnR>
                    <a:lnT w="9525" cap="flat" cmpd="sng" algn="ctr">
                      <a:solidFill>
                        <a:srgbClr val="508224"/>
                      </a:solidFill>
                      <a:prstDash val="solid"/>
                      <a:round/>
                      <a:headEnd type="none" w="med" len="med"/>
                      <a:tailEnd type="none" w="med" len="med"/>
                    </a:lnT>
                    <a:lnB w="9525" cap="flat" cmpd="sng" algn="ctr">
                      <a:solidFill>
                        <a:srgbClr val="508624"/>
                      </a:solidFill>
                      <a:prstDash val="solid"/>
                      <a:round/>
                      <a:headEnd type="none" w="med" len="med"/>
                      <a:tailEnd type="none" w="med" len="med"/>
                    </a:lnB>
                    <a:solidFill>
                      <a:srgbClr val="E6E6E6"/>
                    </a:solidFill>
                  </a:tcPr>
                </a:tc>
                <a:tc>
                  <a:txBody>
                    <a:bodyPr/>
                    <a:lstStyle/>
                    <a:p>
                      <a:pPr fontAlgn="t"/>
                      <a:r>
                        <a:rPr lang="pt-BR" sz="2400" b="1" i="0">
                          <a:effectLst/>
                        </a:rPr>
                        <a:t>true</a:t>
                      </a:r>
                      <a:r>
                        <a:rPr lang="pt-BR" sz="2400">
                          <a:effectLst/>
                        </a:rPr>
                        <a:t> se </a:t>
                      </a:r>
                      <a:r>
                        <a:rPr lang="pt-BR" sz="2400" i="1">
                          <a:effectLst/>
                        </a:rPr>
                        <a:t>$a</a:t>
                      </a:r>
                      <a:r>
                        <a:rPr lang="pt-BR" sz="2400">
                          <a:effectLst/>
                        </a:rPr>
                        <a:t> não é </a:t>
                      </a:r>
                      <a:r>
                        <a:rPr lang="pt-BR" sz="2400" b="1" i="0">
                          <a:effectLst/>
                        </a:rPr>
                        <a:t>true</a:t>
                      </a:r>
                      <a:r>
                        <a:rPr lang="pt-BR" sz="2400">
                          <a:effectLst/>
                        </a:rPr>
                        <a:t>.</a:t>
                      </a:r>
                    </a:p>
                  </a:txBody>
                  <a:tcPr>
                    <a:lnL w="9525" cap="flat" cmpd="sng" algn="ctr">
                      <a:solidFill>
                        <a:srgbClr val="508224"/>
                      </a:solidFill>
                      <a:prstDash val="solid"/>
                      <a:round/>
                      <a:headEnd type="none" w="med" len="med"/>
                      <a:tailEnd type="none" w="med" len="med"/>
                    </a:lnL>
                    <a:lnR w="9525" cap="flat" cmpd="sng" algn="ctr">
                      <a:solidFill>
                        <a:srgbClr val="508224"/>
                      </a:solidFill>
                      <a:prstDash val="solid"/>
                      <a:round/>
                      <a:headEnd type="none" w="med" len="med"/>
                      <a:tailEnd type="none" w="med" len="med"/>
                    </a:lnR>
                    <a:lnT w="9525" cap="flat" cmpd="sng" algn="ctr">
                      <a:solidFill>
                        <a:srgbClr val="508224"/>
                      </a:solidFill>
                      <a:prstDash val="solid"/>
                      <a:round/>
                      <a:headEnd type="none" w="med" len="med"/>
                      <a:tailEnd type="none" w="med" len="med"/>
                    </a:lnT>
                    <a:lnB w="9525" cap="flat" cmpd="sng" algn="ctr">
                      <a:solidFill>
                        <a:srgbClr val="508624"/>
                      </a:solidFill>
                      <a:prstDash val="solid"/>
                      <a:round/>
                      <a:headEnd type="none" w="med" len="med"/>
                      <a:tailEnd type="none" w="med" len="med"/>
                    </a:lnB>
                    <a:solidFill>
                      <a:srgbClr val="E6E6E6"/>
                    </a:solidFill>
                  </a:tcPr>
                </a:tc>
                <a:extLst>
                  <a:ext uri="{0D108BD9-81ED-4DB2-BD59-A6C34878D82A}">
                    <a16:rowId xmlns:a16="http://schemas.microsoft.com/office/drawing/2014/main" val="733515228"/>
                  </a:ext>
                </a:extLst>
              </a:tr>
              <a:tr h="0">
                <a:tc>
                  <a:txBody>
                    <a:bodyPr/>
                    <a:lstStyle/>
                    <a:p>
                      <a:pPr fontAlgn="t"/>
                      <a:r>
                        <a:rPr lang="pt-BR" sz="2400">
                          <a:effectLst/>
                        </a:rPr>
                        <a:t>$a &amp;&amp; $b</a:t>
                      </a:r>
                    </a:p>
                  </a:txBody>
                  <a:tcPr>
                    <a:lnL w="9525" cap="flat" cmpd="sng" algn="ctr">
                      <a:solidFill>
                        <a:srgbClr val="508624"/>
                      </a:solidFill>
                      <a:prstDash val="solid"/>
                      <a:round/>
                      <a:headEnd type="none" w="med" len="med"/>
                      <a:tailEnd type="none" w="med" len="med"/>
                    </a:lnL>
                    <a:lnR w="9525" cap="flat" cmpd="sng" algn="ctr">
                      <a:solidFill>
                        <a:srgbClr val="508624"/>
                      </a:solidFill>
                      <a:prstDash val="solid"/>
                      <a:round/>
                      <a:headEnd type="none" w="med" len="med"/>
                      <a:tailEnd type="none" w="med" len="med"/>
                    </a:lnR>
                    <a:lnT w="9525" cap="flat" cmpd="sng" algn="ctr">
                      <a:solidFill>
                        <a:srgbClr val="508624"/>
                      </a:solidFill>
                      <a:prstDash val="solid"/>
                      <a:round/>
                      <a:headEnd type="none" w="med" len="med"/>
                      <a:tailEnd type="none" w="med" len="med"/>
                    </a:lnT>
                    <a:lnB w="9525" cap="flat" cmpd="sng" algn="ctr">
                      <a:solidFill>
                        <a:srgbClr val="D08E24"/>
                      </a:solidFill>
                      <a:prstDash val="solid"/>
                      <a:round/>
                      <a:headEnd type="none" w="med" len="med"/>
                      <a:tailEnd type="none" w="med" len="med"/>
                    </a:lnB>
                    <a:solidFill>
                      <a:srgbClr val="FFFFFF"/>
                    </a:solidFill>
                  </a:tcPr>
                </a:tc>
                <a:tc>
                  <a:txBody>
                    <a:bodyPr/>
                    <a:lstStyle/>
                    <a:p>
                      <a:pPr fontAlgn="t"/>
                      <a:r>
                        <a:rPr lang="pt-BR" sz="2400">
                          <a:effectLst/>
                        </a:rPr>
                        <a:t>E</a:t>
                      </a:r>
                    </a:p>
                  </a:txBody>
                  <a:tcPr>
                    <a:lnL w="9525" cap="flat" cmpd="sng" algn="ctr">
                      <a:solidFill>
                        <a:srgbClr val="508624"/>
                      </a:solidFill>
                      <a:prstDash val="solid"/>
                      <a:round/>
                      <a:headEnd type="none" w="med" len="med"/>
                      <a:tailEnd type="none" w="med" len="med"/>
                    </a:lnL>
                    <a:lnR w="9525" cap="flat" cmpd="sng" algn="ctr">
                      <a:solidFill>
                        <a:srgbClr val="508624"/>
                      </a:solidFill>
                      <a:prstDash val="solid"/>
                      <a:round/>
                      <a:headEnd type="none" w="med" len="med"/>
                      <a:tailEnd type="none" w="med" len="med"/>
                    </a:lnR>
                    <a:lnT w="9525" cap="flat" cmpd="sng" algn="ctr">
                      <a:solidFill>
                        <a:srgbClr val="508624"/>
                      </a:solidFill>
                      <a:prstDash val="solid"/>
                      <a:round/>
                      <a:headEnd type="none" w="med" len="med"/>
                      <a:tailEnd type="none" w="med" len="med"/>
                    </a:lnT>
                    <a:lnB w="9525" cap="flat" cmpd="sng" algn="ctr">
                      <a:solidFill>
                        <a:srgbClr val="D08E24"/>
                      </a:solidFill>
                      <a:prstDash val="solid"/>
                      <a:round/>
                      <a:headEnd type="none" w="med" len="med"/>
                      <a:tailEnd type="none" w="med" len="med"/>
                    </a:lnB>
                    <a:solidFill>
                      <a:srgbClr val="FFFFFF"/>
                    </a:solidFill>
                  </a:tcPr>
                </a:tc>
                <a:tc>
                  <a:txBody>
                    <a:bodyPr/>
                    <a:lstStyle/>
                    <a:p>
                      <a:pPr fontAlgn="t"/>
                      <a:r>
                        <a:rPr lang="pt-BR" sz="2400" b="1" i="0">
                          <a:effectLst/>
                        </a:rPr>
                        <a:t>true</a:t>
                      </a:r>
                      <a:r>
                        <a:rPr lang="pt-BR" sz="2400">
                          <a:effectLst/>
                        </a:rPr>
                        <a:t> se ambos </a:t>
                      </a:r>
                      <a:r>
                        <a:rPr lang="pt-BR" sz="2400" i="1">
                          <a:effectLst/>
                        </a:rPr>
                        <a:t>$a</a:t>
                      </a:r>
                      <a:r>
                        <a:rPr lang="pt-BR" sz="2400">
                          <a:effectLst/>
                        </a:rPr>
                        <a:t> e </a:t>
                      </a:r>
                      <a:r>
                        <a:rPr lang="pt-BR" sz="2400" i="1">
                          <a:effectLst/>
                        </a:rPr>
                        <a:t>$b</a:t>
                      </a:r>
                      <a:r>
                        <a:rPr lang="pt-BR" sz="2400">
                          <a:effectLst/>
                        </a:rPr>
                        <a:t> são </a:t>
                      </a:r>
                      <a:r>
                        <a:rPr lang="pt-BR" sz="2400" b="1" i="0">
                          <a:effectLst/>
                        </a:rPr>
                        <a:t>true</a:t>
                      </a:r>
                      <a:r>
                        <a:rPr lang="pt-BR" sz="2400">
                          <a:effectLst/>
                        </a:rPr>
                        <a:t>.</a:t>
                      </a:r>
                    </a:p>
                  </a:txBody>
                  <a:tcPr>
                    <a:lnL w="9525" cap="flat" cmpd="sng" algn="ctr">
                      <a:solidFill>
                        <a:srgbClr val="508624"/>
                      </a:solidFill>
                      <a:prstDash val="solid"/>
                      <a:round/>
                      <a:headEnd type="none" w="med" len="med"/>
                      <a:tailEnd type="none" w="med" len="med"/>
                    </a:lnL>
                    <a:lnR w="9525" cap="flat" cmpd="sng" algn="ctr">
                      <a:solidFill>
                        <a:srgbClr val="508624"/>
                      </a:solidFill>
                      <a:prstDash val="solid"/>
                      <a:round/>
                      <a:headEnd type="none" w="med" len="med"/>
                      <a:tailEnd type="none" w="med" len="med"/>
                    </a:lnR>
                    <a:lnT w="9525" cap="flat" cmpd="sng" algn="ctr">
                      <a:solidFill>
                        <a:srgbClr val="508624"/>
                      </a:solidFill>
                      <a:prstDash val="solid"/>
                      <a:round/>
                      <a:headEnd type="none" w="med" len="med"/>
                      <a:tailEnd type="none" w="med" len="med"/>
                    </a:lnT>
                    <a:lnB w="9525" cap="flat" cmpd="sng" algn="ctr">
                      <a:solidFill>
                        <a:srgbClr val="D08E24"/>
                      </a:solidFill>
                      <a:prstDash val="solid"/>
                      <a:round/>
                      <a:headEnd type="none" w="med" len="med"/>
                      <a:tailEnd type="none" w="med" len="med"/>
                    </a:lnB>
                    <a:solidFill>
                      <a:srgbClr val="FFFFFF"/>
                    </a:solidFill>
                  </a:tcPr>
                </a:tc>
                <a:extLst>
                  <a:ext uri="{0D108BD9-81ED-4DB2-BD59-A6C34878D82A}">
                    <a16:rowId xmlns:a16="http://schemas.microsoft.com/office/drawing/2014/main" val="3835913709"/>
                  </a:ext>
                </a:extLst>
              </a:tr>
              <a:tr h="0">
                <a:tc>
                  <a:txBody>
                    <a:bodyPr/>
                    <a:lstStyle/>
                    <a:p>
                      <a:pPr fontAlgn="t"/>
                      <a:r>
                        <a:rPr lang="pt-BR" sz="2400">
                          <a:effectLst/>
                        </a:rPr>
                        <a:t>$a || $b</a:t>
                      </a:r>
                    </a:p>
                  </a:txBody>
                  <a:tcPr>
                    <a:lnL w="9525" cap="flat" cmpd="sng" algn="ctr">
                      <a:solidFill>
                        <a:srgbClr val="D08E24"/>
                      </a:solidFill>
                      <a:prstDash val="solid"/>
                      <a:round/>
                      <a:headEnd type="none" w="med" len="med"/>
                      <a:tailEnd type="none" w="med" len="med"/>
                    </a:lnL>
                    <a:lnR w="9525" cap="flat" cmpd="sng" algn="ctr">
                      <a:solidFill>
                        <a:srgbClr val="D08E24"/>
                      </a:solidFill>
                      <a:prstDash val="solid"/>
                      <a:round/>
                      <a:headEnd type="none" w="med" len="med"/>
                      <a:tailEnd type="none" w="med" len="med"/>
                    </a:lnR>
                    <a:lnT w="9525" cap="flat" cmpd="sng" algn="ctr">
                      <a:solidFill>
                        <a:srgbClr val="D08E24"/>
                      </a:solidFill>
                      <a:prstDash val="solid"/>
                      <a:round/>
                      <a:headEnd type="none" w="med" len="med"/>
                      <a:tailEnd type="none" w="med" len="med"/>
                    </a:lnT>
                    <a:lnB w="9525" cap="flat" cmpd="sng" algn="ctr">
                      <a:solidFill>
                        <a:srgbClr val="D08E24"/>
                      </a:solidFill>
                      <a:prstDash val="solid"/>
                      <a:round/>
                      <a:headEnd type="none" w="med" len="med"/>
                      <a:tailEnd type="none" w="med" len="med"/>
                    </a:lnB>
                    <a:solidFill>
                      <a:srgbClr val="E6E6E6"/>
                    </a:solidFill>
                  </a:tcPr>
                </a:tc>
                <a:tc>
                  <a:txBody>
                    <a:bodyPr/>
                    <a:lstStyle/>
                    <a:p>
                      <a:pPr fontAlgn="t"/>
                      <a:r>
                        <a:rPr lang="pt-BR" sz="2400">
                          <a:effectLst/>
                        </a:rPr>
                        <a:t>OU</a:t>
                      </a:r>
                    </a:p>
                  </a:txBody>
                  <a:tcPr>
                    <a:lnL w="9525" cap="flat" cmpd="sng" algn="ctr">
                      <a:solidFill>
                        <a:srgbClr val="D08E24"/>
                      </a:solidFill>
                      <a:prstDash val="solid"/>
                      <a:round/>
                      <a:headEnd type="none" w="med" len="med"/>
                      <a:tailEnd type="none" w="med" len="med"/>
                    </a:lnL>
                    <a:lnR w="9525" cap="flat" cmpd="sng" algn="ctr">
                      <a:solidFill>
                        <a:srgbClr val="D08E24"/>
                      </a:solidFill>
                      <a:prstDash val="solid"/>
                      <a:round/>
                      <a:headEnd type="none" w="med" len="med"/>
                      <a:tailEnd type="none" w="med" len="med"/>
                    </a:lnR>
                    <a:lnT w="9525" cap="flat" cmpd="sng" algn="ctr">
                      <a:solidFill>
                        <a:srgbClr val="D08E24"/>
                      </a:solidFill>
                      <a:prstDash val="solid"/>
                      <a:round/>
                      <a:headEnd type="none" w="med" len="med"/>
                      <a:tailEnd type="none" w="med" len="med"/>
                    </a:lnT>
                    <a:lnB w="9525" cap="flat" cmpd="sng" algn="ctr">
                      <a:solidFill>
                        <a:srgbClr val="D08E24"/>
                      </a:solidFill>
                      <a:prstDash val="solid"/>
                      <a:round/>
                      <a:headEnd type="none" w="med" len="med"/>
                      <a:tailEnd type="none" w="med" len="med"/>
                    </a:lnB>
                    <a:solidFill>
                      <a:srgbClr val="E6E6E6"/>
                    </a:solidFill>
                  </a:tcPr>
                </a:tc>
                <a:tc>
                  <a:txBody>
                    <a:bodyPr/>
                    <a:lstStyle/>
                    <a:p>
                      <a:pPr fontAlgn="t"/>
                      <a:r>
                        <a:rPr lang="pt-BR" sz="2400" b="1" i="0" dirty="0" err="1">
                          <a:effectLst/>
                        </a:rPr>
                        <a:t>true</a:t>
                      </a:r>
                      <a:r>
                        <a:rPr lang="pt-BR" sz="2400" dirty="0">
                          <a:effectLst/>
                        </a:rPr>
                        <a:t> se </a:t>
                      </a:r>
                      <a:r>
                        <a:rPr lang="pt-BR" sz="2400" i="1" dirty="0">
                          <a:effectLst/>
                        </a:rPr>
                        <a:t>$a</a:t>
                      </a:r>
                      <a:r>
                        <a:rPr lang="pt-BR" sz="2400" dirty="0">
                          <a:effectLst/>
                        </a:rPr>
                        <a:t> ou </a:t>
                      </a:r>
                      <a:r>
                        <a:rPr lang="pt-BR" sz="2400" i="1" dirty="0">
                          <a:effectLst/>
                        </a:rPr>
                        <a:t>$b</a:t>
                      </a:r>
                      <a:r>
                        <a:rPr lang="pt-BR" sz="2400" dirty="0">
                          <a:effectLst/>
                        </a:rPr>
                        <a:t> é </a:t>
                      </a:r>
                      <a:r>
                        <a:rPr lang="pt-BR" sz="2400" b="1" i="0" dirty="0" err="1">
                          <a:effectLst/>
                        </a:rPr>
                        <a:t>true</a:t>
                      </a:r>
                      <a:r>
                        <a:rPr lang="pt-BR" sz="2400" dirty="0">
                          <a:effectLst/>
                        </a:rPr>
                        <a:t>.</a:t>
                      </a:r>
                    </a:p>
                  </a:txBody>
                  <a:tcPr>
                    <a:lnL w="9525" cap="flat" cmpd="sng" algn="ctr">
                      <a:solidFill>
                        <a:srgbClr val="D08E24"/>
                      </a:solidFill>
                      <a:prstDash val="solid"/>
                      <a:round/>
                      <a:headEnd type="none" w="med" len="med"/>
                      <a:tailEnd type="none" w="med" len="med"/>
                    </a:lnL>
                    <a:lnR w="9525" cap="flat" cmpd="sng" algn="ctr">
                      <a:solidFill>
                        <a:srgbClr val="D08E24"/>
                      </a:solidFill>
                      <a:prstDash val="solid"/>
                      <a:round/>
                      <a:headEnd type="none" w="med" len="med"/>
                      <a:tailEnd type="none" w="med" len="med"/>
                    </a:lnR>
                    <a:lnT w="9525" cap="flat" cmpd="sng" algn="ctr">
                      <a:solidFill>
                        <a:srgbClr val="D08E24"/>
                      </a:solidFill>
                      <a:prstDash val="solid"/>
                      <a:round/>
                      <a:headEnd type="none" w="med" len="med"/>
                      <a:tailEnd type="none" w="med" len="med"/>
                    </a:lnT>
                    <a:lnB w="9525" cap="flat" cmpd="sng" algn="ctr">
                      <a:solidFill>
                        <a:srgbClr val="D08E24"/>
                      </a:solidFill>
                      <a:prstDash val="solid"/>
                      <a:round/>
                      <a:headEnd type="none" w="med" len="med"/>
                      <a:tailEnd type="none" w="med" len="med"/>
                    </a:lnB>
                    <a:solidFill>
                      <a:srgbClr val="E6E6E6"/>
                    </a:solidFill>
                  </a:tcPr>
                </a:tc>
                <a:extLst>
                  <a:ext uri="{0D108BD9-81ED-4DB2-BD59-A6C34878D82A}">
                    <a16:rowId xmlns:a16="http://schemas.microsoft.com/office/drawing/2014/main" val="1109660464"/>
                  </a:ext>
                </a:extLst>
              </a:tr>
            </a:tbl>
          </a:graphicData>
        </a:graphic>
      </p:graphicFrame>
    </p:spTree>
    <p:extLst>
      <p:ext uri="{BB962C8B-B14F-4D97-AF65-F5344CB8AC3E}">
        <p14:creationId xmlns:p14="http://schemas.microsoft.com/office/powerpoint/2010/main" val="595454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415D56-9A10-8A7C-CAEB-6047153000FA}"/>
              </a:ext>
            </a:extLst>
          </p:cNvPr>
          <p:cNvSpPr>
            <a:spLocks noGrp="1"/>
          </p:cNvSpPr>
          <p:nvPr>
            <p:ph type="title"/>
          </p:nvPr>
        </p:nvSpPr>
        <p:spPr/>
        <p:txBody>
          <a:bodyPr/>
          <a:lstStyle/>
          <a:p>
            <a:r>
              <a:rPr lang="pt-BR" dirty="0"/>
              <a:t>Operadores de comparação</a:t>
            </a:r>
          </a:p>
        </p:txBody>
      </p:sp>
      <p:graphicFrame>
        <p:nvGraphicFramePr>
          <p:cNvPr id="4" name="Tabela 3">
            <a:extLst>
              <a:ext uri="{FF2B5EF4-FFF2-40B4-BE49-F238E27FC236}">
                <a16:creationId xmlns:a16="http://schemas.microsoft.com/office/drawing/2014/main" id="{81D1D0F1-1BB3-1EC5-A4C4-6E92389F7EB4}"/>
              </a:ext>
            </a:extLst>
          </p:cNvPr>
          <p:cNvGraphicFramePr>
            <a:graphicFrameLocks noGrp="1"/>
          </p:cNvGraphicFramePr>
          <p:nvPr>
            <p:extLst>
              <p:ext uri="{D42A27DB-BD31-4B8C-83A1-F6EECF244321}">
                <p14:modId xmlns:p14="http://schemas.microsoft.com/office/powerpoint/2010/main" val="2809573826"/>
              </p:ext>
            </p:extLst>
          </p:nvPr>
        </p:nvGraphicFramePr>
        <p:xfrm>
          <a:off x="121626" y="1277508"/>
          <a:ext cx="11779935" cy="4359640"/>
        </p:xfrm>
        <a:graphic>
          <a:graphicData uri="http://schemas.openxmlformats.org/drawingml/2006/table">
            <a:tbl>
              <a:tblPr/>
              <a:tblGrid>
                <a:gridCol w="3926645">
                  <a:extLst>
                    <a:ext uri="{9D8B030D-6E8A-4147-A177-3AD203B41FA5}">
                      <a16:colId xmlns:a16="http://schemas.microsoft.com/office/drawing/2014/main" val="953609200"/>
                    </a:ext>
                  </a:extLst>
                </a:gridCol>
                <a:gridCol w="3926645">
                  <a:extLst>
                    <a:ext uri="{9D8B030D-6E8A-4147-A177-3AD203B41FA5}">
                      <a16:colId xmlns:a16="http://schemas.microsoft.com/office/drawing/2014/main" val="2722570277"/>
                    </a:ext>
                  </a:extLst>
                </a:gridCol>
                <a:gridCol w="3926645">
                  <a:extLst>
                    <a:ext uri="{9D8B030D-6E8A-4147-A177-3AD203B41FA5}">
                      <a16:colId xmlns:a16="http://schemas.microsoft.com/office/drawing/2014/main" val="3712666995"/>
                    </a:ext>
                  </a:extLst>
                </a:gridCol>
              </a:tblGrid>
              <a:tr h="0">
                <a:tc gridSpan="3">
                  <a:txBody>
                    <a:bodyPr/>
                    <a:lstStyle/>
                    <a:p>
                      <a:r>
                        <a:rPr lang="pt-BR" sz="1400" dirty="0"/>
                        <a:t>Operadores de comparação</a:t>
                      </a:r>
                    </a:p>
                  </a:txBody>
                  <a:tcPr marL="51802" marR="51802" marT="25901" marB="25901" anchor="ctr">
                    <a:solidFill>
                      <a:srgbClr val="F2F2F2"/>
                    </a:solid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851283414"/>
                  </a:ext>
                </a:extLst>
              </a:tr>
              <a:tr h="237602">
                <a:tc>
                  <a:txBody>
                    <a:bodyPr/>
                    <a:lstStyle/>
                    <a:p>
                      <a:pPr algn="l"/>
                      <a:r>
                        <a:rPr lang="pt-BR" sz="1400">
                          <a:effectLst/>
                        </a:rPr>
                        <a:t>Exemplo</a:t>
                      </a:r>
                    </a:p>
                  </a:txBody>
                  <a:tcPr marL="51802" marR="51802" marT="25901" marB="25901" anchor="ctr">
                    <a:lnL w="9525" cap="flat" cmpd="sng" algn="ctr">
                      <a:solidFill>
                        <a:srgbClr val="C4C9DF"/>
                      </a:solidFill>
                      <a:prstDash val="solid"/>
                      <a:round/>
                      <a:headEnd type="none" w="med" len="med"/>
                      <a:tailEnd type="none" w="med" len="med"/>
                    </a:lnL>
                    <a:lnR w="9525" cap="flat" cmpd="sng" algn="ctr">
                      <a:solidFill>
                        <a:srgbClr val="C4C9DF"/>
                      </a:solidFill>
                      <a:prstDash val="solid"/>
                      <a:round/>
                      <a:headEnd type="none" w="med" len="med"/>
                      <a:tailEnd type="none" w="med" len="med"/>
                    </a:lnR>
                    <a:lnB w="9525" cap="flat" cmpd="sng" algn="ctr">
                      <a:solidFill>
                        <a:srgbClr val="E02B6B"/>
                      </a:solidFill>
                      <a:prstDash val="solid"/>
                      <a:round/>
                      <a:headEnd type="none" w="med" len="med"/>
                      <a:tailEnd type="none" w="med" len="med"/>
                    </a:lnB>
                    <a:solidFill>
                      <a:srgbClr val="C4C9DF"/>
                    </a:solidFill>
                  </a:tcPr>
                </a:tc>
                <a:tc>
                  <a:txBody>
                    <a:bodyPr/>
                    <a:lstStyle/>
                    <a:p>
                      <a:pPr algn="l"/>
                      <a:r>
                        <a:rPr lang="pt-BR" sz="1400">
                          <a:effectLst/>
                        </a:rPr>
                        <a:t>Nome</a:t>
                      </a:r>
                    </a:p>
                  </a:txBody>
                  <a:tcPr marL="51802" marR="51802" marT="25901" marB="25901" anchor="ctr">
                    <a:lnL w="9525" cap="flat" cmpd="sng" algn="ctr">
                      <a:solidFill>
                        <a:srgbClr val="C4C9DF"/>
                      </a:solidFill>
                      <a:prstDash val="solid"/>
                      <a:round/>
                      <a:headEnd type="none" w="med" len="med"/>
                      <a:tailEnd type="none" w="med" len="med"/>
                    </a:lnL>
                    <a:lnR w="9525" cap="flat" cmpd="sng" algn="ctr">
                      <a:solidFill>
                        <a:srgbClr val="C4C9DF"/>
                      </a:solidFill>
                      <a:prstDash val="solid"/>
                      <a:round/>
                      <a:headEnd type="none" w="med" len="med"/>
                      <a:tailEnd type="none" w="med" len="med"/>
                    </a:lnR>
                    <a:lnT w="9525" cap="flat" cmpd="sng" algn="ctr">
                      <a:solidFill>
                        <a:srgbClr val="C4C9DF"/>
                      </a:solidFill>
                      <a:prstDash val="solid"/>
                      <a:round/>
                      <a:headEnd type="none" w="med" len="med"/>
                      <a:tailEnd type="none" w="med" len="med"/>
                    </a:lnT>
                    <a:lnB w="9525" cap="flat" cmpd="sng" algn="ctr">
                      <a:solidFill>
                        <a:srgbClr val="E02B6B"/>
                      </a:solidFill>
                      <a:prstDash val="solid"/>
                      <a:round/>
                      <a:headEnd type="none" w="med" len="med"/>
                      <a:tailEnd type="none" w="med" len="med"/>
                    </a:lnB>
                    <a:solidFill>
                      <a:srgbClr val="C4C9DF"/>
                    </a:solidFill>
                  </a:tcPr>
                </a:tc>
                <a:tc>
                  <a:txBody>
                    <a:bodyPr/>
                    <a:lstStyle/>
                    <a:p>
                      <a:pPr algn="l"/>
                      <a:r>
                        <a:rPr lang="pt-BR" sz="1400">
                          <a:effectLst/>
                        </a:rPr>
                        <a:t>Resultado</a:t>
                      </a:r>
                    </a:p>
                  </a:txBody>
                  <a:tcPr marL="51802" marR="51802" marT="25901" marB="25901" anchor="ctr">
                    <a:lnL w="9525" cap="flat" cmpd="sng" algn="ctr">
                      <a:solidFill>
                        <a:srgbClr val="C4C9DF"/>
                      </a:solidFill>
                      <a:prstDash val="solid"/>
                      <a:round/>
                      <a:headEnd type="none" w="med" len="med"/>
                      <a:tailEnd type="none" w="med" len="med"/>
                    </a:lnL>
                    <a:lnR w="9525" cap="flat" cmpd="sng" algn="ctr">
                      <a:solidFill>
                        <a:srgbClr val="C4C9DF"/>
                      </a:solidFill>
                      <a:prstDash val="solid"/>
                      <a:round/>
                      <a:headEnd type="none" w="med" len="med"/>
                      <a:tailEnd type="none" w="med" len="med"/>
                    </a:lnR>
                    <a:lnT w="9525" cap="flat" cmpd="sng" algn="ctr">
                      <a:solidFill>
                        <a:srgbClr val="C4C9DF"/>
                      </a:solidFill>
                      <a:prstDash val="solid"/>
                      <a:round/>
                      <a:headEnd type="none" w="med" len="med"/>
                      <a:tailEnd type="none" w="med" len="med"/>
                    </a:lnT>
                    <a:lnB w="9525" cap="flat" cmpd="sng" algn="ctr">
                      <a:solidFill>
                        <a:srgbClr val="E02B6B"/>
                      </a:solidFill>
                      <a:prstDash val="solid"/>
                      <a:round/>
                      <a:headEnd type="none" w="med" len="med"/>
                      <a:tailEnd type="none" w="med" len="med"/>
                    </a:lnB>
                    <a:solidFill>
                      <a:srgbClr val="C4C9DF"/>
                    </a:solidFill>
                  </a:tcPr>
                </a:tc>
                <a:extLst>
                  <a:ext uri="{0D108BD9-81ED-4DB2-BD59-A6C34878D82A}">
                    <a16:rowId xmlns:a16="http://schemas.microsoft.com/office/drawing/2014/main" val="3087284220"/>
                  </a:ext>
                </a:extLst>
              </a:tr>
              <a:tr h="292886">
                <a:tc>
                  <a:txBody>
                    <a:bodyPr/>
                    <a:lstStyle/>
                    <a:p>
                      <a:pPr fontAlgn="t"/>
                      <a:r>
                        <a:rPr lang="pt-BR" sz="1400" dirty="0">
                          <a:effectLst/>
                        </a:rPr>
                        <a:t>$a == $b</a:t>
                      </a:r>
                    </a:p>
                  </a:txBody>
                  <a:tcPr marL="51802" marR="51802" marT="25901" marB="25901">
                    <a:lnL w="9525" cap="flat" cmpd="sng" algn="ctr">
                      <a:solidFill>
                        <a:srgbClr val="E02B6B"/>
                      </a:solidFill>
                      <a:prstDash val="solid"/>
                      <a:round/>
                      <a:headEnd type="none" w="med" len="med"/>
                      <a:tailEnd type="none" w="med" len="med"/>
                    </a:lnL>
                    <a:lnR w="9525" cap="flat" cmpd="sng" algn="ctr">
                      <a:solidFill>
                        <a:srgbClr val="E02B6B"/>
                      </a:solidFill>
                      <a:prstDash val="solid"/>
                      <a:round/>
                      <a:headEnd type="none" w="med" len="med"/>
                      <a:tailEnd type="none" w="med" len="med"/>
                    </a:lnR>
                    <a:lnT w="9525" cap="flat" cmpd="sng" algn="ctr">
                      <a:solidFill>
                        <a:srgbClr val="E02B6B"/>
                      </a:solidFill>
                      <a:prstDash val="solid"/>
                      <a:round/>
                      <a:headEnd type="none" w="med" len="med"/>
                      <a:tailEnd type="none" w="med" len="med"/>
                    </a:lnT>
                    <a:lnB w="9525" cap="flat" cmpd="sng" algn="ctr">
                      <a:solidFill>
                        <a:srgbClr val="A0416B"/>
                      </a:solidFill>
                      <a:prstDash val="solid"/>
                      <a:round/>
                      <a:headEnd type="none" w="med" len="med"/>
                      <a:tailEnd type="none" w="med" len="med"/>
                    </a:lnB>
                    <a:solidFill>
                      <a:srgbClr val="FFFFFF"/>
                    </a:solidFill>
                  </a:tcPr>
                </a:tc>
                <a:tc>
                  <a:txBody>
                    <a:bodyPr/>
                    <a:lstStyle/>
                    <a:p>
                      <a:pPr fontAlgn="t"/>
                      <a:r>
                        <a:rPr lang="pt-BR" sz="1400">
                          <a:effectLst/>
                        </a:rPr>
                        <a:t>Igual</a:t>
                      </a:r>
                    </a:p>
                  </a:txBody>
                  <a:tcPr marL="51802" marR="51802" marT="25901" marB="25901">
                    <a:lnL w="9525" cap="flat" cmpd="sng" algn="ctr">
                      <a:solidFill>
                        <a:srgbClr val="E02B6B"/>
                      </a:solidFill>
                      <a:prstDash val="solid"/>
                      <a:round/>
                      <a:headEnd type="none" w="med" len="med"/>
                      <a:tailEnd type="none" w="med" len="med"/>
                    </a:lnL>
                    <a:lnR w="9525" cap="flat" cmpd="sng" algn="ctr">
                      <a:solidFill>
                        <a:srgbClr val="E02B6B"/>
                      </a:solidFill>
                      <a:prstDash val="solid"/>
                      <a:round/>
                      <a:headEnd type="none" w="med" len="med"/>
                      <a:tailEnd type="none" w="med" len="med"/>
                    </a:lnR>
                    <a:lnT w="9525" cap="flat" cmpd="sng" algn="ctr">
                      <a:solidFill>
                        <a:srgbClr val="E02B6B"/>
                      </a:solidFill>
                      <a:prstDash val="solid"/>
                      <a:round/>
                      <a:headEnd type="none" w="med" len="med"/>
                      <a:tailEnd type="none" w="med" len="med"/>
                    </a:lnT>
                    <a:lnB w="9525" cap="flat" cmpd="sng" algn="ctr">
                      <a:solidFill>
                        <a:srgbClr val="A0416B"/>
                      </a:solidFill>
                      <a:prstDash val="solid"/>
                      <a:round/>
                      <a:headEnd type="none" w="med" len="med"/>
                      <a:tailEnd type="none" w="med" len="med"/>
                    </a:lnB>
                    <a:solidFill>
                      <a:srgbClr val="FFFFFF"/>
                    </a:solidFill>
                  </a:tcPr>
                </a:tc>
                <a:tc>
                  <a:txBody>
                    <a:bodyPr/>
                    <a:lstStyle/>
                    <a:p>
                      <a:pPr fontAlgn="t"/>
                      <a:r>
                        <a:rPr lang="pt-BR" sz="1400" b="1" i="0">
                          <a:effectLst/>
                        </a:rPr>
                        <a:t>true</a:t>
                      </a:r>
                      <a:r>
                        <a:rPr lang="pt-BR" sz="1400">
                          <a:effectLst/>
                        </a:rPr>
                        <a:t> se </a:t>
                      </a:r>
                      <a:r>
                        <a:rPr lang="pt-BR" sz="1400" i="1">
                          <a:effectLst/>
                        </a:rPr>
                        <a:t>$a</a:t>
                      </a:r>
                      <a:r>
                        <a:rPr lang="pt-BR" sz="1400">
                          <a:effectLst/>
                        </a:rPr>
                        <a:t> é igual a </a:t>
                      </a:r>
                      <a:r>
                        <a:rPr lang="pt-BR" sz="1400" i="1">
                          <a:effectLst/>
                        </a:rPr>
                        <a:t>$b</a:t>
                      </a:r>
                      <a:r>
                        <a:rPr lang="pt-BR" sz="1400">
                          <a:effectLst/>
                        </a:rPr>
                        <a:t> após equalização de tipos.</a:t>
                      </a:r>
                    </a:p>
                  </a:txBody>
                  <a:tcPr marL="51802" marR="51802" marT="25901" marB="25901">
                    <a:lnL w="9525" cap="flat" cmpd="sng" algn="ctr">
                      <a:solidFill>
                        <a:srgbClr val="E02B6B"/>
                      </a:solidFill>
                      <a:prstDash val="solid"/>
                      <a:round/>
                      <a:headEnd type="none" w="med" len="med"/>
                      <a:tailEnd type="none" w="med" len="med"/>
                    </a:lnL>
                    <a:lnR w="9525" cap="flat" cmpd="sng" algn="ctr">
                      <a:solidFill>
                        <a:srgbClr val="E02B6B"/>
                      </a:solidFill>
                      <a:prstDash val="solid"/>
                      <a:round/>
                      <a:headEnd type="none" w="med" len="med"/>
                      <a:tailEnd type="none" w="med" len="med"/>
                    </a:lnR>
                    <a:lnT w="9525" cap="flat" cmpd="sng" algn="ctr">
                      <a:solidFill>
                        <a:srgbClr val="E02B6B"/>
                      </a:solidFill>
                      <a:prstDash val="solid"/>
                      <a:round/>
                      <a:headEnd type="none" w="med" len="med"/>
                      <a:tailEnd type="none" w="med" len="med"/>
                    </a:lnT>
                    <a:lnB w="9525" cap="flat" cmpd="sng" algn="ctr">
                      <a:solidFill>
                        <a:srgbClr val="A0416B"/>
                      </a:solidFill>
                      <a:prstDash val="solid"/>
                      <a:round/>
                      <a:headEnd type="none" w="med" len="med"/>
                      <a:tailEnd type="none" w="med" len="med"/>
                    </a:lnB>
                    <a:solidFill>
                      <a:srgbClr val="FFFFFF"/>
                    </a:solidFill>
                  </a:tcPr>
                </a:tc>
                <a:extLst>
                  <a:ext uri="{0D108BD9-81ED-4DB2-BD59-A6C34878D82A}">
                    <a16:rowId xmlns:a16="http://schemas.microsoft.com/office/drawing/2014/main" val="1104420395"/>
                  </a:ext>
                </a:extLst>
              </a:tr>
              <a:tr h="292886">
                <a:tc>
                  <a:txBody>
                    <a:bodyPr/>
                    <a:lstStyle/>
                    <a:p>
                      <a:pPr fontAlgn="t"/>
                      <a:r>
                        <a:rPr lang="pt-BR" sz="1400">
                          <a:effectLst/>
                        </a:rPr>
                        <a:t>$a === $b</a:t>
                      </a:r>
                    </a:p>
                  </a:txBody>
                  <a:tcPr marL="51802" marR="51802" marT="25901" marB="25901">
                    <a:lnL w="9525" cap="flat" cmpd="sng" algn="ctr">
                      <a:solidFill>
                        <a:srgbClr val="A0416B"/>
                      </a:solidFill>
                      <a:prstDash val="solid"/>
                      <a:round/>
                      <a:headEnd type="none" w="med" len="med"/>
                      <a:tailEnd type="none" w="med" len="med"/>
                    </a:lnL>
                    <a:lnR w="9525" cap="flat" cmpd="sng" algn="ctr">
                      <a:solidFill>
                        <a:srgbClr val="A0416B"/>
                      </a:solidFill>
                      <a:prstDash val="solid"/>
                      <a:round/>
                      <a:headEnd type="none" w="med" len="med"/>
                      <a:tailEnd type="none" w="med" len="med"/>
                    </a:lnR>
                    <a:lnT w="9525" cap="flat" cmpd="sng" algn="ctr">
                      <a:solidFill>
                        <a:srgbClr val="A0416B"/>
                      </a:solidFill>
                      <a:prstDash val="solid"/>
                      <a:round/>
                      <a:headEnd type="none" w="med" len="med"/>
                      <a:tailEnd type="none" w="med" len="med"/>
                    </a:lnT>
                    <a:lnB w="9525" cap="flat" cmpd="sng" algn="ctr">
                      <a:solidFill>
                        <a:srgbClr val="E04C6B"/>
                      </a:solidFill>
                      <a:prstDash val="solid"/>
                      <a:round/>
                      <a:headEnd type="none" w="med" len="med"/>
                      <a:tailEnd type="none" w="med" len="med"/>
                    </a:lnB>
                    <a:solidFill>
                      <a:srgbClr val="E6E6E6"/>
                    </a:solidFill>
                  </a:tcPr>
                </a:tc>
                <a:tc>
                  <a:txBody>
                    <a:bodyPr/>
                    <a:lstStyle/>
                    <a:p>
                      <a:pPr fontAlgn="t"/>
                      <a:r>
                        <a:rPr lang="pt-BR" sz="1400">
                          <a:effectLst/>
                        </a:rPr>
                        <a:t>Idêntico</a:t>
                      </a:r>
                    </a:p>
                  </a:txBody>
                  <a:tcPr marL="51802" marR="51802" marT="25901" marB="25901">
                    <a:lnL w="9525" cap="flat" cmpd="sng" algn="ctr">
                      <a:solidFill>
                        <a:srgbClr val="A0416B"/>
                      </a:solidFill>
                      <a:prstDash val="solid"/>
                      <a:round/>
                      <a:headEnd type="none" w="med" len="med"/>
                      <a:tailEnd type="none" w="med" len="med"/>
                    </a:lnL>
                    <a:lnR w="9525" cap="flat" cmpd="sng" algn="ctr">
                      <a:solidFill>
                        <a:srgbClr val="A0416B"/>
                      </a:solidFill>
                      <a:prstDash val="solid"/>
                      <a:round/>
                      <a:headEnd type="none" w="med" len="med"/>
                      <a:tailEnd type="none" w="med" len="med"/>
                    </a:lnR>
                    <a:lnT w="9525" cap="flat" cmpd="sng" algn="ctr">
                      <a:solidFill>
                        <a:srgbClr val="A0416B"/>
                      </a:solidFill>
                      <a:prstDash val="solid"/>
                      <a:round/>
                      <a:headEnd type="none" w="med" len="med"/>
                      <a:tailEnd type="none" w="med" len="med"/>
                    </a:lnT>
                    <a:lnB w="9525" cap="flat" cmpd="sng" algn="ctr">
                      <a:solidFill>
                        <a:srgbClr val="E04C6B"/>
                      </a:solidFill>
                      <a:prstDash val="solid"/>
                      <a:round/>
                      <a:headEnd type="none" w="med" len="med"/>
                      <a:tailEnd type="none" w="med" len="med"/>
                    </a:lnB>
                    <a:solidFill>
                      <a:srgbClr val="E6E6E6"/>
                    </a:solidFill>
                  </a:tcPr>
                </a:tc>
                <a:tc>
                  <a:txBody>
                    <a:bodyPr/>
                    <a:lstStyle/>
                    <a:p>
                      <a:pPr fontAlgn="t"/>
                      <a:r>
                        <a:rPr lang="pt-BR" sz="1400" b="1" i="0">
                          <a:effectLst/>
                        </a:rPr>
                        <a:t>true</a:t>
                      </a:r>
                      <a:r>
                        <a:rPr lang="pt-BR" sz="1400">
                          <a:effectLst/>
                        </a:rPr>
                        <a:t> se </a:t>
                      </a:r>
                      <a:r>
                        <a:rPr lang="pt-BR" sz="1400" i="1">
                          <a:effectLst/>
                        </a:rPr>
                        <a:t>$a</a:t>
                      </a:r>
                      <a:r>
                        <a:rPr lang="pt-BR" sz="1400">
                          <a:effectLst/>
                        </a:rPr>
                        <a:t> é igual a </a:t>
                      </a:r>
                      <a:r>
                        <a:rPr lang="pt-BR" sz="1400" i="1">
                          <a:effectLst/>
                        </a:rPr>
                        <a:t>$b</a:t>
                      </a:r>
                      <a:r>
                        <a:rPr lang="pt-BR" sz="1400">
                          <a:effectLst/>
                        </a:rPr>
                        <a:t>, e eles são do mesmo tipo.</a:t>
                      </a:r>
                    </a:p>
                  </a:txBody>
                  <a:tcPr marL="51802" marR="51802" marT="25901" marB="25901">
                    <a:lnL w="9525" cap="flat" cmpd="sng" algn="ctr">
                      <a:solidFill>
                        <a:srgbClr val="A0416B"/>
                      </a:solidFill>
                      <a:prstDash val="solid"/>
                      <a:round/>
                      <a:headEnd type="none" w="med" len="med"/>
                      <a:tailEnd type="none" w="med" len="med"/>
                    </a:lnL>
                    <a:lnR w="9525" cap="flat" cmpd="sng" algn="ctr">
                      <a:solidFill>
                        <a:srgbClr val="A0416B"/>
                      </a:solidFill>
                      <a:prstDash val="solid"/>
                      <a:round/>
                      <a:headEnd type="none" w="med" len="med"/>
                      <a:tailEnd type="none" w="med" len="med"/>
                    </a:lnR>
                    <a:lnT w="9525" cap="flat" cmpd="sng" algn="ctr">
                      <a:solidFill>
                        <a:srgbClr val="A0416B"/>
                      </a:solidFill>
                      <a:prstDash val="solid"/>
                      <a:round/>
                      <a:headEnd type="none" w="med" len="med"/>
                      <a:tailEnd type="none" w="med" len="med"/>
                    </a:lnT>
                    <a:lnB w="9525" cap="flat" cmpd="sng" algn="ctr">
                      <a:solidFill>
                        <a:srgbClr val="E04C6B"/>
                      </a:solidFill>
                      <a:prstDash val="solid"/>
                      <a:round/>
                      <a:headEnd type="none" w="med" len="med"/>
                      <a:tailEnd type="none" w="med" len="med"/>
                    </a:lnB>
                    <a:solidFill>
                      <a:srgbClr val="E6E6E6"/>
                    </a:solidFill>
                  </a:tcPr>
                </a:tc>
                <a:extLst>
                  <a:ext uri="{0D108BD9-81ED-4DB2-BD59-A6C34878D82A}">
                    <a16:rowId xmlns:a16="http://schemas.microsoft.com/office/drawing/2014/main" val="647019904"/>
                  </a:ext>
                </a:extLst>
              </a:tr>
              <a:tr h="418409">
                <a:tc>
                  <a:txBody>
                    <a:bodyPr/>
                    <a:lstStyle/>
                    <a:p>
                      <a:pPr fontAlgn="t"/>
                      <a:r>
                        <a:rPr lang="pt-BR" sz="1400">
                          <a:effectLst/>
                        </a:rPr>
                        <a:t>$a != $b</a:t>
                      </a:r>
                    </a:p>
                  </a:txBody>
                  <a:tcPr marL="51802" marR="51802" marT="25901" marB="25901">
                    <a:lnL w="9525" cap="flat" cmpd="sng" algn="ctr">
                      <a:solidFill>
                        <a:srgbClr val="E04C6B"/>
                      </a:solidFill>
                      <a:prstDash val="solid"/>
                      <a:round/>
                      <a:headEnd type="none" w="med" len="med"/>
                      <a:tailEnd type="none" w="med" len="med"/>
                    </a:lnL>
                    <a:lnR w="9525" cap="flat" cmpd="sng" algn="ctr">
                      <a:solidFill>
                        <a:srgbClr val="E04C6B"/>
                      </a:solidFill>
                      <a:prstDash val="solid"/>
                      <a:round/>
                      <a:headEnd type="none" w="med" len="med"/>
                      <a:tailEnd type="none" w="med" len="med"/>
                    </a:lnR>
                    <a:lnT w="9525" cap="flat" cmpd="sng" algn="ctr">
                      <a:solidFill>
                        <a:srgbClr val="E04C6B"/>
                      </a:solidFill>
                      <a:prstDash val="solid"/>
                      <a:round/>
                      <a:headEnd type="none" w="med" len="med"/>
                      <a:tailEnd type="none" w="med" len="med"/>
                    </a:lnT>
                    <a:lnB w="9525" cap="flat" cmpd="sng" algn="ctr">
                      <a:solidFill>
                        <a:srgbClr val="A05D6B"/>
                      </a:solidFill>
                      <a:prstDash val="solid"/>
                      <a:round/>
                      <a:headEnd type="none" w="med" len="med"/>
                      <a:tailEnd type="none" w="med" len="med"/>
                    </a:lnB>
                    <a:solidFill>
                      <a:srgbClr val="FFFFFF"/>
                    </a:solidFill>
                  </a:tcPr>
                </a:tc>
                <a:tc>
                  <a:txBody>
                    <a:bodyPr/>
                    <a:lstStyle/>
                    <a:p>
                      <a:pPr fontAlgn="t"/>
                      <a:r>
                        <a:rPr lang="pt-BR" sz="1400">
                          <a:effectLst/>
                        </a:rPr>
                        <a:t>Diferente</a:t>
                      </a:r>
                    </a:p>
                  </a:txBody>
                  <a:tcPr marL="51802" marR="51802" marT="25901" marB="25901">
                    <a:lnL w="9525" cap="flat" cmpd="sng" algn="ctr">
                      <a:solidFill>
                        <a:srgbClr val="E04C6B"/>
                      </a:solidFill>
                      <a:prstDash val="solid"/>
                      <a:round/>
                      <a:headEnd type="none" w="med" len="med"/>
                      <a:tailEnd type="none" w="med" len="med"/>
                    </a:lnL>
                    <a:lnR w="9525" cap="flat" cmpd="sng" algn="ctr">
                      <a:solidFill>
                        <a:srgbClr val="E04C6B"/>
                      </a:solidFill>
                      <a:prstDash val="solid"/>
                      <a:round/>
                      <a:headEnd type="none" w="med" len="med"/>
                      <a:tailEnd type="none" w="med" len="med"/>
                    </a:lnR>
                    <a:lnT w="9525" cap="flat" cmpd="sng" algn="ctr">
                      <a:solidFill>
                        <a:srgbClr val="E04C6B"/>
                      </a:solidFill>
                      <a:prstDash val="solid"/>
                      <a:round/>
                      <a:headEnd type="none" w="med" len="med"/>
                      <a:tailEnd type="none" w="med" len="med"/>
                    </a:lnT>
                    <a:lnB w="9525" cap="flat" cmpd="sng" algn="ctr">
                      <a:solidFill>
                        <a:srgbClr val="A05D6B"/>
                      </a:solidFill>
                      <a:prstDash val="solid"/>
                      <a:round/>
                      <a:headEnd type="none" w="med" len="med"/>
                      <a:tailEnd type="none" w="med" len="med"/>
                    </a:lnB>
                    <a:solidFill>
                      <a:srgbClr val="FFFFFF"/>
                    </a:solidFill>
                  </a:tcPr>
                </a:tc>
                <a:tc>
                  <a:txBody>
                    <a:bodyPr/>
                    <a:lstStyle/>
                    <a:p>
                      <a:pPr fontAlgn="t"/>
                      <a:r>
                        <a:rPr lang="pt-BR" sz="1400" b="1" i="0">
                          <a:effectLst/>
                        </a:rPr>
                        <a:t>true</a:t>
                      </a:r>
                      <a:r>
                        <a:rPr lang="pt-BR" sz="1400">
                          <a:effectLst/>
                        </a:rPr>
                        <a:t> se </a:t>
                      </a:r>
                      <a:r>
                        <a:rPr lang="pt-BR" sz="1400" i="1">
                          <a:effectLst/>
                        </a:rPr>
                        <a:t>$a</a:t>
                      </a:r>
                      <a:r>
                        <a:rPr lang="pt-BR" sz="1400">
                          <a:effectLst/>
                        </a:rPr>
                        <a:t> não é igual a </a:t>
                      </a:r>
                      <a:r>
                        <a:rPr lang="pt-BR" sz="1400" i="1">
                          <a:effectLst/>
                        </a:rPr>
                        <a:t>$b</a:t>
                      </a:r>
                      <a:r>
                        <a:rPr lang="pt-BR" sz="1400">
                          <a:effectLst/>
                        </a:rPr>
                        <a:t> depois de equalização de ativos.</a:t>
                      </a:r>
                    </a:p>
                  </a:txBody>
                  <a:tcPr marL="51802" marR="51802" marT="25901" marB="25901">
                    <a:lnL w="9525" cap="flat" cmpd="sng" algn="ctr">
                      <a:solidFill>
                        <a:srgbClr val="E04C6B"/>
                      </a:solidFill>
                      <a:prstDash val="solid"/>
                      <a:round/>
                      <a:headEnd type="none" w="med" len="med"/>
                      <a:tailEnd type="none" w="med" len="med"/>
                    </a:lnL>
                    <a:lnR w="9525" cap="flat" cmpd="sng" algn="ctr">
                      <a:solidFill>
                        <a:srgbClr val="E04C6B"/>
                      </a:solidFill>
                      <a:prstDash val="solid"/>
                      <a:round/>
                      <a:headEnd type="none" w="med" len="med"/>
                      <a:tailEnd type="none" w="med" len="med"/>
                    </a:lnR>
                    <a:lnT w="9525" cap="flat" cmpd="sng" algn="ctr">
                      <a:solidFill>
                        <a:srgbClr val="E04C6B"/>
                      </a:solidFill>
                      <a:prstDash val="solid"/>
                      <a:round/>
                      <a:headEnd type="none" w="med" len="med"/>
                      <a:tailEnd type="none" w="med" len="med"/>
                    </a:lnT>
                    <a:lnB w="9525" cap="flat" cmpd="sng" algn="ctr">
                      <a:solidFill>
                        <a:srgbClr val="A05D6B"/>
                      </a:solidFill>
                      <a:prstDash val="solid"/>
                      <a:round/>
                      <a:headEnd type="none" w="med" len="med"/>
                      <a:tailEnd type="none" w="med" len="med"/>
                    </a:lnB>
                    <a:solidFill>
                      <a:srgbClr val="FFFFFF"/>
                    </a:solidFill>
                  </a:tcPr>
                </a:tc>
                <a:extLst>
                  <a:ext uri="{0D108BD9-81ED-4DB2-BD59-A6C34878D82A}">
                    <a16:rowId xmlns:a16="http://schemas.microsoft.com/office/drawing/2014/main" val="968353603"/>
                  </a:ext>
                </a:extLst>
              </a:tr>
              <a:tr h="418409">
                <a:tc>
                  <a:txBody>
                    <a:bodyPr/>
                    <a:lstStyle/>
                    <a:p>
                      <a:pPr fontAlgn="t"/>
                      <a:r>
                        <a:rPr lang="pt-BR" sz="1400">
                          <a:effectLst/>
                        </a:rPr>
                        <a:t>$a &lt;&gt; $b</a:t>
                      </a:r>
                    </a:p>
                  </a:txBody>
                  <a:tcPr marL="51802" marR="51802" marT="25901" marB="25901">
                    <a:lnL w="9525" cap="flat" cmpd="sng" algn="ctr">
                      <a:solidFill>
                        <a:srgbClr val="A05D6B"/>
                      </a:solidFill>
                      <a:prstDash val="solid"/>
                      <a:round/>
                      <a:headEnd type="none" w="med" len="med"/>
                      <a:tailEnd type="none" w="med" len="med"/>
                    </a:lnL>
                    <a:lnR w="9525" cap="flat" cmpd="sng" algn="ctr">
                      <a:solidFill>
                        <a:srgbClr val="A05D6B"/>
                      </a:solidFill>
                      <a:prstDash val="solid"/>
                      <a:round/>
                      <a:headEnd type="none" w="med" len="med"/>
                      <a:tailEnd type="none" w="med" len="med"/>
                    </a:lnR>
                    <a:lnT w="9525" cap="flat" cmpd="sng" algn="ctr">
                      <a:solidFill>
                        <a:srgbClr val="A05D6B"/>
                      </a:solidFill>
                      <a:prstDash val="solid"/>
                      <a:round/>
                      <a:headEnd type="none" w="med" len="med"/>
                      <a:tailEnd type="none" w="med" len="med"/>
                    </a:lnT>
                    <a:lnB w="9525" cap="flat" cmpd="sng" algn="ctr">
                      <a:solidFill>
                        <a:srgbClr val="E0626B"/>
                      </a:solidFill>
                      <a:prstDash val="solid"/>
                      <a:round/>
                      <a:headEnd type="none" w="med" len="med"/>
                      <a:tailEnd type="none" w="med" len="med"/>
                    </a:lnB>
                    <a:solidFill>
                      <a:srgbClr val="E6E6E6"/>
                    </a:solidFill>
                  </a:tcPr>
                </a:tc>
                <a:tc>
                  <a:txBody>
                    <a:bodyPr/>
                    <a:lstStyle/>
                    <a:p>
                      <a:pPr fontAlgn="t"/>
                      <a:r>
                        <a:rPr lang="pt-BR" sz="1400">
                          <a:effectLst/>
                        </a:rPr>
                        <a:t>Diferente</a:t>
                      </a:r>
                    </a:p>
                  </a:txBody>
                  <a:tcPr marL="51802" marR="51802" marT="25901" marB="25901">
                    <a:lnL w="9525" cap="flat" cmpd="sng" algn="ctr">
                      <a:solidFill>
                        <a:srgbClr val="A05D6B"/>
                      </a:solidFill>
                      <a:prstDash val="solid"/>
                      <a:round/>
                      <a:headEnd type="none" w="med" len="med"/>
                      <a:tailEnd type="none" w="med" len="med"/>
                    </a:lnL>
                    <a:lnR w="9525" cap="flat" cmpd="sng" algn="ctr">
                      <a:solidFill>
                        <a:srgbClr val="A05D6B"/>
                      </a:solidFill>
                      <a:prstDash val="solid"/>
                      <a:round/>
                      <a:headEnd type="none" w="med" len="med"/>
                      <a:tailEnd type="none" w="med" len="med"/>
                    </a:lnR>
                    <a:lnT w="9525" cap="flat" cmpd="sng" algn="ctr">
                      <a:solidFill>
                        <a:srgbClr val="A05D6B"/>
                      </a:solidFill>
                      <a:prstDash val="solid"/>
                      <a:round/>
                      <a:headEnd type="none" w="med" len="med"/>
                      <a:tailEnd type="none" w="med" len="med"/>
                    </a:lnT>
                    <a:lnB w="9525" cap="flat" cmpd="sng" algn="ctr">
                      <a:solidFill>
                        <a:srgbClr val="E0626B"/>
                      </a:solidFill>
                      <a:prstDash val="solid"/>
                      <a:round/>
                      <a:headEnd type="none" w="med" len="med"/>
                      <a:tailEnd type="none" w="med" len="med"/>
                    </a:lnB>
                    <a:solidFill>
                      <a:srgbClr val="E6E6E6"/>
                    </a:solidFill>
                  </a:tcPr>
                </a:tc>
                <a:tc>
                  <a:txBody>
                    <a:bodyPr/>
                    <a:lstStyle/>
                    <a:p>
                      <a:pPr fontAlgn="t"/>
                      <a:r>
                        <a:rPr lang="pt-BR" sz="1400" b="1" i="0">
                          <a:effectLst/>
                        </a:rPr>
                        <a:t>true</a:t>
                      </a:r>
                      <a:r>
                        <a:rPr lang="pt-BR" sz="1400">
                          <a:effectLst/>
                        </a:rPr>
                        <a:t> se </a:t>
                      </a:r>
                      <a:r>
                        <a:rPr lang="pt-BR" sz="1400" i="1">
                          <a:effectLst/>
                        </a:rPr>
                        <a:t>$a</a:t>
                      </a:r>
                      <a:r>
                        <a:rPr lang="pt-BR" sz="1400">
                          <a:effectLst/>
                        </a:rPr>
                        <a:t> não é igual a </a:t>
                      </a:r>
                      <a:r>
                        <a:rPr lang="pt-BR" sz="1400" i="1">
                          <a:effectLst/>
                        </a:rPr>
                        <a:t>$b</a:t>
                      </a:r>
                      <a:r>
                        <a:rPr lang="pt-BR" sz="1400">
                          <a:effectLst/>
                        </a:rPr>
                        <a:t> depois de equalização de ativos.</a:t>
                      </a:r>
                    </a:p>
                  </a:txBody>
                  <a:tcPr marL="51802" marR="51802" marT="25901" marB="25901">
                    <a:lnL w="9525" cap="flat" cmpd="sng" algn="ctr">
                      <a:solidFill>
                        <a:srgbClr val="A05D6B"/>
                      </a:solidFill>
                      <a:prstDash val="solid"/>
                      <a:round/>
                      <a:headEnd type="none" w="med" len="med"/>
                      <a:tailEnd type="none" w="med" len="med"/>
                    </a:lnL>
                    <a:lnR w="9525" cap="flat" cmpd="sng" algn="ctr">
                      <a:solidFill>
                        <a:srgbClr val="A05D6B"/>
                      </a:solidFill>
                      <a:prstDash val="solid"/>
                      <a:round/>
                      <a:headEnd type="none" w="med" len="med"/>
                      <a:tailEnd type="none" w="med" len="med"/>
                    </a:lnR>
                    <a:lnT w="9525" cap="flat" cmpd="sng" algn="ctr">
                      <a:solidFill>
                        <a:srgbClr val="A05D6B"/>
                      </a:solidFill>
                      <a:prstDash val="solid"/>
                      <a:round/>
                      <a:headEnd type="none" w="med" len="med"/>
                      <a:tailEnd type="none" w="med" len="med"/>
                    </a:lnT>
                    <a:lnB w="9525" cap="flat" cmpd="sng" algn="ctr">
                      <a:solidFill>
                        <a:srgbClr val="E0626B"/>
                      </a:solidFill>
                      <a:prstDash val="solid"/>
                      <a:round/>
                      <a:headEnd type="none" w="med" len="med"/>
                      <a:tailEnd type="none" w="med" len="med"/>
                    </a:lnB>
                    <a:solidFill>
                      <a:srgbClr val="E6E6E6"/>
                    </a:solidFill>
                  </a:tcPr>
                </a:tc>
                <a:extLst>
                  <a:ext uri="{0D108BD9-81ED-4DB2-BD59-A6C34878D82A}">
                    <a16:rowId xmlns:a16="http://schemas.microsoft.com/office/drawing/2014/main" val="700627886"/>
                  </a:ext>
                </a:extLst>
              </a:tr>
              <a:tr h="292886">
                <a:tc>
                  <a:txBody>
                    <a:bodyPr/>
                    <a:lstStyle/>
                    <a:p>
                      <a:pPr fontAlgn="t"/>
                      <a:r>
                        <a:rPr lang="pt-BR" sz="1400">
                          <a:effectLst/>
                        </a:rPr>
                        <a:t>$a !== $b</a:t>
                      </a:r>
                    </a:p>
                  </a:txBody>
                  <a:tcPr marL="51802" marR="51802" marT="25901" marB="25901">
                    <a:lnL w="9525" cap="flat" cmpd="sng" algn="ctr">
                      <a:solidFill>
                        <a:srgbClr val="E0626B"/>
                      </a:solidFill>
                      <a:prstDash val="solid"/>
                      <a:round/>
                      <a:headEnd type="none" w="med" len="med"/>
                      <a:tailEnd type="none" w="med" len="med"/>
                    </a:lnL>
                    <a:lnR w="9525" cap="flat" cmpd="sng" algn="ctr">
                      <a:solidFill>
                        <a:srgbClr val="E0626B"/>
                      </a:solidFill>
                      <a:prstDash val="solid"/>
                      <a:round/>
                      <a:headEnd type="none" w="med" len="med"/>
                      <a:tailEnd type="none" w="med" len="med"/>
                    </a:lnR>
                    <a:lnT w="9525" cap="flat" cmpd="sng" algn="ctr">
                      <a:solidFill>
                        <a:srgbClr val="E0626B"/>
                      </a:solidFill>
                      <a:prstDash val="solid"/>
                      <a:round/>
                      <a:headEnd type="none" w="med" len="med"/>
                      <a:tailEnd type="none" w="med" len="med"/>
                    </a:lnT>
                    <a:lnB w="9525" cap="flat" cmpd="sng" algn="ctr">
                      <a:solidFill>
                        <a:srgbClr val="A06F6B"/>
                      </a:solidFill>
                      <a:prstDash val="solid"/>
                      <a:round/>
                      <a:headEnd type="none" w="med" len="med"/>
                      <a:tailEnd type="none" w="med" len="med"/>
                    </a:lnB>
                    <a:solidFill>
                      <a:srgbClr val="FFFFFF"/>
                    </a:solidFill>
                  </a:tcPr>
                </a:tc>
                <a:tc>
                  <a:txBody>
                    <a:bodyPr/>
                    <a:lstStyle/>
                    <a:p>
                      <a:pPr fontAlgn="t"/>
                      <a:r>
                        <a:rPr lang="pt-BR" sz="1400">
                          <a:effectLst/>
                        </a:rPr>
                        <a:t>Não idêntico</a:t>
                      </a:r>
                    </a:p>
                  </a:txBody>
                  <a:tcPr marL="51802" marR="51802" marT="25901" marB="25901">
                    <a:lnL w="9525" cap="flat" cmpd="sng" algn="ctr">
                      <a:solidFill>
                        <a:srgbClr val="E0626B"/>
                      </a:solidFill>
                      <a:prstDash val="solid"/>
                      <a:round/>
                      <a:headEnd type="none" w="med" len="med"/>
                      <a:tailEnd type="none" w="med" len="med"/>
                    </a:lnL>
                    <a:lnR w="9525" cap="flat" cmpd="sng" algn="ctr">
                      <a:solidFill>
                        <a:srgbClr val="E0626B"/>
                      </a:solidFill>
                      <a:prstDash val="solid"/>
                      <a:round/>
                      <a:headEnd type="none" w="med" len="med"/>
                      <a:tailEnd type="none" w="med" len="med"/>
                    </a:lnR>
                    <a:lnT w="9525" cap="flat" cmpd="sng" algn="ctr">
                      <a:solidFill>
                        <a:srgbClr val="E0626B"/>
                      </a:solidFill>
                      <a:prstDash val="solid"/>
                      <a:round/>
                      <a:headEnd type="none" w="med" len="med"/>
                      <a:tailEnd type="none" w="med" len="med"/>
                    </a:lnT>
                    <a:lnB w="9525" cap="flat" cmpd="sng" algn="ctr">
                      <a:solidFill>
                        <a:srgbClr val="A06F6B"/>
                      </a:solidFill>
                      <a:prstDash val="solid"/>
                      <a:round/>
                      <a:headEnd type="none" w="med" len="med"/>
                      <a:tailEnd type="none" w="med" len="med"/>
                    </a:lnB>
                    <a:solidFill>
                      <a:srgbClr val="FFFFFF"/>
                    </a:solidFill>
                  </a:tcPr>
                </a:tc>
                <a:tc>
                  <a:txBody>
                    <a:bodyPr/>
                    <a:lstStyle/>
                    <a:p>
                      <a:pPr fontAlgn="t"/>
                      <a:r>
                        <a:rPr lang="pt-BR" sz="1400" b="1" i="0">
                          <a:effectLst/>
                        </a:rPr>
                        <a:t>true</a:t>
                      </a:r>
                      <a:r>
                        <a:rPr lang="pt-BR" sz="1400">
                          <a:effectLst/>
                        </a:rPr>
                        <a:t> se </a:t>
                      </a:r>
                      <a:r>
                        <a:rPr lang="pt-BR" sz="1400" i="1">
                          <a:effectLst/>
                        </a:rPr>
                        <a:t>$a</a:t>
                      </a:r>
                      <a:r>
                        <a:rPr lang="pt-BR" sz="1400">
                          <a:effectLst/>
                        </a:rPr>
                        <a:t> não é igual a </a:t>
                      </a:r>
                      <a:r>
                        <a:rPr lang="pt-BR" sz="1400" i="1">
                          <a:effectLst/>
                        </a:rPr>
                        <a:t>$b</a:t>
                      </a:r>
                      <a:r>
                        <a:rPr lang="pt-BR" sz="1400">
                          <a:effectLst/>
                        </a:rPr>
                        <a:t>, ou eles não são do mesmo tipo.</a:t>
                      </a:r>
                    </a:p>
                  </a:txBody>
                  <a:tcPr marL="51802" marR="51802" marT="25901" marB="25901">
                    <a:lnL w="9525" cap="flat" cmpd="sng" algn="ctr">
                      <a:solidFill>
                        <a:srgbClr val="E0626B"/>
                      </a:solidFill>
                      <a:prstDash val="solid"/>
                      <a:round/>
                      <a:headEnd type="none" w="med" len="med"/>
                      <a:tailEnd type="none" w="med" len="med"/>
                    </a:lnL>
                    <a:lnR w="9525" cap="flat" cmpd="sng" algn="ctr">
                      <a:solidFill>
                        <a:srgbClr val="E0626B"/>
                      </a:solidFill>
                      <a:prstDash val="solid"/>
                      <a:round/>
                      <a:headEnd type="none" w="med" len="med"/>
                      <a:tailEnd type="none" w="med" len="med"/>
                    </a:lnR>
                    <a:lnT w="9525" cap="flat" cmpd="sng" algn="ctr">
                      <a:solidFill>
                        <a:srgbClr val="E0626B"/>
                      </a:solidFill>
                      <a:prstDash val="solid"/>
                      <a:round/>
                      <a:headEnd type="none" w="med" len="med"/>
                      <a:tailEnd type="none" w="med" len="med"/>
                    </a:lnT>
                    <a:lnB w="9525" cap="flat" cmpd="sng" algn="ctr">
                      <a:solidFill>
                        <a:srgbClr val="A06F6B"/>
                      </a:solidFill>
                      <a:prstDash val="solid"/>
                      <a:round/>
                      <a:headEnd type="none" w="med" len="med"/>
                      <a:tailEnd type="none" w="med" len="med"/>
                    </a:lnB>
                    <a:solidFill>
                      <a:srgbClr val="FFFFFF"/>
                    </a:solidFill>
                  </a:tcPr>
                </a:tc>
                <a:extLst>
                  <a:ext uri="{0D108BD9-81ED-4DB2-BD59-A6C34878D82A}">
                    <a16:rowId xmlns:a16="http://schemas.microsoft.com/office/drawing/2014/main" val="70829297"/>
                  </a:ext>
                </a:extLst>
              </a:tr>
              <a:tr h="292886">
                <a:tc>
                  <a:txBody>
                    <a:bodyPr/>
                    <a:lstStyle/>
                    <a:p>
                      <a:pPr fontAlgn="t"/>
                      <a:r>
                        <a:rPr lang="pt-BR" sz="1400">
                          <a:effectLst/>
                        </a:rPr>
                        <a:t>$a &lt; $b</a:t>
                      </a:r>
                    </a:p>
                  </a:txBody>
                  <a:tcPr marL="51802" marR="51802" marT="25901" marB="25901">
                    <a:lnL w="9525" cap="flat" cmpd="sng" algn="ctr">
                      <a:solidFill>
                        <a:srgbClr val="A06F6B"/>
                      </a:solidFill>
                      <a:prstDash val="solid"/>
                      <a:round/>
                      <a:headEnd type="none" w="med" len="med"/>
                      <a:tailEnd type="none" w="med" len="med"/>
                    </a:lnL>
                    <a:lnR w="9525" cap="flat" cmpd="sng" algn="ctr">
                      <a:solidFill>
                        <a:srgbClr val="A06F6B"/>
                      </a:solidFill>
                      <a:prstDash val="solid"/>
                      <a:round/>
                      <a:headEnd type="none" w="med" len="med"/>
                      <a:tailEnd type="none" w="med" len="med"/>
                    </a:lnR>
                    <a:lnT w="9525" cap="flat" cmpd="sng" algn="ctr">
                      <a:solidFill>
                        <a:srgbClr val="A06F6B"/>
                      </a:solidFill>
                      <a:prstDash val="solid"/>
                      <a:round/>
                      <a:headEnd type="none" w="med" len="med"/>
                      <a:tailEnd type="none" w="med" len="med"/>
                    </a:lnT>
                    <a:lnB w="9525" cap="flat" cmpd="sng" algn="ctr">
                      <a:solidFill>
                        <a:srgbClr val="20876B"/>
                      </a:solidFill>
                      <a:prstDash val="solid"/>
                      <a:round/>
                      <a:headEnd type="none" w="med" len="med"/>
                      <a:tailEnd type="none" w="med" len="med"/>
                    </a:lnB>
                    <a:solidFill>
                      <a:srgbClr val="E6E6E6"/>
                    </a:solidFill>
                  </a:tcPr>
                </a:tc>
                <a:tc>
                  <a:txBody>
                    <a:bodyPr/>
                    <a:lstStyle/>
                    <a:p>
                      <a:pPr fontAlgn="t"/>
                      <a:r>
                        <a:rPr lang="pt-BR" sz="1400">
                          <a:effectLst/>
                        </a:rPr>
                        <a:t>Menor que</a:t>
                      </a:r>
                    </a:p>
                  </a:txBody>
                  <a:tcPr marL="51802" marR="51802" marT="25901" marB="25901">
                    <a:lnL w="9525" cap="flat" cmpd="sng" algn="ctr">
                      <a:solidFill>
                        <a:srgbClr val="A06F6B"/>
                      </a:solidFill>
                      <a:prstDash val="solid"/>
                      <a:round/>
                      <a:headEnd type="none" w="med" len="med"/>
                      <a:tailEnd type="none" w="med" len="med"/>
                    </a:lnL>
                    <a:lnR w="9525" cap="flat" cmpd="sng" algn="ctr">
                      <a:solidFill>
                        <a:srgbClr val="A06F6B"/>
                      </a:solidFill>
                      <a:prstDash val="solid"/>
                      <a:round/>
                      <a:headEnd type="none" w="med" len="med"/>
                      <a:tailEnd type="none" w="med" len="med"/>
                    </a:lnR>
                    <a:lnT w="9525" cap="flat" cmpd="sng" algn="ctr">
                      <a:solidFill>
                        <a:srgbClr val="A06F6B"/>
                      </a:solidFill>
                      <a:prstDash val="solid"/>
                      <a:round/>
                      <a:headEnd type="none" w="med" len="med"/>
                      <a:tailEnd type="none" w="med" len="med"/>
                    </a:lnT>
                    <a:lnB w="9525" cap="flat" cmpd="sng" algn="ctr">
                      <a:solidFill>
                        <a:srgbClr val="20876B"/>
                      </a:solidFill>
                      <a:prstDash val="solid"/>
                      <a:round/>
                      <a:headEnd type="none" w="med" len="med"/>
                      <a:tailEnd type="none" w="med" len="med"/>
                    </a:lnB>
                    <a:solidFill>
                      <a:srgbClr val="E6E6E6"/>
                    </a:solidFill>
                  </a:tcPr>
                </a:tc>
                <a:tc>
                  <a:txBody>
                    <a:bodyPr/>
                    <a:lstStyle/>
                    <a:p>
                      <a:pPr fontAlgn="t"/>
                      <a:r>
                        <a:rPr lang="pt-BR" sz="1400" b="1" i="0">
                          <a:effectLst/>
                        </a:rPr>
                        <a:t>true</a:t>
                      </a:r>
                      <a:r>
                        <a:rPr lang="pt-BR" sz="1400">
                          <a:effectLst/>
                        </a:rPr>
                        <a:t> se </a:t>
                      </a:r>
                      <a:r>
                        <a:rPr lang="pt-BR" sz="1400" i="1">
                          <a:effectLst/>
                        </a:rPr>
                        <a:t>$a</a:t>
                      </a:r>
                      <a:r>
                        <a:rPr lang="pt-BR" sz="1400">
                          <a:effectLst/>
                        </a:rPr>
                        <a:t> é estritamente menor que </a:t>
                      </a:r>
                      <a:r>
                        <a:rPr lang="pt-BR" sz="1400" i="1">
                          <a:effectLst/>
                        </a:rPr>
                        <a:t>$b</a:t>
                      </a:r>
                      <a:r>
                        <a:rPr lang="pt-BR" sz="1400">
                          <a:effectLst/>
                        </a:rPr>
                        <a:t>.</a:t>
                      </a:r>
                    </a:p>
                  </a:txBody>
                  <a:tcPr marL="51802" marR="51802" marT="25901" marB="25901">
                    <a:lnL w="9525" cap="flat" cmpd="sng" algn="ctr">
                      <a:solidFill>
                        <a:srgbClr val="A06F6B"/>
                      </a:solidFill>
                      <a:prstDash val="solid"/>
                      <a:round/>
                      <a:headEnd type="none" w="med" len="med"/>
                      <a:tailEnd type="none" w="med" len="med"/>
                    </a:lnL>
                    <a:lnR w="9525" cap="flat" cmpd="sng" algn="ctr">
                      <a:solidFill>
                        <a:srgbClr val="A06F6B"/>
                      </a:solidFill>
                      <a:prstDash val="solid"/>
                      <a:round/>
                      <a:headEnd type="none" w="med" len="med"/>
                      <a:tailEnd type="none" w="med" len="med"/>
                    </a:lnR>
                    <a:lnT w="9525" cap="flat" cmpd="sng" algn="ctr">
                      <a:solidFill>
                        <a:srgbClr val="A06F6B"/>
                      </a:solidFill>
                      <a:prstDash val="solid"/>
                      <a:round/>
                      <a:headEnd type="none" w="med" len="med"/>
                      <a:tailEnd type="none" w="med" len="med"/>
                    </a:lnT>
                    <a:lnB w="9525" cap="flat" cmpd="sng" algn="ctr">
                      <a:solidFill>
                        <a:srgbClr val="20876B"/>
                      </a:solidFill>
                      <a:prstDash val="solid"/>
                      <a:round/>
                      <a:headEnd type="none" w="med" len="med"/>
                      <a:tailEnd type="none" w="med" len="med"/>
                    </a:lnB>
                    <a:solidFill>
                      <a:srgbClr val="E6E6E6"/>
                    </a:solidFill>
                  </a:tcPr>
                </a:tc>
                <a:extLst>
                  <a:ext uri="{0D108BD9-81ED-4DB2-BD59-A6C34878D82A}">
                    <a16:rowId xmlns:a16="http://schemas.microsoft.com/office/drawing/2014/main" val="2625699752"/>
                  </a:ext>
                </a:extLst>
              </a:tr>
              <a:tr h="292886">
                <a:tc>
                  <a:txBody>
                    <a:bodyPr/>
                    <a:lstStyle/>
                    <a:p>
                      <a:pPr fontAlgn="t"/>
                      <a:r>
                        <a:rPr lang="pt-BR" sz="1400">
                          <a:effectLst/>
                        </a:rPr>
                        <a:t>$a &gt; $b</a:t>
                      </a:r>
                    </a:p>
                  </a:txBody>
                  <a:tcPr marL="51802" marR="51802" marT="25901" marB="25901">
                    <a:lnL w="9525" cap="flat" cmpd="sng" algn="ctr">
                      <a:solidFill>
                        <a:srgbClr val="20876B"/>
                      </a:solidFill>
                      <a:prstDash val="solid"/>
                      <a:round/>
                      <a:headEnd type="none" w="med" len="med"/>
                      <a:tailEnd type="none" w="med" len="med"/>
                    </a:lnL>
                    <a:lnR w="9525" cap="flat" cmpd="sng" algn="ctr">
                      <a:solidFill>
                        <a:srgbClr val="20876B"/>
                      </a:solidFill>
                      <a:prstDash val="solid"/>
                      <a:round/>
                      <a:headEnd type="none" w="med" len="med"/>
                      <a:tailEnd type="none" w="med" len="med"/>
                    </a:lnR>
                    <a:lnT w="9525" cap="flat" cmpd="sng" algn="ctr">
                      <a:solidFill>
                        <a:srgbClr val="20876B"/>
                      </a:solidFill>
                      <a:prstDash val="solid"/>
                      <a:round/>
                      <a:headEnd type="none" w="med" len="med"/>
                      <a:tailEnd type="none" w="med" len="med"/>
                    </a:lnT>
                    <a:lnB w="9525" cap="flat" cmpd="sng" algn="ctr">
                      <a:solidFill>
                        <a:srgbClr val="20846B"/>
                      </a:solidFill>
                      <a:prstDash val="solid"/>
                      <a:round/>
                      <a:headEnd type="none" w="med" len="med"/>
                      <a:tailEnd type="none" w="med" len="med"/>
                    </a:lnB>
                    <a:solidFill>
                      <a:srgbClr val="FFFFFF"/>
                    </a:solidFill>
                  </a:tcPr>
                </a:tc>
                <a:tc>
                  <a:txBody>
                    <a:bodyPr/>
                    <a:lstStyle/>
                    <a:p>
                      <a:pPr fontAlgn="t"/>
                      <a:r>
                        <a:rPr lang="pt-BR" sz="1400">
                          <a:effectLst/>
                        </a:rPr>
                        <a:t>Maior que</a:t>
                      </a:r>
                    </a:p>
                  </a:txBody>
                  <a:tcPr marL="51802" marR="51802" marT="25901" marB="25901">
                    <a:lnL w="9525" cap="flat" cmpd="sng" algn="ctr">
                      <a:solidFill>
                        <a:srgbClr val="20876B"/>
                      </a:solidFill>
                      <a:prstDash val="solid"/>
                      <a:round/>
                      <a:headEnd type="none" w="med" len="med"/>
                      <a:tailEnd type="none" w="med" len="med"/>
                    </a:lnL>
                    <a:lnR w="9525" cap="flat" cmpd="sng" algn="ctr">
                      <a:solidFill>
                        <a:srgbClr val="20876B"/>
                      </a:solidFill>
                      <a:prstDash val="solid"/>
                      <a:round/>
                      <a:headEnd type="none" w="med" len="med"/>
                      <a:tailEnd type="none" w="med" len="med"/>
                    </a:lnR>
                    <a:lnT w="9525" cap="flat" cmpd="sng" algn="ctr">
                      <a:solidFill>
                        <a:srgbClr val="20876B"/>
                      </a:solidFill>
                      <a:prstDash val="solid"/>
                      <a:round/>
                      <a:headEnd type="none" w="med" len="med"/>
                      <a:tailEnd type="none" w="med" len="med"/>
                    </a:lnT>
                    <a:lnB w="9525" cap="flat" cmpd="sng" algn="ctr">
                      <a:solidFill>
                        <a:srgbClr val="20846B"/>
                      </a:solidFill>
                      <a:prstDash val="solid"/>
                      <a:round/>
                      <a:headEnd type="none" w="med" len="med"/>
                      <a:tailEnd type="none" w="med" len="med"/>
                    </a:lnB>
                    <a:solidFill>
                      <a:srgbClr val="FFFFFF"/>
                    </a:solidFill>
                  </a:tcPr>
                </a:tc>
                <a:tc>
                  <a:txBody>
                    <a:bodyPr/>
                    <a:lstStyle/>
                    <a:p>
                      <a:pPr fontAlgn="t"/>
                      <a:r>
                        <a:rPr lang="pt-BR" sz="1400" b="1" i="0">
                          <a:effectLst/>
                        </a:rPr>
                        <a:t>true</a:t>
                      </a:r>
                      <a:r>
                        <a:rPr lang="pt-BR" sz="1400">
                          <a:effectLst/>
                        </a:rPr>
                        <a:t> se </a:t>
                      </a:r>
                      <a:r>
                        <a:rPr lang="pt-BR" sz="1400" i="1">
                          <a:effectLst/>
                        </a:rPr>
                        <a:t>$a</a:t>
                      </a:r>
                      <a:r>
                        <a:rPr lang="pt-BR" sz="1400">
                          <a:effectLst/>
                        </a:rPr>
                        <a:t> é estritamente maior que </a:t>
                      </a:r>
                      <a:r>
                        <a:rPr lang="pt-BR" sz="1400" i="1">
                          <a:effectLst/>
                        </a:rPr>
                        <a:t>$b</a:t>
                      </a:r>
                      <a:r>
                        <a:rPr lang="pt-BR" sz="1400">
                          <a:effectLst/>
                        </a:rPr>
                        <a:t>.</a:t>
                      </a:r>
                    </a:p>
                  </a:txBody>
                  <a:tcPr marL="51802" marR="51802" marT="25901" marB="25901">
                    <a:lnL w="9525" cap="flat" cmpd="sng" algn="ctr">
                      <a:solidFill>
                        <a:srgbClr val="20876B"/>
                      </a:solidFill>
                      <a:prstDash val="solid"/>
                      <a:round/>
                      <a:headEnd type="none" w="med" len="med"/>
                      <a:tailEnd type="none" w="med" len="med"/>
                    </a:lnL>
                    <a:lnR w="9525" cap="flat" cmpd="sng" algn="ctr">
                      <a:solidFill>
                        <a:srgbClr val="20876B"/>
                      </a:solidFill>
                      <a:prstDash val="solid"/>
                      <a:round/>
                      <a:headEnd type="none" w="med" len="med"/>
                      <a:tailEnd type="none" w="med" len="med"/>
                    </a:lnR>
                    <a:lnT w="9525" cap="flat" cmpd="sng" algn="ctr">
                      <a:solidFill>
                        <a:srgbClr val="20876B"/>
                      </a:solidFill>
                      <a:prstDash val="solid"/>
                      <a:round/>
                      <a:headEnd type="none" w="med" len="med"/>
                      <a:tailEnd type="none" w="med" len="med"/>
                    </a:lnT>
                    <a:lnB w="9525" cap="flat" cmpd="sng" algn="ctr">
                      <a:solidFill>
                        <a:srgbClr val="20846B"/>
                      </a:solidFill>
                      <a:prstDash val="solid"/>
                      <a:round/>
                      <a:headEnd type="none" w="med" len="med"/>
                      <a:tailEnd type="none" w="med" len="med"/>
                    </a:lnB>
                    <a:solidFill>
                      <a:srgbClr val="FFFFFF"/>
                    </a:solidFill>
                  </a:tcPr>
                </a:tc>
                <a:extLst>
                  <a:ext uri="{0D108BD9-81ED-4DB2-BD59-A6C34878D82A}">
                    <a16:rowId xmlns:a16="http://schemas.microsoft.com/office/drawing/2014/main" val="1763634120"/>
                  </a:ext>
                </a:extLst>
              </a:tr>
              <a:tr h="237602">
                <a:tc>
                  <a:txBody>
                    <a:bodyPr/>
                    <a:lstStyle/>
                    <a:p>
                      <a:pPr fontAlgn="t"/>
                      <a:r>
                        <a:rPr lang="pt-BR" sz="1400">
                          <a:effectLst/>
                        </a:rPr>
                        <a:t>$a &lt;= $b</a:t>
                      </a:r>
                    </a:p>
                  </a:txBody>
                  <a:tcPr marL="51802" marR="51802" marT="25901" marB="25901">
                    <a:lnL w="9525" cap="flat" cmpd="sng" algn="ctr">
                      <a:solidFill>
                        <a:srgbClr val="20846B"/>
                      </a:solidFill>
                      <a:prstDash val="solid"/>
                      <a:round/>
                      <a:headEnd type="none" w="med" len="med"/>
                      <a:tailEnd type="none" w="med" len="med"/>
                    </a:lnL>
                    <a:lnR w="9525" cap="flat" cmpd="sng" algn="ctr">
                      <a:solidFill>
                        <a:srgbClr val="20846B"/>
                      </a:solidFill>
                      <a:prstDash val="solid"/>
                      <a:round/>
                      <a:headEnd type="none" w="med" len="med"/>
                      <a:tailEnd type="none" w="med" len="med"/>
                    </a:lnR>
                    <a:lnT w="9525" cap="flat" cmpd="sng" algn="ctr">
                      <a:solidFill>
                        <a:srgbClr val="20846B"/>
                      </a:solidFill>
                      <a:prstDash val="solid"/>
                      <a:round/>
                      <a:headEnd type="none" w="med" len="med"/>
                      <a:tailEnd type="none" w="med" len="med"/>
                    </a:lnT>
                    <a:lnB w="9525" cap="flat" cmpd="sng" algn="ctr">
                      <a:solidFill>
                        <a:srgbClr val="A08E6B"/>
                      </a:solidFill>
                      <a:prstDash val="solid"/>
                      <a:round/>
                      <a:headEnd type="none" w="med" len="med"/>
                      <a:tailEnd type="none" w="med" len="med"/>
                    </a:lnB>
                    <a:solidFill>
                      <a:srgbClr val="E6E6E6"/>
                    </a:solidFill>
                  </a:tcPr>
                </a:tc>
                <a:tc>
                  <a:txBody>
                    <a:bodyPr/>
                    <a:lstStyle/>
                    <a:p>
                      <a:pPr fontAlgn="t"/>
                      <a:r>
                        <a:rPr lang="pt-BR" sz="1400">
                          <a:effectLst/>
                        </a:rPr>
                        <a:t>Menor ou igual</a:t>
                      </a:r>
                    </a:p>
                  </a:txBody>
                  <a:tcPr marL="51802" marR="51802" marT="25901" marB="25901">
                    <a:lnL w="9525" cap="flat" cmpd="sng" algn="ctr">
                      <a:solidFill>
                        <a:srgbClr val="20846B"/>
                      </a:solidFill>
                      <a:prstDash val="solid"/>
                      <a:round/>
                      <a:headEnd type="none" w="med" len="med"/>
                      <a:tailEnd type="none" w="med" len="med"/>
                    </a:lnL>
                    <a:lnR w="9525" cap="flat" cmpd="sng" algn="ctr">
                      <a:solidFill>
                        <a:srgbClr val="20846B"/>
                      </a:solidFill>
                      <a:prstDash val="solid"/>
                      <a:round/>
                      <a:headEnd type="none" w="med" len="med"/>
                      <a:tailEnd type="none" w="med" len="med"/>
                    </a:lnR>
                    <a:lnT w="9525" cap="flat" cmpd="sng" algn="ctr">
                      <a:solidFill>
                        <a:srgbClr val="20846B"/>
                      </a:solidFill>
                      <a:prstDash val="solid"/>
                      <a:round/>
                      <a:headEnd type="none" w="med" len="med"/>
                      <a:tailEnd type="none" w="med" len="med"/>
                    </a:lnT>
                    <a:lnB w="9525" cap="flat" cmpd="sng" algn="ctr">
                      <a:solidFill>
                        <a:srgbClr val="A08E6B"/>
                      </a:solidFill>
                      <a:prstDash val="solid"/>
                      <a:round/>
                      <a:headEnd type="none" w="med" len="med"/>
                      <a:tailEnd type="none" w="med" len="med"/>
                    </a:lnB>
                    <a:solidFill>
                      <a:srgbClr val="E6E6E6"/>
                    </a:solidFill>
                  </a:tcPr>
                </a:tc>
                <a:tc>
                  <a:txBody>
                    <a:bodyPr/>
                    <a:lstStyle/>
                    <a:p>
                      <a:pPr fontAlgn="t"/>
                      <a:r>
                        <a:rPr lang="pt-BR" sz="1400" b="1" i="0">
                          <a:effectLst/>
                        </a:rPr>
                        <a:t>true</a:t>
                      </a:r>
                      <a:r>
                        <a:rPr lang="pt-BR" sz="1400">
                          <a:effectLst/>
                        </a:rPr>
                        <a:t> se </a:t>
                      </a:r>
                      <a:r>
                        <a:rPr lang="pt-BR" sz="1400" i="1">
                          <a:effectLst/>
                        </a:rPr>
                        <a:t>$a</a:t>
                      </a:r>
                      <a:r>
                        <a:rPr lang="pt-BR" sz="1400">
                          <a:effectLst/>
                        </a:rPr>
                        <a:t> é menor ou igual a </a:t>
                      </a:r>
                      <a:r>
                        <a:rPr lang="pt-BR" sz="1400" i="1">
                          <a:effectLst/>
                        </a:rPr>
                        <a:t>$b</a:t>
                      </a:r>
                      <a:r>
                        <a:rPr lang="pt-BR" sz="1400">
                          <a:effectLst/>
                        </a:rPr>
                        <a:t>.</a:t>
                      </a:r>
                    </a:p>
                  </a:txBody>
                  <a:tcPr marL="51802" marR="51802" marT="25901" marB="25901">
                    <a:lnL w="9525" cap="flat" cmpd="sng" algn="ctr">
                      <a:solidFill>
                        <a:srgbClr val="20846B"/>
                      </a:solidFill>
                      <a:prstDash val="solid"/>
                      <a:round/>
                      <a:headEnd type="none" w="med" len="med"/>
                      <a:tailEnd type="none" w="med" len="med"/>
                    </a:lnL>
                    <a:lnR w="9525" cap="flat" cmpd="sng" algn="ctr">
                      <a:solidFill>
                        <a:srgbClr val="20846B"/>
                      </a:solidFill>
                      <a:prstDash val="solid"/>
                      <a:round/>
                      <a:headEnd type="none" w="med" len="med"/>
                      <a:tailEnd type="none" w="med" len="med"/>
                    </a:lnR>
                    <a:lnT w="9525" cap="flat" cmpd="sng" algn="ctr">
                      <a:solidFill>
                        <a:srgbClr val="20846B"/>
                      </a:solidFill>
                      <a:prstDash val="solid"/>
                      <a:round/>
                      <a:headEnd type="none" w="med" len="med"/>
                      <a:tailEnd type="none" w="med" len="med"/>
                    </a:lnT>
                    <a:lnB w="9525" cap="flat" cmpd="sng" algn="ctr">
                      <a:solidFill>
                        <a:srgbClr val="A08E6B"/>
                      </a:solidFill>
                      <a:prstDash val="solid"/>
                      <a:round/>
                      <a:headEnd type="none" w="med" len="med"/>
                      <a:tailEnd type="none" w="med" len="med"/>
                    </a:lnB>
                    <a:solidFill>
                      <a:srgbClr val="E6E6E6"/>
                    </a:solidFill>
                  </a:tcPr>
                </a:tc>
                <a:extLst>
                  <a:ext uri="{0D108BD9-81ED-4DB2-BD59-A6C34878D82A}">
                    <a16:rowId xmlns:a16="http://schemas.microsoft.com/office/drawing/2014/main" val="1508219731"/>
                  </a:ext>
                </a:extLst>
              </a:tr>
              <a:tr h="237602">
                <a:tc>
                  <a:txBody>
                    <a:bodyPr/>
                    <a:lstStyle/>
                    <a:p>
                      <a:pPr fontAlgn="t"/>
                      <a:r>
                        <a:rPr lang="pt-BR" sz="1400">
                          <a:effectLst/>
                        </a:rPr>
                        <a:t>$a &gt;= $b</a:t>
                      </a:r>
                    </a:p>
                  </a:txBody>
                  <a:tcPr marL="51802" marR="51802" marT="25901" marB="25901">
                    <a:lnL w="9525" cap="flat" cmpd="sng" algn="ctr">
                      <a:solidFill>
                        <a:srgbClr val="A08E6B"/>
                      </a:solidFill>
                      <a:prstDash val="solid"/>
                      <a:round/>
                      <a:headEnd type="none" w="med" len="med"/>
                      <a:tailEnd type="none" w="med" len="med"/>
                    </a:lnL>
                    <a:lnR w="9525" cap="flat" cmpd="sng" algn="ctr">
                      <a:solidFill>
                        <a:srgbClr val="A08E6B"/>
                      </a:solidFill>
                      <a:prstDash val="solid"/>
                      <a:round/>
                      <a:headEnd type="none" w="med" len="med"/>
                      <a:tailEnd type="none" w="med" len="med"/>
                    </a:lnR>
                    <a:lnT w="9525" cap="flat" cmpd="sng" algn="ctr">
                      <a:solidFill>
                        <a:srgbClr val="A08E6B"/>
                      </a:solidFill>
                      <a:prstDash val="solid"/>
                      <a:round/>
                      <a:headEnd type="none" w="med" len="med"/>
                      <a:tailEnd type="none" w="med" len="med"/>
                    </a:lnT>
                    <a:lnB w="9525" cap="flat" cmpd="sng" algn="ctr">
                      <a:solidFill>
                        <a:srgbClr val="A0A36B"/>
                      </a:solidFill>
                      <a:prstDash val="solid"/>
                      <a:round/>
                      <a:headEnd type="none" w="med" len="med"/>
                      <a:tailEnd type="none" w="med" len="med"/>
                    </a:lnB>
                    <a:solidFill>
                      <a:srgbClr val="FFFFFF"/>
                    </a:solidFill>
                  </a:tcPr>
                </a:tc>
                <a:tc>
                  <a:txBody>
                    <a:bodyPr/>
                    <a:lstStyle/>
                    <a:p>
                      <a:pPr fontAlgn="t"/>
                      <a:r>
                        <a:rPr lang="pt-BR" sz="1400">
                          <a:effectLst/>
                        </a:rPr>
                        <a:t>Maior ou igual</a:t>
                      </a:r>
                    </a:p>
                  </a:txBody>
                  <a:tcPr marL="51802" marR="51802" marT="25901" marB="25901">
                    <a:lnL w="9525" cap="flat" cmpd="sng" algn="ctr">
                      <a:solidFill>
                        <a:srgbClr val="A08E6B"/>
                      </a:solidFill>
                      <a:prstDash val="solid"/>
                      <a:round/>
                      <a:headEnd type="none" w="med" len="med"/>
                      <a:tailEnd type="none" w="med" len="med"/>
                    </a:lnL>
                    <a:lnR w="9525" cap="flat" cmpd="sng" algn="ctr">
                      <a:solidFill>
                        <a:srgbClr val="A08E6B"/>
                      </a:solidFill>
                      <a:prstDash val="solid"/>
                      <a:round/>
                      <a:headEnd type="none" w="med" len="med"/>
                      <a:tailEnd type="none" w="med" len="med"/>
                    </a:lnR>
                    <a:lnT w="9525" cap="flat" cmpd="sng" algn="ctr">
                      <a:solidFill>
                        <a:srgbClr val="A08E6B"/>
                      </a:solidFill>
                      <a:prstDash val="solid"/>
                      <a:round/>
                      <a:headEnd type="none" w="med" len="med"/>
                      <a:tailEnd type="none" w="med" len="med"/>
                    </a:lnT>
                    <a:lnB w="9525" cap="flat" cmpd="sng" algn="ctr">
                      <a:solidFill>
                        <a:srgbClr val="A0A36B"/>
                      </a:solidFill>
                      <a:prstDash val="solid"/>
                      <a:round/>
                      <a:headEnd type="none" w="med" len="med"/>
                      <a:tailEnd type="none" w="med" len="med"/>
                    </a:lnB>
                    <a:solidFill>
                      <a:srgbClr val="FFFFFF"/>
                    </a:solidFill>
                  </a:tcPr>
                </a:tc>
                <a:tc>
                  <a:txBody>
                    <a:bodyPr/>
                    <a:lstStyle/>
                    <a:p>
                      <a:pPr fontAlgn="t"/>
                      <a:r>
                        <a:rPr lang="pt-BR" sz="1400" b="1" i="0">
                          <a:effectLst/>
                        </a:rPr>
                        <a:t>true</a:t>
                      </a:r>
                      <a:r>
                        <a:rPr lang="pt-BR" sz="1400">
                          <a:effectLst/>
                        </a:rPr>
                        <a:t> se </a:t>
                      </a:r>
                      <a:r>
                        <a:rPr lang="pt-BR" sz="1400" i="1">
                          <a:effectLst/>
                        </a:rPr>
                        <a:t>$a</a:t>
                      </a:r>
                      <a:r>
                        <a:rPr lang="pt-BR" sz="1400">
                          <a:effectLst/>
                        </a:rPr>
                        <a:t> é maior ou igual a </a:t>
                      </a:r>
                      <a:r>
                        <a:rPr lang="pt-BR" sz="1400" i="1">
                          <a:effectLst/>
                        </a:rPr>
                        <a:t>$b</a:t>
                      </a:r>
                      <a:r>
                        <a:rPr lang="pt-BR" sz="1400">
                          <a:effectLst/>
                        </a:rPr>
                        <a:t>.</a:t>
                      </a:r>
                    </a:p>
                  </a:txBody>
                  <a:tcPr marL="51802" marR="51802" marT="25901" marB="25901">
                    <a:lnL w="9525" cap="flat" cmpd="sng" algn="ctr">
                      <a:solidFill>
                        <a:srgbClr val="A08E6B"/>
                      </a:solidFill>
                      <a:prstDash val="solid"/>
                      <a:round/>
                      <a:headEnd type="none" w="med" len="med"/>
                      <a:tailEnd type="none" w="med" len="med"/>
                    </a:lnL>
                    <a:lnR w="9525" cap="flat" cmpd="sng" algn="ctr">
                      <a:solidFill>
                        <a:srgbClr val="A08E6B"/>
                      </a:solidFill>
                      <a:prstDash val="solid"/>
                      <a:round/>
                      <a:headEnd type="none" w="med" len="med"/>
                      <a:tailEnd type="none" w="med" len="med"/>
                    </a:lnR>
                    <a:lnT w="9525" cap="flat" cmpd="sng" algn="ctr">
                      <a:solidFill>
                        <a:srgbClr val="A08E6B"/>
                      </a:solidFill>
                      <a:prstDash val="solid"/>
                      <a:round/>
                      <a:headEnd type="none" w="med" len="med"/>
                      <a:tailEnd type="none" w="med" len="med"/>
                    </a:lnT>
                    <a:lnB w="9525" cap="flat" cmpd="sng" algn="ctr">
                      <a:solidFill>
                        <a:srgbClr val="A0A36B"/>
                      </a:solidFill>
                      <a:prstDash val="solid"/>
                      <a:round/>
                      <a:headEnd type="none" w="med" len="med"/>
                      <a:tailEnd type="none" w="med" len="med"/>
                    </a:lnB>
                    <a:solidFill>
                      <a:srgbClr val="FFFFFF"/>
                    </a:solidFill>
                  </a:tcPr>
                </a:tc>
                <a:extLst>
                  <a:ext uri="{0D108BD9-81ED-4DB2-BD59-A6C34878D82A}">
                    <a16:rowId xmlns:a16="http://schemas.microsoft.com/office/drawing/2014/main" val="1280222188"/>
                  </a:ext>
                </a:extLst>
              </a:tr>
              <a:tr h="543932">
                <a:tc>
                  <a:txBody>
                    <a:bodyPr/>
                    <a:lstStyle/>
                    <a:p>
                      <a:pPr fontAlgn="t"/>
                      <a:r>
                        <a:rPr lang="pt-BR" sz="1400" dirty="0">
                          <a:effectLst/>
                        </a:rPr>
                        <a:t>$a &lt;=&gt; $b</a:t>
                      </a:r>
                    </a:p>
                  </a:txBody>
                  <a:tcPr marL="51802" marR="51802" marT="25901" marB="25901">
                    <a:lnL w="9525" cap="flat" cmpd="sng" algn="ctr">
                      <a:solidFill>
                        <a:srgbClr val="A0A36B"/>
                      </a:solidFill>
                      <a:prstDash val="solid"/>
                      <a:round/>
                      <a:headEnd type="none" w="med" len="med"/>
                      <a:tailEnd type="none" w="med" len="med"/>
                    </a:lnL>
                    <a:lnR w="9525" cap="flat" cmpd="sng" algn="ctr">
                      <a:solidFill>
                        <a:srgbClr val="A0A36B"/>
                      </a:solidFill>
                      <a:prstDash val="solid"/>
                      <a:round/>
                      <a:headEnd type="none" w="med" len="med"/>
                      <a:tailEnd type="none" w="med" len="med"/>
                    </a:lnR>
                    <a:lnT w="9525" cap="flat" cmpd="sng" algn="ctr">
                      <a:solidFill>
                        <a:srgbClr val="A0A36B"/>
                      </a:solidFill>
                      <a:prstDash val="solid"/>
                      <a:round/>
                      <a:headEnd type="none" w="med" len="med"/>
                      <a:tailEnd type="none" w="med" len="med"/>
                    </a:lnT>
                    <a:lnB w="9525" cap="flat" cmpd="sng" algn="ctr">
                      <a:solidFill>
                        <a:srgbClr val="A0A36B"/>
                      </a:solidFill>
                      <a:prstDash val="solid"/>
                      <a:round/>
                      <a:headEnd type="none" w="med" len="med"/>
                      <a:tailEnd type="none" w="med" len="med"/>
                    </a:lnB>
                    <a:solidFill>
                      <a:srgbClr val="E6E6E6"/>
                    </a:solidFill>
                  </a:tcPr>
                </a:tc>
                <a:tc>
                  <a:txBody>
                    <a:bodyPr/>
                    <a:lstStyle/>
                    <a:p>
                      <a:pPr fontAlgn="t"/>
                      <a:r>
                        <a:rPr lang="pt-BR" sz="1400">
                          <a:effectLst/>
                        </a:rPr>
                        <a:t>Spaceship (nave espacial)</a:t>
                      </a:r>
                    </a:p>
                  </a:txBody>
                  <a:tcPr marL="51802" marR="51802" marT="25901" marB="25901">
                    <a:lnL w="9525" cap="flat" cmpd="sng" algn="ctr">
                      <a:solidFill>
                        <a:srgbClr val="A0A36B"/>
                      </a:solidFill>
                      <a:prstDash val="solid"/>
                      <a:round/>
                      <a:headEnd type="none" w="med" len="med"/>
                      <a:tailEnd type="none" w="med" len="med"/>
                    </a:lnL>
                    <a:lnR w="9525" cap="flat" cmpd="sng" algn="ctr">
                      <a:solidFill>
                        <a:srgbClr val="A0A36B"/>
                      </a:solidFill>
                      <a:prstDash val="solid"/>
                      <a:round/>
                      <a:headEnd type="none" w="med" len="med"/>
                      <a:tailEnd type="none" w="med" len="med"/>
                    </a:lnR>
                    <a:lnT w="9525" cap="flat" cmpd="sng" algn="ctr">
                      <a:solidFill>
                        <a:srgbClr val="A0A36B"/>
                      </a:solidFill>
                      <a:prstDash val="solid"/>
                      <a:round/>
                      <a:headEnd type="none" w="med" len="med"/>
                      <a:tailEnd type="none" w="med" len="med"/>
                    </a:lnT>
                    <a:lnB w="9525" cap="flat" cmpd="sng" algn="ctr">
                      <a:solidFill>
                        <a:srgbClr val="A0A36B"/>
                      </a:solidFill>
                      <a:prstDash val="solid"/>
                      <a:round/>
                      <a:headEnd type="none" w="med" len="med"/>
                      <a:tailEnd type="none" w="med" len="med"/>
                    </a:lnB>
                    <a:solidFill>
                      <a:srgbClr val="E6E6E6"/>
                    </a:solidFill>
                  </a:tcPr>
                </a:tc>
                <a:tc>
                  <a:txBody>
                    <a:bodyPr/>
                    <a:lstStyle/>
                    <a:p>
                      <a:pPr fontAlgn="t"/>
                      <a:r>
                        <a:rPr lang="pt-BR" sz="1400" dirty="0">
                          <a:effectLst/>
                        </a:rPr>
                        <a:t>Um </a:t>
                      </a:r>
                      <a:r>
                        <a:rPr lang="pt-BR" sz="1400" dirty="0" err="1">
                          <a:effectLst/>
                        </a:rPr>
                        <a:t>int</a:t>
                      </a:r>
                      <a:r>
                        <a:rPr lang="pt-BR" sz="1400" dirty="0">
                          <a:effectLst/>
                        </a:rPr>
                        <a:t> menor que, igual a ou maior que zero quando </a:t>
                      </a:r>
                      <a:r>
                        <a:rPr lang="pt-BR" sz="1400" i="1" dirty="0">
                          <a:effectLst/>
                        </a:rPr>
                        <a:t>$a</a:t>
                      </a:r>
                      <a:r>
                        <a:rPr lang="pt-BR" sz="1400" dirty="0">
                          <a:effectLst/>
                        </a:rPr>
                        <a:t> é, respectivamente, menor que, igual a ou maior que </a:t>
                      </a:r>
                      <a:r>
                        <a:rPr lang="pt-BR" sz="1400" i="1" dirty="0">
                          <a:effectLst/>
                        </a:rPr>
                        <a:t>$b</a:t>
                      </a:r>
                      <a:r>
                        <a:rPr lang="pt-BR" sz="1400" dirty="0">
                          <a:effectLst/>
                        </a:rPr>
                        <a:t>.</a:t>
                      </a:r>
                    </a:p>
                  </a:txBody>
                  <a:tcPr marL="51802" marR="51802" marT="25901" marB="25901">
                    <a:lnL w="9525" cap="flat" cmpd="sng" algn="ctr">
                      <a:solidFill>
                        <a:srgbClr val="A0A36B"/>
                      </a:solidFill>
                      <a:prstDash val="solid"/>
                      <a:round/>
                      <a:headEnd type="none" w="med" len="med"/>
                      <a:tailEnd type="none" w="med" len="med"/>
                    </a:lnL>
                    <a:lnR w="9525" cap="flat" cmpd="sng" algn="ctr">
                      <a:solidFill>
                        <a:srgbClr val="A0A36B"/>
                      </a:solidFill>
                      <a:prstDash val="solid"/>
                      <a:round/>
                      <a:headEnd type="none" w="med" len="med"/>
                      <a:tailEnd type="none" w="med" len="med"/>
                    </a:lnR>
                    <a:lnT w="9525" cap="flat" cmpd="sng" algn="ctr">
                      <a:solidFill>
                        <a:srgbClr val="A0A36B"/>
                      </a:solidFill>
                      <a:prstDash val="solid"/>
                      <a:round/>
                      <a:headEnd type="none" w="med" len="med"/>
                      <a:tailEnd type="none" w="med" len="med"/>
                    </a:lnT>
                    <a:lnB w="9525" cap="flat" cmpd="sng" algn="ctr">
                      <a:solidFill>
                        <a:srgbClr val="A0A36B"/>
                      </a:solidFill>
                      <a:prstDash val="solid"/>
                      <a:round/>
                      <a:headEnd type="none" w="med" len="med"/>
                      <a:tailEnd type="none" w="med" len="med"/>
                    </a:lnB>
                    <a:solidFill>
                      <a:srgbClr val="E6E6E6"/>
                    </a:solidFill>
                  </a:tcPr>
                </a:tc>
                <a:extLst>
                  <a:ext uri="{0D108BD9-81ED-4DB2-BD59-A6C34878D82A}">
                    <a16:rowId xmlns:a16="http://schemas.microsoft.com/office/drawing/2014/main" val="3557994609"/>
                  </a:ext>
                </a:extLst>
              </a:tr>
            </a:tbl>
          </a:graphicData>
        </a:graphic>
      </p:graphicFrame>
    </p:spTree>
    <p:extLst>
      <p:ext uri="{BB962C8B-B14F-4D97-AF65-F5344CB8AC3E}">
        <p14:creationId xmlns:p14="http://schemas.microsoft.com/office/powerpoint/2010/main" val="3329257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1146E6-DE8C-1566-44A4-2AA9970D9A76}"/>
              </a:ext>
            </a:extLst>
          </p:cNvPr>
          <p:cNvSpPr>
            <a:spLocks noGrp="1"/>
          </p:cNvSpPr>
          <p:nvPr>
            <p:ph type="title"/>
          </p:nvPr>
        </p:nvSpPr>
        <p:spPr/>
        <p:txBody>
          <a:bodyPr/>
          <a:lstStyle/>
          <a:p>
            <a:r>
              <a:rPr lang="pt-BR" dirty="0"/>
              <a:t>O Comando IF</a:t>
            </a:r>
          </a:p>
        </p:txBody>
      </p:sp>
      <p:sp>
        <p:nvSpPr>
          <p:cNvPr id="3" name="Espaço Reservado para Conteúdo 2">
            <a:extLst>
              <a:ext uri="{FF2B5EF4-FFF2-40B4-BE49-F238E27FC236}">
                <a16:creationId xmlns:a16="http://schemas.microsoft.com/office/drawing/2014/main" id="{9D2F6682-B1E1-7835-93E1-8A9BE513D810}"/>
              </a:ext>
            </a:extLst>
          </p:cNvPr>
          <p:cNvSpPr>
            <a:spLocks noGrp="1"/>
          </p:cNvSpPr>
          <p:nvPr>
            <p:ph idx="1"/>
          </p:nvPr>
        </p:nvSpPr>
        <p:spPr>
          <a:xfrm>
            <a:off x="317695" y="1291053"/>
            <a:ext cx="5604933" cy="4220514"/>
          </a:xfrm>
        </p:spPr>
        <p:txBody>
          <a:bodyPr>
            <a:normAutofit/>
          </a:bodyPr>
          <a:lstStyle/>
          <a:p>
            <a:pPr marL="0" indent="0">
              <a:buNone/>
            </a:pPr>
            <a:r>
              <a:rPr lang="pt-BR" dirty="0"/>
              <a:t>O construtor </a:t>
            </a:r>
            <a:r>
              <a:rPr lang="pt-BR" dirty="0" err="1"/>
              <a:t>if</a:t>
            </a:r>
            <a:r>
              <a:rPr lang="pt-BR" dirty="0"/>
              <a:t> é um dos recursos mais importantes em muitas linguagens, inclusive no PHP. Permite a execução condicional de fragmentos de código. O PHP apresenta uma estrutura </a:t>
            </a:r>
            <a:r>
              <a:rPr lang="pt-BR" dirty="0" err="1"/>
              <a:t>if</a:t>
            </a:r>
            <a:r>
              <a:rPr lang="pt-BR" dirty="0"/>
              <a:t> semelhante a da linguagem C:</a:t>
            </a:r>
          </a:p>
        </p:txBody>
      </p:sp>
      <p:sp>
        <p:nvSpPr>
          <p:cNvPr id="5" name="CaixaDeTexto 4">
            <a:extLst>
              <a:ext uri="{FF2B5EF4-FFF2-40B4-BE49-F238E27FC236}">
                <a16:creationId xmlns:a16="http://schemas.microsoft.com/office/drawing/2014/main" id="{38A3D74E-CC81-144D-CCBE-7BB3FCDD1F40}"/>
              </a:ext>
            </a:extLst>
          </p:cNvPr>
          <p:cNvSpPr txBox="1"/>
          <p:nvPr/>
        </p:nvSpPr>
        <p:spPr>
          <a:xfrm>
            <a:off x="5922628" y="653831"/>
            <a:ext cx="5287493" cy="5170646"/>
          </a:xfrm>
          <a:prstGeom prst="rect">
            <a:avLst/>
          </a:prstGeom>
          <a:solidFill>
            <a:schemeClr val="tx1"/>
          </a:solidFill>
        </p:spPr>
        <p:txBody>
          <a:bodyPr wrap="square">
            <a:spAutoFit/>
          </a:bodyPr>
          <a:lstStyle/>
          <a:p>
            <a:r>
              <a:rPr lang="pt-BR" sz="1600" b="0" u="sng" dirty="0">
                <a:solidFill>
                  <a:srgbClr val="6A9955"/>
                </a:solidFill>
                <a:effectLst/>
                <a:latin typeface="Consolas" panose="020B0609020204030204" pitchFamily="49" charset="0"/>
              </a:rPr>
              <a:t>&lt;!-- </a:t>
            </a:r>
            <a:r>
              <a:rPr lang="pt-BR" sz="1600" b="0" u="sng" dirty="0" err="1">
                <a:solidFill>
                  <a:srgbClr val="6A9955"/>
                </a:solidFill>
                <a:effectLst/>
                <a:latin typeface="Consolas" panose="020B0609020204030204" pitchFamily="49" charset="0"/>
              </a:rPr>
              <a:t>notas.php</a:t>
            </a:r>
            <a:r>
              <a:rPr lang="pt-BR" sz="1600" b="0" u="sng" dirty="0">
                <a:solidFill>
                  <a:srgbClr val="6A9955"/>
                </a:solidFill>
                <a:effectLst/>
                <a:latin typeface="Consolas" panose="020B0609020204030204" pitchFamily="49" charset="0"/>
              </a:rPr>
              <a:t> --&gt;</a:t>
            </a:r>
            <a:endParaRPr lang="pt-BR" sz="1600" b="0" u="sng" dirty="0">
              <a:solidFill>
                <a:srgbClr val="CCCCCC"/>
              </a:solidFill>
              <a:effectLst/>
              <a:latin typeface="Consolas" panose="020B0609020204030204" pitchFamily="49" charset="0"/>
            </a:endParaRPr>
          </a:p>
          <a:p>
            <a:r>
              <a:rPr lang="pt-BR" sz="1600" b="0" u="sng" dirty="0">
                <a:solidFill>
                  <a:srgbClr val="808080"/>
                </a:solidFill>
                <a:effectLst/>
                <a:latin typeface="Consolas" panose="020B0609020204030204" pitchFamily="49" charset="0"/>
              </a:rPr>
              <a:t>&lt;</a:t>
            </a:r>
            <a:r>
              <a:rPr lang="pt-BR" sz="1600" b="0" u="sng" dirty="0" err="1">
                <a:solidFill>
                  <a:srgbClr val="569CD6"/>
                </a:solidFill>
                <a:effectLst/>
                <a:latin typeface="Consolas" panose="020B0609020204030204" pitchFamily="49" charset="0"/>
              </a:rPr>
              <a:t>html</a:t>
            </a:r>
            <a:r>
              <a:rPr lang="pt-BR" sz="1600" b="0" u="sng" dirty="0">
                <a:solidFill>
                  <a:srgbClr val="808080"/>
                </a:solidFill>
                <a:effectLst/>
                <a:latin typeface="Consolas" panose="020B0609020204030204" pitchFamily="49" charset="0"/>
              </a:rPr>
              <a:t>&gt;</a:t>
            </a:r>
            <a:endParaRPr lang="pt-BR" sz="1600" b="0" u="sng" dirty="0">
              <a:solidFill>
                <a:srgbClr val="CCCCCC"/>
              </a:solidFill>
              <a:effectLst/>
              <a:latin typeface="Consolas" panose="020B0609020204030204" pitchFamily="49" charset="0"/>
            </a:endParaRPr>
          </a:p>
          <a:p>
            <a:r>
              <a:rPr lang="pt-BR" sz="1600" b="0" u="sng" dirty="0">
                <a:solidFill>
                  <a:srgbClr val="808080"/>
                </a:solidFill>
                <a:effectLst/>
                <a:latin typeface="Consolas" panose="020B0609020204030204" pitchFamily="49" charset="0"/>
              </a:rPr>
              <a:t>&lt;</a:t>
            </a:r>
            <a:r>
              <a:rPr lang="pt-BR" sz="1600" b="0" u="sng" dirty="0" err="1">
                <a:solidFill>
                  <a:srgbClr val="569CD6"/>
                </a:solidFill>
                <a:effectLst/>
                <a:latin typeface="Consolas" panose="020B0609020204030204" pitchFamily="49" charset="0"/>
              </a:rPr>
              <a:t>head</a:t>
            </a:r>
            <a:r>
              <a:rPr lang="pt-BR" sz="1600" b="0" u="sng" dirty="0">
                <a:solidFill>
                  <a:srgbClr val="808080"/>
                </a:solidFill>
                <a:effectLst/>
                <a:latin typeface="Consolas" panose="020B0609020204030204" pitchFamily="49" charset="0"/>
              </a:rPr>
              <a:t>&gt;</a:t>
            </a:r>
            <a:endParaRPr lang="pt-BR" sz="1600" b="0" u="sng" dirty="0">
              <a:solidFill>
                <a:srgbClr val="CCCCCC"/>
              </a:solidFill>
              <a:effectLst/>
              <a:latin typeface="Consolas" panose="020B0609020204030204" pitchFamily="49" charset="0"/>
            </a:endParaRPr>
          </a:p>
          <a:p>
            <a:r>
              <a:rPr lang="pt-BR" sz="1600" b="0" u="sng" dirty="0">
                <a:solidFill>
                  <a:srgbClr val="CCCCCC"/>
                </a:solidFill>
                <a:effectLst/>
                <a:latin typeface="Consolas" panose="020B0609020204030204" pitchFamily="49" charset="0"/>
              </a:rPr>
              <a:t>    </a:t>
            </a:r>
            <a:r>
              <a:rPr lang="pt-BR" sz="1600" b="0" u="sng" dirty="0">
                <a:solidFill>
                  <a:srgbClr val="808080"/>
                </a:solidFill>
                <a:effectLst/>
                <a:latin typeface="Consolas" panose="020B0609020204030204" pitchFamily="49" charset="0"/>
              </a:rPr>
              <a:t>&lt;</a:t>
            </a:r>
            <a:r>
              <a:rPr lang="pt-BR" sz="1600" b="0" u="sng" dirty="0" err="1">
                <a:solidFill>
                  <a:srgbClr val="569CD6"/>
                </a:solidFill>
                <a:effectLst/>
                <a:latin typeface="Consolas" panose="020B0609020204030204" pitchFamily="49" charset="0"/>
              </a:rPr>
              <a:t>title</a:t>
            </a:r>
            <a:r>
              <a:rPr lang="pt-BR" sz="1600" b="0" u="sng" dirty="0">
                <a:solidFill>
                  <a:srgbClr val="808080"/>
                </a:solidFill>
                <a:effectLst/>
                <a:latin typeface="Consolas" panose="020B0609020204030204" pitchFamily="49" charset="0"/>
              </a:rPr>
              <a:t>&gt;</a:t>
            </a:r>
            <a:r>
              <a:rPr lang="pt-BR" sz="1600" b="0" u="sng" dirty="0">
                <a:solidFill>
                  <a:srgbClr val="CCCCCC"/>
                </a:solidFill>
                <a:effectLst/>
                <a:latin typeface="Consolas" panose="020B0609020204030204" pitchFamily="49" charset="0"/>
              </a:rPr>
              <a:t>Meu segundo programa</a:t>
            </a:r>
            <a:r>
              <a:rPr lang="pt-BR" sz="1600" b="0" u="sng" dirty="0">
                <a:solidFill>
                  <a:srgbClr val="808080"/>
                </a:solidFill>
                <a:effectLst/>
                <a:latin typeface="Consolas" panose="020B0609020204030204" pitchFamily="49" charset="0"/>
              </a:rPr>
              <a:t>&lt;/</a:t>
            </a:r>
            <a:r>
              <a:rPr lang="pt-BR" sz="1600" b="0" u="sng" dirty="0" err="1">
                <a:solidFill>
                  <a:srgbClr val="569CD6"/>
                </a:solidFill>
                <a:effectLst/>
                <a:latin typeface="Consolas" panose="020B0609020204030204" pitchFamily="49" charset="0"/>
              </a:rPr>
              <a:t>title</a:t>
            </a:r>
            <a:r>
              <a:rPr lang="pt-BR" sz="1600" b="0" u="sng" dirty="0">
                <a:solidFill>
                  <a:srgbClr val="808080"/>
                </a:solidFill>
                <a:effectLst/>
                <a:latin typeface="Consolas" panose="020B0609020204030204" pitchFamily="49" charset="0"/>
              </a:rPr>
              <a:t>&gt;</a:t>
            </a:r>
            <a:endParaRPr lang="pt-BR" sz="1600" b="0" u="sng" dirty="0">
              <a:solidFill>
                <a:srgbClr val="CCCCCC"/>
              </a:solidFill>
              <a:effectLst/>
              <a:latin typeface="Consolas" panose="020B0609020204030204" pitchFamily="49" charset="0"/>
            </a:endParaRPr>
          </a:p>
          <a:p>
            <a:r>
              <a:rPr lang="pt-BR" sz="1600" b="0" u="sng" dirty="0">
                <a:solidFill>
                  <a:srgbClr val="808080"/>
                </a:solidFill>
                <a:effectLst/>
                <a:latin typeface="Consolas" panose="020B0609020204030204" pitchFamily="49" charset="0"/>
              </a:rPr>
              <a:t>&lt;/</a:t>
            </a:r>
            <a:r>
              <a:rPr lang="pt-BR" sz="1600" b="0" u="sng" dirty="0" err="1">
                <a:solidFill>
                  <a:srgbClr val="569CD6"/>
                </a:solidFill>
                <a:effectLst/>
                <a:latin typeface="Consolas" panose="020B0609020204030204" pitchFamily="49" charset="0"/>
              </a:rPr>
              <a:t>head</a:t>
            </a:r>
            <a:r>
              <a:rPr lang="pt-BR" sz="1600" b="0" u="sng" dirty="0">
                <a:solidFill>
                  <a:srgbClr val="808080"/>
                </a:solidFill>
                <a:effectLst/>
                <a:latin typeface="Consolas" panose="020B0609020204030204" pitchFamily="49" charset="0"/>
              </a:rPr>
              <a:t>&gt;</a:t>
            </a:r>
            <a:endParaRPr lang="pt-BR" sz="1600" b="0" u="sng" dirty="0">
              <a:solidFill>
                <a:srgbClr val="CCCCCC"/>
              </a:solidFill>
              <a:effectLst/>
              <a:latin typeface="Consolas" panose="020B0609020204030204" pitchFamily="49" charset="0"/>
            </a:endParaRPr>
          </a:p>
          <a:p>
            <a:r>
              <a:rPr lang="pt-BR" sz="1600" b="0" u="sng" dirty="0">
                <a:solidFill>
                  <a:srgbClr val="808080"/>
                </a:solidFill>
                <a:effectLst/>
                <a:latin typeface="Consolas" panose="020B0609020204030204" pitchFamily="49" charset="0"/>
              </a:rPr>
              <a:t>&lt;</a:t>
            </a:r>
            <a:r>
              <a:rPr lang="pt-BR" sz="1600" b="0" u="sng" dirty="0">
                <a:solidFill>
                  <a:srgbClr val="569CD6"/>
                </a:solidFill>
                <a:effectLst/>
                <a:latin typeface="Consolas" panose="020B0609020204030204" pitchFamily="49" charset="0"/>
              </a:rPr>
              <a:t>body</a:t>
            </a:r>
            <a:r>
              <a:rPr lang="pt-BR" sz="1600" b="0" u="sng" dirty="0">
                <a:solidFill>
                  <a:srgbClr val="808080"/>
                </a:solidFill>
                <a:effectLst/>
                <a:latin typeface="Consolas" panose="020B0609020204030204" pitchFamily="49" charset="0"/>
              </a:rPr>
              <a:t>&gt;</a:t>
            </a:r>
            <a:endParaRPr lang="pt-BR" sz="1600" b="0" u="sng" dirty="0">
              <a:solidFill>
                <a:srgbClr val="CCCCCC"/>
              </a:solidFill>
              <a:effectLst/>
              <a:latin typeface="Consolas" panose="020B0609020204030204" pitchFamily="49" charset="0"/>
            </a:endParaRPr>
          </a:p>
          <a:p>
            <a:r>
              <a:rPr lang="pt-BR" sz="1600" b="0" u="sng" dirty="0">
                <a:solidFill>
                  <a:srgbClr val="CCCCCC"/>
                </a:solidFill>
                <a:effectLst/>
                <a:latin typeface="Consolas" panose="020B0609020204030204" pitchFamily="49" charset="0"/>
              </a:rPr>
              <a:t>    </a:t>
            </a:r>
            <a:r>
              <a:rPr lang="pt-BR" sz="1600" b="0" u="sng" dirty="0">
                <a:solidFill>
                  <a:srgbClr val="569CD6"/>
                </a:solidFill>
                <a:effectLst/>
                <a:latin typeface="Consolas" panose="020B0609020204030204" pitchFamily="49" charset="0"/>
              </a:rPr>
              <a:t>&lt;?</a:t>
            </a:r>
            <a:r>
              <a:rPr lang="pt-BR" sz="1600" b="0" u="sng" dirty="0" err="1">
                <a:solidFill>
                  <a:srgbClr val="569CD6"/>
                </a:solidFill>
                <a:effectLst/>
                <a:latin typeface="Consolas" panose="020B0609020204030204" pitchFamily="49" charset="0"/>
              </a:rPr>
              <a:t>php</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a:t>
            </a:r>
            <a:r>
              <a:rPr lang="pt-BR" sz="1600" b="0" u="sng" dirty="0" err="1">
                <a:solidFill>
                  <a:srgbClr val="DCDCAA"/>
                </a:solidFill>
                <a:effectLst/>
                <a:latin typeface="Consolas" panose="020B0609020204030204" pitchFamily="49" charset="0"/>
              </a:rPr>
              <a:t>echo</a:t>
            </a:r>
            <a:r>
              <a:rPr lang="pt-BR" sz="1600" b="0" u="sng" dirty="0">
                <a:solidFill>
                  <a:srgbClr val="D4D4D4"/>
                </a:solidFill>
                <a:effectLst/>
                <a:latin typeface="Consolas" panose="020B0609020204030204" pitchFamily="49" charset="0"/>
              </a:rPr>
              <a:t>(</a:t>
            </a:r>
            <a:r>
              <a:rPr lang="pt-BR" sz="1600" b="0" u="sng" dirty="0">
                <a:solidFill>
                  <a:srgbClr val="CE9178"/>
                </a:solidFill>
                <a:effectLst/>
                <a:latin typeface="Consolas" panose="020B0609020204030204" pitchFamily="49" charset="0"/>
              </a:rPr>
              <a:t>"&lt;h1&gt;Resultado&lt;/h1&gt;"</a:t>
            </a:r>
            <a:r>
              <a:rPr lang="pt-BR" sz="1600" b="0" u="sng" dirty="0">
                <a:solidFill>
                  <a:srgbClr val="D4D4D4"/>
                </a:solidFill>
                <a:effectLst/>
                <a:latin typeface="Consolas" panose="020B0609020204030204" pitchFamily="49" charset="0"/>
              </a:rPr>
              <a:t>);</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a:t>
            </a:r>
            <a:r>
              <a:rPr lang="pt-BR" sz="1600" b="0" u="sng" dirty="0" err="1">
                <a:solidFill>
                  <a:srgbClr val="DCDCAA"/>
                </a:solidFill>
                <a:effectLst/>
                <a:latin typeface="Consolas" panose="020B0609020204030204" pitchFamily="49" charset="0"/>
              </a:rPr>
              <a:t>echo</a:t>
            </a:r>
            <a:r>
              <a:rPr lang="pt-BR" sz="1600" b="0" u="sng" dirty="0">
                <a:solidFill>
                  <a:srgbClr val="D4D4D4"/>
                </a:solidFill>
                <a:effectLst/>
                <a:latin typeface="Consolas" panose="020B0609020204030204" pitchFamily="49" charset="0"/>
              </a:rPr>
              <a:t>(</a:t>
            </a:r>
            <a:r>
              <a:rPr lang="pt-BR" sz="1600" b="0" u="sng" dirty="0">
                <a:solidFill>
                  <a:srgbClr val="CE9178"/>
                </a:solidFill>
                <a:effectLst/>
                <a:latin typeface="Consolas" panose="020B0609020204030204" pitchFamily="49" charset="0"/>
              </a:rPr>
              <a:t>"&lt;</a:t>
            </a:r>
            <a:r>
              <a:rPr lang="pt-BR" sz="1600" b="0" u="sng" dirty="0" err="1">
                <a:solidFill>
                  <a:srgbClr val="CE9178"/>
                </a:solidFill>
                <a:effectLst/>
                <a:latin typeface="Consolas" panose="020B0609020204030204" pitchFamily="49" charset="0"/>
              </a:rPr>
              <a:t>br</a:t>
            </a:r>
            <a:r>
              <a:rPr lang="pt-BR" sz="1600" b="0" u="sng" dirty="0">
                <a:solidFill>
                  <a:srgbClr val="CE9178"/>
                </a:solidFill>
                <a:effectLst/>
                <a:latin typeface="Consolas" panose="020B0609020204030204" pitchFamily="49" charset="0"/>
              </a:rPr>
              <a:t>/&gt;"</a:t>
            </a:r>
            <a:r>
              <a:rPr lang="pt-BR" sz="1600" b="0" u="sng" dirty="0">
                <a:solidFill>
                  <a:srgbClr val="D4D4D4"/>
                </a:solidFill>
                <a:effectLst/>
                <a:latin typeface="Consolas" panose="020B0609020204030204" pitchFamily="49" charset="0"/>
              </a:rPr>
              <a:t>);</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a:t>
            </a:r>
            <a:r>
              <a:rPr lang="pt-BR" sz="1600" b="0" u="sng" dirty="0">
                <a:solidFill>
                  <a:srgbClr val="9CDCFE"/>
                </a:solidFill>
                <a:effectLst/>
                <a:latin typeface="Consolas" panose="020B0609020204030204" pitchFamily="49" charset="0"/>
              </a:rPr>
              <a:t>$nota</a:t>
            </a:r>
            <a:r>
              <a:rPr lang="pt-BR" sz="1600" b="0" u="sng" dirty="0">
                <a:solidFill>
                  <a:srgbClr val="D4D4D4"/>
                </a:solidFill>
                <a:effectLst/>
                <a:latin typeface="Consolas" panose="020B0609020204030204" pitchFamily="49" charset="0"/>
              </a:rPr>
              <a:t> = </a:t>
            </a:r>
            <a:r>
              <a:rPr lang="pt-BR" sz="1600" b="0" u="sng" dirty="0">
                <a:solidFill>
                  <a:srgbClr val="B5CEA8"/>
                </a:solidFill>
                <a:effectLst/>
                <a:latin typeface="Consolas" panose="020B0609020204030204" pitchFamily="49" charset="0"/>
              </a:rPr>
              <a:t>6.5</a:t>
            </a:r>
            <a:r>
              <a:rPr lang="pt-BR" sz="1600" b="0" u="sng" dirty="0">
                <a:solidFill>
                  <a:srgbClr val="D4D4D4"/>
                </a:solidFill>
                <a:effectLst/>
                <a:latin typeface="Consolas" panose="020B0609020204030204" pitchFamily="49" charset="0"/>
              </a:rPr>
              <a:t>;</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a:t>
            </a:r>
            <a:r>
              <a:rPr lang="pt-BR" sz="1600" b="0" u="sng" dirty="0" err="1">
                <a:solidFill>
                  <a:srgbClr val="C586C0"/>
                </a:solidFill>
                <a:effectLst/>
                <a:latin typeface="Consolas" panose="020B0609020204030204" pitchFamily="49" charset="0"/>
              </a:rPr>
              <a:t>if</a:t>
            </a:r>
            <a:r>
              <a:rPr lang="pt-BR" sz="1600" b="0" u="sng" dirty="0">
                <a:solidFill>
                  <a:srgbClr val="D4D4D4"/>
                </a:solidFill>
                <a:effectLst/>
                <a:latin typeface="Consolas" panose="020B0609020204030204" pitchFamily="49" charset="0"/>
              </a:rPr>
              <a:t> (</a:t>
            </a:r>
            <a:r>
              <a:rPr lang="pt-BR" sz="1600" b="0" u="sng" dirty="0">
                <a:solidFill>
                  <a:srgbClr val="9CDCFE"/>
                </a:solidFill>
                <a:effectLst/>
                <a:latin typeface="Consolas" panose="020B0609020204030204" pitchFamily="49" charset="0"/>
              </a:rPr>
              <a:t>$nota</a:t>
            </a:r>
            <a:r>
              <a:rPr lang="pt-BR" sz="1600" b="0" u="sng" dirty="0">
                <a:solidFill>
                  <a:srgbClr val="D4D4D4"/>
                </a:solidFill>
                <a:effectLst/>
                <a:latin typeface="Consolas" panose="020B0609020204030204" pitchFamily="49" charset="0"/>
              </a:rPr>
              <a:t> &lt; </a:t>
            </a:r>
            <a:r>
              <a:rPr lang="pt-BR" sz="1600" b="0" u="sng" dirty="0">
                <a:solidFill>
                  <a:srgbClr val="B5CEA8"/>
                </a:solidFill>
                <a:effectLst/>
                <a:latin typeface="Consolas" panose="020B0609020204030204" pitchFamily="49" charset="0"/>
              </a:rPr>
              <a:t>5</a:t>
            </a:r>
            <a:r>
              <a:rPr lang="pt-BR" sz="1600" b="0" u="sng" dirty="0">
                <a:solidFill>
                  <a:srgbClr val="D4D4D4"/>
                </a:solidFill>
                <a:effectLst/>
                <a:latin typeface="Consolas" panose="020B0609020204030204" pitchFamily="49" charset="0"/>
              </a:rPr>
              <a:t>) {</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a:t>
            </a:r>
            <a:r>
              <a:rPr lang="pt-BR" sz="1600" b="0" u="sng" dirty="0" err="1">
                <a:solidFill>
                  <a:srgbClr val="DCDCAA"/>
                </a:solidFill>
                <a:effectLst/>
                <a:latin typeface="Consolas" panose="020B0609020204030204" pitchFamily="49" charset="0"/>
              </a:rPr>
              <a:t>echo</a:t>
            </a:r>
            <a:r>
              <a:rPr lang="pt-BR" sz="1600" b="0" u="sng" dirty="0">
                <a:solidFill>
                  <a:srgbClr val="D4D4D4"/>
                </a:solidFill>
                <a:effectLst/>
                <a:latin typeface="Consolas" panose="020B0609020204030204" pitchFamily="49" charset="0"/>
              </a:rPr>
              <a:t>(</a:t>
            </a:r>
            <a:r>
              <a:rPr lang="pt-BR" sz="1600" b="0" u="sng" dirty="0">
                <a:solidFill>
                  <a:srgbClr val="CE9178"/>
                </a:solidFill>
                <a:effectLst/>
                <a:latin typeface="Consolas" panose="020B0609020204030204" pitchFamily="49" charset="0"/>
              </a:rPr>
              <a:t>"Aluno reprovado"</a:t>
            </a:r>
            <a:r>
              <a:rPr lang="pt-BR" sz="1600" b="0" u="sng" dirty="0">
                <a:solidFill>
                  <a:srgbClr val="D4D4D4"/>
                </a:solidFill>
                <a:effectLst/>
                <a:latin typeface="Consolas" panose="020B0609020204030204" pitchFamily="49" charset="0"/>
              </a:rPr>
              <a:t>);</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 </a:t>
            </a:r>
            <a:r>
              <a:rPr lang="pt-BR" sz="1600" b="0" u="sng" dirty="0" err="1">
                <a:solidFill>
                  <a:srgbClr val="C586C0"/>
                </a:solidFill>
                <a:effectLst/>
                <a:latin typeface="Consolas" panose="020B0609020204030204" pitchFamily="49" charset="0"/>
              </a:rPr>
              <a:t>elseif</a:t>
            </a:r>
            <a:r>
              <a:rPr lang="pt-BR" sz="1600" b="0" u="sng" dirty="0">
                <a:solidFill>
                  <a:srgbClr val="D4D4D4"/>
                </a:solidFill>
                <a:effectLst/>
                <a:latin typeface="Consolas" panose="020B0609020204030204" pitchFamily="49" charset="0"/>
              </a:rPr>
              <a:t> (</a:t>
            </a:r>
            <a:r>
              <a:rPr lang="pt-BR" sz="1600" b="0" u="sng" dirty="0">
                <a:solidFill>
                  <a:srgbClr val="9CDCFE"/>
                </a:solidFill>
                <a:effectLst/>
                <a:latin typeface="Consolas" panose="020B0609020204030204" pitchFamily="49" charset="0"/>
              </a:rPr>
              <a:t>$nota</a:t>
            </a:r>
            <a:r>
              <a:rPr lang="pt-BR" sz="1600" b="0" u="sng" dirty="0">
                <a:solidFill>
                  <a:srgbClr val="D4D4D4"/>
                </a:solidFill>
                <a:effectLst/>
                <a:latin typeface="Consolas" panose="020B0609020204030204" pitchFamily="49" charset="0"/>
              </a:rPr>
              <a:t> &lt; </a:t>
            </a:r>
            <a:r>
              <a:rPr lang="pt-BR" sz="1600" b="0" u="sng" dirty="0">
                <a:solidFill>
                  <a:srgbClr val="B5CEA8"/>
                </a:solidFill>
                <a:effectLst/>
                <a:latin typeface="Consolas" panose="020B0609020204030204" pitchFamily="49" charset="0"/>
              </a:rPr>
              <a:t>7</a:t>
            </a:r>
            <a:r>
              <a:rPr lang="pt-BR" sz="1600" b="0" u="sng" dirty="0">
                <a:solidFill>
                  <a:srgbClr val="D4D4D4"/>
                </a:solidFill>
                <a:effectLst/>
                <a:latin typeface="Consolas" panose="020B0609020204030204" pitchFamily="49" charset="0"/>
              </a:rPr>
              <a:t>) {</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a:t>
            </a:r>
            <a:r>
              <a:rPr lang="pt-BR" sz="1600" b="0" u="sng" dirty="0" err="1">
                <a:solidFill>
                  <a:srgbClr val="DCDCAA"/>
                </a:solidFill>
                <a:effectLst/>
                <a:latin typeface="Consolas" panose="020B0609020204030204" pitchFamily="49" charset="0"/>
              </a:rPr>
              <a:t>echo</a:t>
            </a:r>
            <a:r>
              <a:rPr lang="pt-BR" sz="1600" b="0" u="sng" dirty="0">
                <a:solidFill>
                  <a:srgbClr val="D4D4D4"/>
                </a:solidFill>
                <a:effectLst/>
                <a:latin typeface="Consolas" panose="020B0609020204030204" pitchFamily="49" charset="0"/>
              </a:rPr>
              <a:t>(</a:t>
            </a:r>
            <a:r>
              <a:rPr lang="pt-BR" sz="1600" b="0" u="sng" dirty="0">
                <a:solidFill>
                  <a:srgbClr val="CE9178"/>
                </a:solidFill>
                <a:effectLst/>
                <a:latin typeface="Consolas" panose="020B0609020204030204" pitchFamily="49" charset="0"/>
              </a:rPr>
              <a:t>"Aluno em recuperação"</a:t>
            </a:r>
            <a:r>
              <a:rPr lang="pt-BR" sz="1600" b="0" u="sng" dirty="0">
                <a:solidFill>
                  <a:srgbClr val="D4D4D4"/>
                </a:solidFill>
                <a:effectLst/>
                <a:latin typeface="Consolas" panose="020B0609020204030204" pitchFamily="49" charset="0"/>
              </a:rPr>
              <a:t>);</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 </a:t>
            </a:r>
            <a:r>
              <a:rPr lang="pt-BR" sz="1600" b="0" u="sng" dirty="0" err="1">
                <a:solidFill>
                  <a:srgbClr val="C586C0"/>
                </a:solidFill>
                <a:effectLst/>
                <a:latin typeface="Consolas" panose="020B0609020204030204" pitchFamily="49" charset="0"/>
              </a:rPr>
              <a:t>else</a:t>
            </a:r>
            <a:r>
              <a:rPr lang="pt-BR" sz="1600" b="0" u="sng" dirty="0">
                <a:solidFill>
                  <a:srgbClr val="D4D4D4"/>
                </a:solidFill>
                <a:effectLst/>
                <a:latin typeface="Consolas" panose="020B0609020204030204" pitchFamily="49" charset="0"/>
              </a:rPr>
              <a:t> {</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a:t>
            </a:r>
            <a:r>
              <a:rPr lang="pt-BR" sz="1600" b="0" u="sng" dirty="0" err="1">
                <a:solidFill>
                  <a:srgbClr val="DCDCAA"/>
                </a:solidFill>
                <a:effectLst/>
                <a:latin typeface="Consolas" panose="020B0609020204030204" pitchFamily="49" charset="0"/>
              </a:rPr>
              <a:t>echo</a:t>
            </a:r>
            <a:r>
              <a:rPr lang="pt-BR" sz="1600" b="0" u="sng" dirty="0">
                <a:solidFill>
                  <a:srgbClr val="D4D4D4"/>
                </a:solidFill>
                <a:effectLst/>
                <a:latin typeface="Consolas" panose="020B0609020204030204" pitchFamily="49" charset="0"/>
              </a:rPr>
              <a:t>(</a:t>
            </a:r>
            <a:r>
              <a:rPr lang="pt-BR" sz="1600" b="0" u="sng" dirty="0">
                <a:solidFill>
                  <a:srgbClr val="CE9178"/>
                </a:solidFill>
                <a:effectLst/>
                <a:latin typeface="Consolas" panose="020B0609020204030204" pitchFamily="49" charset="0"/>
              </a:rPr>
              <a:t>"Aluno aprovado"</a:t>
            </a:r>
            <a:r>
              <a:rPr lang="pt-BR" sz="1600" b="0" u="sng" dirty="0">
                <a:solidFill>
                  <a:srgbClr val="D4D4D4"/>
                </a:solidFill>
                <a:effectLst/>
                <a:latin typeface="Consolas" panose="020B0609020204030204" pitchFamily="49" charset="0"/>
              </a:rPr>
              <a:t>);</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a:t>
            </a:r>
            <a:endParaRPr lang="pt-BR" sz="1600" b="0" u="sng" dirty="0">
              <a:solidFill>
                <a:srgbClr val="CCCCCC"/>
              </a:solidFill>
              <a:effectLst/>
              <a:latin typeface="Consolas" panose="020B0609020204030204" pitchFamily="49" charset="0"/>
            </a:endParaRPr>
          </a:p>
          <a:p>
            <a:r>
              <a:rPr lang="pt-BR" sz="1600" b="0" u="sng" dirty="0">
                <a:solidFill>
                  <a:srgbClr val="D4D4D4"/>
                </a:solidFill>
                <a:effectLst/>
                <a:latin typeface="Consolas" panose="020B0609020204030204" pitchFamily="49" charset="0"/>
              </a:rPr>
              <a:t>    </a:t>
            </a:r>
            <a:r>
              <a:rPr lang="pt-BR" sz="1600" b="0" u="sng" dirty="0">
                <a:solidFill>
                  <a:srgbClr val="569CD6"/>
                </a:solidFill>
                <a:effectLst/>
                <a:latin typeface="Consolas" panose="020B0609020204030204" pitchFamily="49" charset="0"/>
              </a:rPr>
              <a:t>?&gt;</a:t>
            </a:r>
            <a:endParaRPr lang="pt-BR" sz="1600" b="0" u="sng" dirty="0">
              <a:solidFill>
                <a:srgbClr val="CCCCCC"/>
              </a:solidFill>
              <a:effectLst/>
              <a:latin typeface="Consolas" panose="020B0609020204030204" pitchFamily="49" charset="0"/>
            </a:endParaRPr>
          </a:p>
          <a:p>
            <a:r>
              <a:rPr lang="pt-BR" sz="1600" b="0" u="sng" dirty="0">
                <a:solidFill>
                  <a:srgbClr val="808080"/>
                </a:solidFill>
                <a:effectLst/>
                <a:latin typeface="Consolas" panose="020B0609020204030204" pitchFamily="49" charset="0"/>
              </a:rPr>
              <a:t>&lt;/</a:t>
            </a:r>
            <a:r>
              <a:rPr lang="pt-BR" sz="1600" b="0" u="sng" dirty="0">
                <a:solidFill>
                  <a:srgbClr val="569CD6"/>
                </a:solidFill>
                <a:effectLst/>
                <a:latin typeface="Consolas" panose="020B0609020204030204" pitchFamily="49" charset="0"/>
              </a:rPr>
              <a:t>body</a:t>
            </a:r>
            <a:r>
              <a:rPr lang="pt-BR" sz="1600" b="0" u="sng" dirty="0">
                <a:solidFill>
                  <a:srgbClr val="808080"/>
                </a:solidFill>
                <a:effectLst/>
                <a:latin typeface="Consolas" panose="020B0609020204030204" pitchFamily="49" charset="0"/>
              </a:rPr>
              <a:t>&gt;</a:t>
            </a:r>
            <a:endParaRPr lang="pt-BR" sz="1600" b="0" u="sng" dirty="0">
              <a:solidFill>
                <a:srgbClr val="CCCCCC"/>
              </a:solidFill>
              <a:effectLst/>
              <a:latin typeface="Consolas" panose="020B0609020204030204" pitchFamily="49" charset="0"/>
            </a:endParaRPr>
          </a:p>
          <a:p>
            <a:r>
              <a:rPr lang="pt-BR" sz="1600" b="0" u="sng" dirty="0">
                <a:solidFill>
                  <a:srgbClr val="808080"/>
                </a:solidFill>
                <a:effectLst/>
                <a:latin typeface="Consolas" panose="020B0609020204030204" pitchFamily="49" charset="0"/>
              </a:rPr>
              <a:t>&lt;/</a:t>
            </a:r>
            <a:r>
              <a:rPr lang="pt-BR" sz="1600" b="0" u="sng" dirty="0" err="1">
                <a:solidFill>
                  <a:srgbClr val="569CD6"/>
                </a:solidFill>
                <a:effectLst/>
                <a:latin typeface="Consolas" panose="020B0609020204030204" pitchFamily="49" charset="0"/>
              </a:rPr>
              <a:t>html</a:t>
            </a:r>
            <a:r>
              <a:rPr lang="pt-BR" sz="1600" b="0" u="sng" dirty="0">
                <a:solidFill>
                  <a:srgbClr val="808080"/>
                </a:solidFill>
                <a:effectLst/>
                <a:latin typeface="Consolas" panose="020B0609020204030204" pitchFamily="49" charset="0"/>
              </a:rPr>
              <a:t>&gt;</a:t>
            </a:r>
            <a:endParaRPr lang="pt-BR" sz="1600" b="0" u="sng"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4192070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60E8E0-5166-48A9-AACB-F64423AD6C20}"/>
              </a:ext>
            </a:extLst>
          </p:cNvPr>
          <p:cNvSpPr>
            <a:spLocks noGrp="1"/>
          </p:cNvSpPr>
          <p:nvPr>
            <p:ph type="title"/>
          </p:nvPr>
        </p:nvSpPr>
        <p:spPr/>
        <p:txBody>
          <a:bodyPr/>
          <a:lstStyle/>
          <a:p>
            <a:r>
              <a:rPr lang="pt-BR" dirty="0"/>
              <a:t>Laço for</a:t>
            </a:r>
          </a:p>
        </p:txBody>
      </p:sp>
      <p:sp>
        <p:nvSpPr>
          <p:cNvPr id="3" name="Espaço Reservado para Conteúdo 2">
            <a:extLst>
              <a:ext uri="{FF2B5EF4-FFF2-40B4-BE49-F238E27FC236}">
                <a16:creationId xmlns:a16="http://schemas.microsoft.com/office/drawing/2014/main" id="{427E706F-B687-EF58-1E2B-40E78C9F612A}"/>
              </a:ext>
            </a:extLst>
          </p:cNvPr>
          <p:cNvSpPr>
            <a:spLocks noGrp="1"/>
          </p:cNvSpPr>
          <p:nvPr>
            <p:ph idx="1"/>
          </p:nvPr>
        </p:nvSpPr>
        <p:spPr>
          <a:xfrm>
            <a:off x="317694" y="1291053"/>
            <a:ext cx="5143539" cy="4351338"/>
          </a:xfrm>
        </p:spPr>
        <p:txBody>
          <a:bodyPr/>
          <a:lstStyle/>
          <a:p>
            <a:pPr marL="0" indent="0">
              <a:buNone/>
            </a:pPr>
            <a:r>
              <a:rPr lang="pt-BR" dirty="0"/>
              <a:t>O laço for é uma estrutura de repetição muito utilizada nos programas, e é muito útil quando se sabe de antemão quantas vezes a repetição deverá ser executada. Este laço utiliza uma variável para controlar a contagem do loop, bem como seu incremento.</a:t>
            </a:r>
          </a:p>
        </p:txBody>
      </p:sp>
      <p:sp>
        <p:nvSpPr>
          <p:cNvPr id="5" name="CaixaDeTexto 4">
            <a:extLst>
              <a:ext uri="{FF2B5EF4-FFF2-40B4-BE49-F238E27FC236}">
                <a16:creationId xmlns:a16="http://schemas.microsoft.com/office/drawing/2014/main" id="{36F21F37-74F2-E23F-3826-8B625F307318}"/>
              </a:ext>
            </a:extLst>
          </p:cNvPr>
          <p:cNvSpPr txBox="1"/>
          <p:nvPr/>
        </p:nvSpPr>
        <p:spPr>
          <a:xfrm>
            <a:off x="5350079" y="1083213"/>
            <a:ext cx="6220436" cy="3970318"/>
          </a:xfrm>
          <a:prstGeom prst="rect">
            <a:avLst/>
          </a:prstGeom>
          <a:solidFill>
            <a:schemeClr val="tx1"/>
          </a:solidFill>
        </p:spPr>
        <p:txBody>
          <a:bodyPr wrap="square">
            <a:spAutoFit/>
          </a:bodyPr>
          <a:lstStyle/>
          <a:p>
            <a:r>
              <a:rPr lang="pt-BR" b="0" dirty="0">
                <a:solidFill>
                  <a:srgbClr val="6A9955"/>
                </a:solidFill>
                <a:effectLst/>
                <a:latin typeface="Consolas" panose="020B0609020204030204" pitchFamily="49" charset="0"/>
              </a:rPr>
              <a:t>&lt;!-- aula1b.php --&gt;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html</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head</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CCCCCC"/>
                </a:solidFill>
                <a:effectLst/>
                <a:latin typeface="Consolas" panose="020B0609020204030204" pitchFamily="49" charset="0"/>
              </a:rPr>
              <a:t>    </a:t>
            </a:r>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title</a:t>
            </a:r>
            <a:r>
              <a:rPr lang="pt-BR" b="0" dirty="0">
                <a:solidFill>
                  <a:srgbClr val="808080"/>
                </a:solidFill>
                <a:effectLst/>
                <a:latin typeface="Consolas" panose="020B0609020204030204" pitchFamily="49" charset="0"/>
              </a:rPr>
              <a:t>&gt;</a:t>
            </a:r>
            <a:r>
              <a:rPr lang="pt-BR" b="0" dirty="0">
                <a:solidFill>
                  <a:srgbClr val="CCCCCC"/>
                </a:solidFill>
                <a:effectLst/>
                <a:latin typeface="Consolas" panose="020B0609020204030204" pitchFamily="49" charset="0"/>
              </a:rPr>
              <a:t>Meu segundo programa</a:t>
            </a:r>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title</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head</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a:solidFill>
                  <a:srgbClr val="569CD6"/>
                </a:solidFill>
                <a:effectLst/>
                <a:latin typeface="Consolas" panose="020B0609020204030204" pitchFamily="49" charset="0"/>
              </a:rPr>
              <a:t>body</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&lt;?</a:t>
            </a:r>
            <a:r>
              <a:rPr lang="pt-BR" b="0" dirty="0" err="1">
                <a:solidFill>
                  <a:srgbClr val="569CD6"/>
                </a:solidFill>
                <a:effectLst/>
                <a:latin typeface="Consolas" panose="020B0609020204030204" pitchFamily="49" charset="0"/>
              </a:rPr>
              <a:t>php</a:t>
            </a:r>
            <a:endParaRPr lang="pt-BR" b="0" dirty="0">
              <a:solidFill>
                <a:srgbClr val="CCCCCC"/>
              </a:solidFill>
              <a:effectLst/>
              <a:latin typeface="Consolas" panose="020B0609020204030204" pitchFamily="49" charset="0"/>
            </a:endParaRPr>
          </a:p>
          <a:p>
            <a:r>
              <a:rPr lang="pt-BR" b="0" dirty="0">
                <a:solidFill>
                  <a:srgbClr val="D4D4D4"/>
                </a:solidFill>
                <a:effectLst/>
                <a:latin typeface="Consolas" panose="020B0609020204030204" pitchFamily="49" charset="0"/>
              </a:rPr>
              <a:t>    </a:t>
            </a:r>
            <a:r>
              <a:rPr lang="pt-BR" b="0" dirty="0">
                <a:solidFill>
                  <a:srgbClr val="C586C0"/>
                </a:solidFill>
                <a:effectLst/>
                <a:latin typeface="Consolas" panose="020B0609020204030204" pitchFamily="49" charset="0"/>
              </a:rPr>
              <a:t>for</a:t>
            </a:r>
            <a:r>
              <a:rPr lang="pt-BR" b="0" dirty="0">
                <a:solidFill>
                  <a:srgbClr val="D4D4D4"/>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 = </a:t>
            </a:r>
            <a:r>
              <a:rPr lang="pt-BR" b="0" dirty="0">
                <a:solidFill>
                  <a:srgbClr val="B5CEA8"/>
                </a:solidFill>
                <a:effectLst/>
                <a:latin typeface="Consolas" panose="020B0609020204030204" pitchFamily="49" charset="0"/>
              </a:rPr>
              <a:t>1</a:t>
            </a:r>
            <a:r>
              <a:rPr lang="pt-BR" b="0" dirty="0">
                <a:solidFill>
                  <a:srgbClr val="D4D4D4"/>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 &lt;= </a:t>
            </a:r>
            <a:r>
              <a:rPr lang="pt-BR" b="0" dirty="0">
                <a:solidFill>
                  <a:srgbClr val="B5CEA8"/>
                </a:solidFill>
                <a:effectLst/>
                <a:latin typeface="Consolas" panose="020B0609020204030204" pitchFamily="49" charset="0"/>
              </a:rPr>
              <a:t>10</a:t>
            </a:r>
            <a:r>
              <a:rPr lang="pt-BR" b="0" dirty="0">
                <a:solidFill>
                  <a:srgbClr val="D4D4D4"/>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 {</a:t>
            </a:r>
            <a:endParaRPr lang="pt-BR" b="0" dirty="0">
              <a:solidFill>
                <a:srgbClr val="CCCCCC"/>
              </a:solidFill>
              <a:effectLst/>
              <a:latin typeface="Consolas" panose="020B0609020204030204" pitchFamily="49" charset="0"/>
            </a:endParaRPr>
          </a:p>
          <a:p>
            <a:r>
              <a:rPr lang="pt-BR" b="0" dirty="0">
                <a:solidFill>
                  <a:srgbClr val="D4D4D4"/>
                </a:solidFill>
                <a:effectLst/>
                <a:latin typeface="Consolas" panose="020B0609020204030204" pitchFamily="49" charset="0"/>
              </a:rPr>
              <a:t>         </a:t>
            </a:r>
            <a:r>
              <a:rPr lang="pt-BR" b="0" dirty="0" err="1">
                <a:solidFill>
                  <a:srgbClr val="DCDCAA"/>
                </a:solidFill>
                <a:effectLst/>
                <a:latin typeface="Consolas" panose="020B0609020204030204" pitchFamily="49" charset="0"/>
              </a:rPr>
              <a:t>echo</a:t>
            </a:r>
            <a:r>
              <a:rPr lang="pt-BR" b="0" dirty="0">
                <a:solidFill>
                  <a:srgbClr val="D4D4D4"/>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 . </a:t>
            </a:r>
            <a:r>
              <a:rPr lang="pt-BR" b="0" dirty="0">
                <a:solidFill>
                  <a:srgbClr val="CE9178"/>
                </a:solidFill>
                <a:effectLst/>
                <a:latin typeface="Consolas" panose="020B0609020204030204" pitchFamily="49" charset="0"/>
              </a:rPr>
              <a:t>"&lt;</a:t>
            </a:r>
            <a:r>
              <a:rPr lang="pt-BR" b="0" dirty="0" err="1">
                <a:solidFill>
                  <a:srgbClr val="CE9178"/>
                </a:solidFill>
                <a:effectLst/>
                <a:latin typeface="Consolas" panose="020B0609020204030204" pitchFamily="49" charset="0"/>
              </a:rPr>
              <a:t>br</a:t>
            </a:r>
            <a:r>
              <a:rPr lang="pt-BR" b="0" dirty="0">
                <a:solidFill>
                  <a:srgbClr val="CE9178"/>
                </a:solidFill>
                <a:effectLst/>
                <a:latin typeface="Consolas" panose="020B0609020204030204" pitchFamily="49" charset="0"/>
              </a:rPr>
              <a:t>/&gt;"</a:t>
            </a:r>
            <a:r>
              <a:rPr lang="pt-BR" b="0" dirty="0">
                <a:solidFill>
                  <a:srgbClr val="D4D4D4"/>
                </a:solidFill>
                <a:effectLst/>
                <a:latin typeface="Consolas" panose="020B0609020204030204" pitchFamily="49" charset="0"/>
              </a:rPr>
              <a:t>;</a:t>
            </a:r>
            <a:endParaRPr lang="pt-BR" b="0" dirty="0">
              <a:solidFill>
                <a:srgbClr val="CCCCCC"/>
              </a:solidFill>
              <a:effectLst/>
              <a:latin typeface="Consolas" panose="020B0609020204030204" pitchFamily="49" charset="0"/>
            </a:endParaRPr>
          </a:p>
          <a:p>
            <a:r>
              <a:rPr lang="pt-BR" b="0" dirty="0">
                <a:solidFill>
                  <a:srgbClr val="D4D4D4"/>
                </a:solidFill>
                <a:effectLst/>
                <a:latin typeface="Consolas" panose="020B0609020204030204" pitchFamily="49" charset="0"/>
              </a:rPr>
              <a:t>    }</a:t>
            </a:r>
            <a:endParaRPr lang="pt-BR" b="0" dirty="0">
              <a:solidFill>
                <a:srgbClr val="CCCCCC"/>
              </a:solidFill>
              <a:effectLst/>
              <a:latin typeface="Consolas" panose="020B0609020204030204" pitchFamily="49" charset="0"/>
            </a:endParaRPr>
          </a:p>
          <a:p>
            <a:br>
              <a:rPr lang="pt-BR" b="0" dirty="0">
                <a:solidFill>
                  <a:srgbClr val="CCCCCC"/>
                </a:solidFill>
                <a:effectLst/>
                <a:latin typeface="Consolas" panose="020B0609020204030204" pitchFamily="49" charset="0"/>
              </a:rPr>
            </a:br>
            <a:r>
              <a:rPr lang="pt-BR" b="0" dirty="0">
                <a:solidFill>
                  <a:srgbClr val="D4D4D4"/>
                </a:solidFill>
                <a:effectLst/>
                <a:latin typeface="Consolas" panose="020B0609020204030204" pitchFamily="49" charset="0"/>
              </a:rPr>
              <a:t>    </a:t>
            </a:r>
            <a:r>
              <a:rPr lang="pt-BR" b="0" dirty="0">
                <a:solidFill>
                  <a:srgbClr val="569CD6"/>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a:solidFill>
                  <a:srgbClr val="569CD6"/>
                </a:solidFill>
                <a:effectLst/>
                <a:latin typeface="Consolas" panose="020B0609020204030204" pitchFamily="49" charset="0"/>
              </a:rPr>
              <a:t>body</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html</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056896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5941DA-9447-7707-D210-8CF403C2E5C0}"/>
              </a:ext>
            </a:extLst>
          </p:cNvPr>
          <p:cNvSpPr>
            <a:spLocks noGrp="1"/>
          </p:cNvSpPr>
          <p:nvPr>
            <p:ph type="title"/>
          </p:nvPr>
        </p:nvSpPr>
        <p:spPr/>
        <p:txBody>
          <a:bodyPr/>
          <a:lstStyle/>
          <a:p>
            <a:r>
              <a:rPr lang="pt-BR" dirty="0"/>
              <a:t>Vamos fazer uma tabuada?</a:t>
            </a:r>
          </a:p>
        </p:txBody>
      </p:sp>
      <p:sp>
        <p:nvSpPr>
          <p:cNvPr id="5" name="CaixaDeTexto 4">
            <a:extLst>
              <a:ext uri="{FF2B5EF4-FFF2-40B4-BE49-F238E27FC236}">
                <a16:creationId xmlns:a16="http://schemas.microsoft.com/office/drawing/2014/main" id="{78DCD15C-1CA3-E7A9-1F2D-18F1FD712569}"/>
              </a:ext>
            </a:extLst>
          </p:cNvPr>
          <p:cNvSpPr txBox="1"/>
          <p:nvPr/>
        </p:nvSpPr>
        <p:spPr>
          <a:xfrm>
            <a:off x="1105250" y="1016101"/>
            <a:ext cx="9255154" cy="3970318"/>
          </a:xfrm>
          <a:prstGeom prst="rect">
            <a:avLst/>
          </a:prstGeom>
          <a:solidFill>
            <a:schemeClr val="tx1"/>
          </a:solidFill>
        </p:spPr>
        <p:txBody>
          <a:bodyPr wrap="square">
            <a:spAutoFit/>
          </a:bodyPr>
          <a:lstStyle/>
          <a:p>
            <a:r>
              <a:rPr lang="pt-BR" b="0" dirty="0">
                <a:solidFill>
                  <a:srgbClr val="6A9955"/>
                </a:solidFill>
                <a:effectLst/>
                <a:latin typeface="Consolas" panose="020B0609020204030204" pitchFamily="49" charset="0"/>
              </a:rPr>
              <a:t>&lt;!-- aula1c.php --&gt;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html</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head</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CCCCCC"/>
                </a:solidFill>
                <a:effectLst/>
                <a:latin typeface="Consolas" panose="020B0609020204030204" pitchFamily="49" charset="0"/>
              </a:rPr>
              <a:t>    </a:t>
            </a:r>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title</a:t>
            </a:r>
            <a:r>
              <a:rPr lang="pt-BR" b="0" dirty="0">
                <a:solidFill>
                  <a:srgbClr val="808080"/>
                </a:solidFill>
                <a:effectLst/>
                <a:latin typeface="Consolas" panose="020B0609020204030204" pitchFamily="49" charset="0"/>
              </a:rPr>
              <a:t>&gt;</a:t>
            </a:r>
            <a:r>
              <a:rPr lang="pt-BR" b="0" dirty="0">
                <a:solidFill>
                  <a:srgbClr val="CCCCCC"/>
                </a:solidFill>
                <a:effectLst/>
                <a:latin typeface="Consolas" panose="020B0609020204030204" pitchFamily="49" charset="0"/>
              </a:rPr>
              <a:t>Meu segundo programa</a:t>
            </a:r>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title</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head</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a:solidFill>
                  <a:srgbClr val="569CD6"/>
                </a:solidFill>
                <a:effectLst/>
                <a:latin typeface="Consolas" panose="020B0609020204030204" pitchFamily="49" charset="0"/>
              </a:rPr>
              <a:t>body</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&lt;?</a:t>
            </a:r>
            <a:r>
              <a:rPr lang="pt-BR" b="0" dirty="0" err="1">
                <a:solidFill>
                  <a:srgbClr val="569CD6"/>
                </a:solidFill>
                <a:effectLst/>
                <a:latin typeface="Consolas" panose="020B0609020204030204" pitchFamily="49" charset="0"/>
              </a:rPr>
              <a:t>php</a:t>
            </a:r>
            <a:endParaRPr lang="pt-BR" b="0" dirty="0">
              <a:solidFill>
                <a:srgbClr val="CCCCCC"/>
              </a:solidFill>
              <a:effectLst/>
              <a:latin typeface="Consolas" panose="020B0609020204030204" pitchFamily="49" charset="0"/>
            </a:endParaRPr>
          </a:p>
          <a:p>
            <a:r>
              <a:rPr lang="pt-BR" b="0" dirty="0">
                <a:solidFill>
                  <a:srgbClr val="D4D4D4"/>
                </a:solidFill>
                <a:effectLst/>
                <a:latin typeface="Consolas" panose="020B0609020204030204" pitchFamily="49" charset="0"/>
              </a:rPr>
              <a:t>    </a:t>
            </a:r>
            <a:r>
              <a:rPr lang="pt-BR" b="0" dirty="0">
                <a:solidFill>
                  <a:srgbClr val="9CDCFE"/>
                </a:solidFill>
                <a:effectLst/>
                <a:latin typeface="Consolas" panose="020B0609020204030204" pitchFamily="49" charset="0"/>
              </a:rPr>
              <a:t>$numero</a:t>
            </a:r>
            <a:r>
              <a:rPr lang="pt-BR" b="0" dirty="0">
                <a:solidFill>
                  <a:srgbClr val="D4D4D4"/>
                </a:solidFill>
                <a:effectLst/>
                <a:latin typeface="Consolas" panose="020B0609020204030204" pitchFamily="49" charset="0"/>
              </a:rPr>
              <a:t> = </a:t>
            </a:r>
            <a:r>
              <a:rPr lang="pt-BR" b="0" dirty="0">
                <a:solidFill>
                  <a:srgbClr val="B5CEA8"/>
                </a:solidFill>
                <a:effectLst/>
                <a:latin typeface="Consolas" panose="020B0609020204030204" pitchFamily="49" charset="0"/>
              </a:rPr>
              <a:t>7</a:t>
            </a:r>
            <a:r>
              <a:rPr lang="pt-BR" b="0" dirty="0">
                <a:solidFill>
                  <a:srgbClr val="D4D4D4"/>
                </a:solidFill>
                <a:effectLst/>
                <a:latin typeface="Consolas" panose="020B0609020204030204" pitchFamily="49" charset="0"/>
              </a:rPr>
              <a:t>;</a:t>
            </a:r>
            <a:endParaRPr lang="pt-BR" b="0" dirty="0">
              <a:solidFill>
                <a:srgbClr val="CCCCCC"/>
              </a:solidFill>
              <a:effectLst/>
              <a:latin typeface="Consolas" panose="020B0609020204030204" pitchFamily="49" charset="0"/>
            </a:endParaRPr>
          </a:p>
          <a:p>
            <a:r>
              <a:rPr lang="pt-BR" b="0" dirty="0">
                <a:solidFill>
                  <a:srgbClr val="D4D4D4"/>
                </a:solidFill>
                <a:effectLst/>
                <a:latin typeface="Consolas" panose="020B0609020204030204" pitchFamily="49" charset="0"/>
              </a:rPr>
              <a:t>    </a:t>
            </a:r>
            <a:r>
              <a:rPr lang="pt-BR" b="0" dirty="0">
                <a:solidFill>
                  <a:srgbClr val="C586C0"/>
                </a:solidFill>
                <a:effectLst/>
                <a:latin typeface="Consolas" panose="020B0609020204030204" pitchFamily="49" charset="0"/>
              </a:rPr>
              <a:t>for</a:t>
            </a:r>
            <a:r>
              <a:rPr lang="pt-BR" b="0" dirty="0">
                <a:solidFill>
                  <a:srgbClr val="D4D4D4"/>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 = </a:t>
            </a:r>
            <a:r>
              <a:rPr lang="pt-BR" b="0" dirty="0">
                <a:solidFill>
                  <a:srgbClr val="B5CEA8"/>
                </a:solidFill>
                <a:effectLst/>
                <a:latin typeface="Consolas" panose="020B0609020204030204" pitchFamily="49" charset="0"/>
              </a:rPr>
              <a:t>1</a:t>
            </a:r>
            <a:r>
              <a:rPr lang="pt-BR" b="0" dirty="0">
                <a:solidFill>
                  <a:srgbClr val="D4D4D4"/>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 &lt;= </a:t>
            </a:r>
            <a:r>
              <a:rPr lang="pt-BR" b="0" dirty="0">
                <a:solidFill>
                  <a:srgbClr val="B5CEA8"/>
                </a:solidFill>
                <a:effectLst/>
                <a:latin typeface="Consolas" panose="020B0609020204030204" pitchFamily="49" charset="0"/>
              </a:rPr>
              <a:t>10</a:t>
            </a:r>
            <a:r>
              <a:rPr lang="pt-BR" b="0" dirty="0">
                <a:solidFill>
                  <a:srgbClr val="D4D4D4"/>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 {</a:t>
            </a:r>
            <a:endParaRPr lang="pt-BR" b="0" dirty="0">
              <a:solidFill>
                <a:srgbClr val="CCCCCC"/>
              </a:solidFill>
              <a:effectLst/>
              <a:latin typeface="Consolas" panose="020B0609020204030204" pitchFamily="49" charset="0"/>
            </a:endParaRPr>
          </a:p>
          <a:p>
            <a:r>
              <a:rPr lang="pt-BR" b="0" dirty="0">
                <a:solidFill>
                  <a:srgbClr val="D4D4D4"/>
                </a:solidFill>
                <a:effectLst/>
                <a:latin typeface="Consolas" panose="020B0609020204030204" pitchFamily="49" charset="0"/>
              </a:rPr>
              <a:t>         </a:t>
            </a:r>
            <a:r>
              <a:rPr lang="pt-BR" b="0" dirty="0" err="1">
                <a:solidFill>
                  <a:srgbClr val="DCDCAA"/>
                </a:solidFill>
                <a:effectLst/>
                <a:latin typeface="Consolas" panose="020B0609020204030204" pitchFamily="49" charset="0"/>
              </a:rPr>
              <a:t>echo</a:t>
            </a:r>
            <a:r>
              <a:rPr lang="pt-BR" b="0" dirty="0">
                <a:solidFill>
                  <a:srgbClr val="D4D4D4"/>
                </a:solidFill>
                <a:effectLst/>
                <a:latin typeface="Consolas" panose="020B0609020204030204" pitchFamily="49" charset="0"/>
              </a:rPr>
              <a:t>(</a:t>
            </a:r>
            <a:r>
              <a:rPr lang="pt-BR" b="0" dirty="0">
                <a:solidFill>
                  <a:srgbClr val="9CDCFE"/>
                </a:solidFill>
                <a:effectLst/>
                <a:latin typeface="Consolas" panose="020B0609020204030204" pitchFamily="49" charset="0"/>
              </a:rPr>
              <a:t>$numero</a:t>
            </a:r>
            <a:r>
              <a:rPr lang="pt-BR" b="0" dirty="0">
                <a:solidFill>
                  <a:srgbClr val="D4D4D4"/>
                </a:solidFill>
                <a:effectLst/>
                <a:latin typeface="Consolas" panose="020B0609020204030204" pitchFamily="49" charset="0"/>
              </a:rPr>
              <a:t> . </a:t>
            </a:r>
            <a:r>
              <a:rPr lang="pt-BR" b="0" dirty="0">
                <a:solidFill>
                  <a:srgbClr val="CE9178"/>
                </a:solidFill>
                <a:effectLst/>
                <a:latin typeface="Consolas" panose="020B0609020204030204" pitchFamily="49" charset="0"/>
              </a:rPr>
              <a:t>" X "</a:t>
            </a:r>
            <a:r>
              <a:rPr lang="pt-BR" b="0" dirty="0">
                <a:solidFill>
                  <a:srgbClr val="D4D4D4"/>
                </a:solidFill>
                <a:effectLst/>
                <a:latin typeface="Consolas" panose="020B0609020204030204" pitchFamily="49" charset="0"/>
              </a:rPr>
              <a:t> . </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 . </a:t>
            </a:r>
            <a:r>
              <a:rPr lang="pt-BR" b="0" dirty="0">
                <a:solidFill>
                  <a:srgbClr val="CE9178"/>
                </a:solidFill>
                <a:effectLst/>
                <a:latin typeface="Consolas" panose="020B0609020204030204" pitchFamily="49" charset="0"/>
              </a:rPr>
              <a:t>" = "</a:t>
            </a:r>
            <a:r>
              <a:rPr lang="pt-BR" b="0" dirty="0">
                <a:solidFill>
                  <a:srgbClr val="D4D4D4"/>
                </a:solidFill>
                <a:effectLst/>
                <a:latin typeface="Consolas" panose="020B0609020204030204" pitchFamily="49" charset="0"/>
              </a:rPr>
              <a:t> . </a:t>
            </a:r>
            <a:r>
              <a:rPr lang="pt-BR" b="0" dirty="0">
                <a:solidFill>
                  <a:srgbClr val="9CDCFE"/>
                </a:solidFill>
                <a:effectLst/>
                <a:latin typeface="Consolas" panose="020B0609020204030204" pitchFamily="49" charset="0"/>
              </a:rPr>
              <a:t>$numero</a:t>
            </a:r>
            <a:r>
              <a:rPr lang="pt-BR" b="0" dirty="0">
                <a:solidFill>
                  <a:srgbClr val="D4D4D4"/>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 . </a:t>
            </a:r>
            <a:r>
              <a:rPr lang="pt-BR" b="0" dirty="0">
                <a:solidFill>
                  <a:srgbClr val="CE9178"/>
                </a:solidFill>
                <a:effectLst/>
                <a:latin typeface="Consolas" panose="020B0609020204030204" pitchFamily="49" charset="0"/>
              </a:rPr>
              <a:t>"&lt;</a:t>
            </a:r>
            <a:r>
              <a:rPr lang="pt-BR" b="0" dirty="0" err="1">
                <a:solidFill>
                  <a:srgbClr val="CE9178"/>
                </a:solidFill>
                <a:effectLst/>
                <a:latin typeface="Consolas" panose="020B0609020204030204" pitchFamily="49" charset="0"/>
              </a:rPr>
              <a:t>br</a:t>
            </a:r>
            <a:r>
              <a:rPr lang="pt-BR" b="0" dirty="0">
                <a:solidFill>
                  <a:srgbClr val="CE9178"/>
                </a:solidFill>
                <a:effectLst/>
                <a:latin typeface="Consolas" panose="020B0609020204030204" pitchFamily="49" charset="0"/>
              </a:rPr>
              <a:t>/&gt;"</a:t>
            </a:r>
            <a:r>
              <a:rPr lang="pt-BR" b="0" dirty="0">
                <a:solidFill>
                  <a:srgbClr val="D4D4D4"/>
                </a:solidFill>
                <a:effectLst/>
                <a:latin typeface="Consolas" panose="020B0609020204030204" pitchFamily="49" charset="0"/>
              </a:rPr>
              <a:t>);</a:t>
            </a:r>
            <a:endParaRPr lang="pt-BR" b="0" dirty="0">
              <a:solidFill>
                <a:srgbClr val="CCCCCC"/>
              </a:solidFill>
              <a:effectLst/>
              <a:latin typeface="Consolas" panose="020B0609020204030204" pitchFamily="49" charset="0"/>
            </a:endParaRPr>
          </a:p>
          <a:p>
            <a:r>
              <a:rPr lang="pt-BR" b="0" dirty="0">
                <a:solidFill>
                  <a:srgbClr val="D4D4D4"/>
                </a:solidFill>
                <a:effectLst/>
                <a:latin typeface="Consolas" panose="020B0609020204030204" pitchFamily="49" charset="0"/>
              </a:rPr>
              <a:t>    }</a:t>
            </a:r>
            <a:endParaRPr lang="pt-BR" b="0" dirty="0">
              <a:solidFill>
                <a:srgbClr val="CCCCCC"/>
              </a:solidFill>
              <a:effectLst/>
              <a:latin typeface="Consolas" panose="020B0609020204030204" pitchFamily="49" charset="0"/>
            </a:endParaRPr>
          </a:p>
          <a:p>
            <a:r>
              <a:rPr lang="pt-BR" b="0" dirty="0">
                <a:solidFill>
                  <a:srgbClr val="D4D4D4"/>
                </a:solidFill>
                <a:effectLst/>
                <a:latin typeface="Consolas" panose="020B0609020204030204" pitchFamily="49" charset="0"/>
              </a:rPr>
              <a:t>    </a:t>
            </a:r>
            <a:r>
              <a:rPr lang="pt-BR" b="0" dirty="0">
                <a:solidFill>
                  <a:srgbClr val="569CD6"/>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a:solidFill>
                  <a:srgbClr val="569CD6"/>
                </a:solidFill>
                <a:effectLst/>
                <a:latin typeface="Consolas" panose="020B0609020204030204" pitchFamily="49" charset="0"/>
              </a:rPr>
              <a:t>body</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a:p>
            <a:r>
              <a:rPr lang="pt-BR" b="0" dirty="0">
                <a:solidFill>
                  <a:srgbClr val="808080"/>
                </a:solidFill>
                <a:effectLst/>
                <a:latin typeface="Consolas" panose="020B0609020204030204" pitchFamily="49" charset="0"/>
              </a:rPr>
              <a:t>&lt;/</a:t>
            </a:r>
            <a:r>
              <a:rPr lang="pt-BR" b="0" dirty="0" err="1">
                <a:solidFill>
                  <a:srgbClr val="569CD6"/>
                </a:solidFill>
                <a:effectLst/>
                <a:latin typeface="Consolas" panose="020B0609020204030204" pitchFamily="49" charset="0"/>
              </a:rPr>
              <a:t>html</a:t>
            </a:r>
            <a:r>
              <a:rPr lang="pt-BR" b="0" dirty="0">
                <a:solidFill>
                  <a:srgbClr val="808080"/>
                </a:solidFill>
                <a:effectLst/>
                <a:latin typeface="Consolas" panose="020B0609020204030204" pitchFamily="49" charset="0"/>
              </a:rPr>
              <a:t>&gt;</a:t>
            </a:r>
            <a:endParaRPr lang="pt-BR" b="0" dirty="0">
              <a:solidFill>
                <a:srgbClr val="CCCCCC"/>
              </a:solidFill>
              <a:effectLst/>
              <a:latin typeface="Consolas" panose="020B0609020204030204" pitchFamily="49" charset="0"/>
            </a:endParaRPr>
          </a:p>
        </p:txBody>
      </p:sp>
      <p:sp>
        <p:nvSpPr>
          <p:cNvPr id="6" name="CaixaDeTexto 5">
            <a:extLst>
              <a:ext uri="{FF2B5EF4-FFF2-40B4-BE49-F238E27FC236}">
                <a16:creationId xmlns:a16="http://schemas.microsoft.com/office/drawing/2014/main" id="{64C0CA79-351F-B6C5-8276-2DDAF10411E1}"/>
              </a:ext>
            </a:extLst>
          </p:cNvPr>
          <p:cNvSpPr txBox="1"/>
          <p:nvPr/>
        </p:nvSpPr>
        <p:spPr>
          <a:xfrm>
            <a:off x="971026" y="5234730"/>
            <a:ext cx="9162875" cy="369332"/>
          </a:xfrm>
          <a:prstGeom prst="rect">
            <a:avLst/>
          </a:prstGeom>
          <a:noFill/>
        </p:spPr>
        <p:txBody>
          <a:bodyPr wrap="square" rtlCol="0">
            <a:spAutoFit/>
          </a:bodyPr>
          <a:lstStyle/>
          <a:p>
            <a:r>
              <a:rPr lang="pt-BR" dirty="0"/>
              <a:t>Aqui fizemos a tabuada do 7. O &lt;</a:t>
            </a:r>
            <a:r>
              <a:rPr lang="pt-BR" dirty="0" err="1"/>
              <a:t>br</a:t>
            </a:r>
            <a:r>
              <a:rPr lang="pt-BR" dirty="0"/>
              <a:t>/&gt; é o comando do </a:t>
            </a:r>
            <a:r>
              <a:rPr lang="pt-BR" dirty="0" err="1"/>
              <a:t>html</a:t>
            </a:r>
            <a:r>
              <a:rPr lang="pt-BR" dirty="0"/>
              <a:t> para pular uma linha</a:t>
            </a:r>
          </a:p>
        </p:txBody>
      </p:sp>
    </p:spTree>
    <p:extLst>
      <p:ext uri="{BB962C8B-B14F-4D97-AF65-F5344CB8AC3E}">
        <p14:creationId xmlns:p14="http://schemas.microsoft.com/office/powerpoint/2010/main" val="2341065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9FB859-9918-CD79-D49C-800472026BF0}"/>
              </a:ext>
            </a:extLst>
          </p:cNvPr>
          <p:cNvSpPr>
            <a:spLocks noGrp="1"/>
          </p:cNvSpPr>
          <p:nvPr>
            <p:ph type="title"/>
          </p:nvPr>
        </p:nvSpPr>
        <p:spPr/>
        <p:txBody>
          <a:bodyPr/>
          <a:lstStyle/>
          <a:p>
            <a:r>
              <a:rPr lang="pt-BR" dirty="0"/>
              <a:t>O Laço </a:t>
            </a:r>
            <a:r>
              <a:rPr lang="pt-BR" dirty="0" err="1"/>
              <a:t>while</a:t>
            </a:r>
            <a:endParaRPr lang="pt-BR" dirty="0"/>
          </a:p>
        </p:txBody>
      </p:sp>
      <p:sp>
        <p:nvSpPr>
          <p:cNvPr id="3" name="Espaço Reservado para Conteúdo 2">
            <a:extLst>
              <a:ext uri="{FF2B5EF4-FFF2-40B4-BE49-F238E27FC236}">
                <a16:creationId xmlns:a16="http://schemas.microsoft.com/office/drawing/2014/main" id="{8BC1FBAF-087F-C5C4-C48B-C15A36E46AFB}"/>
              </a:ext>
            </a:extLst>
          </p:cNvPr>
          <p:cNvSpPr>
            <a:spLocks noGrp="1"/>
          </p:cNvSpPr>
          <p:nvPr>
            <p:ph idx="1"/>
          </p:nvPr>
        </p:nvSpPr>
        <p:spPr>
          <a:xfrm>
            <a:off x="317694" y="1291053"/>
            <a:ext cx="5475645" cy="4351338"/>
          </a:xfrm>
        </p:spPr>
        <p:txBody>
          <a:bodyPr>
            <a:normAutofit lnSpcReduction="10000"/>
          </a:bodyPr>
          <a:lstStyle/>
          <a:p>
            <a:pPr marL="0" indent="0">
              <a:buNone/>
            </a:pPr>
            <a:r>
              <a:rPr lang="pt-BR" dirty="0"/>
              <a:t>O laço </a:t>
            </a:r>
            <a:r>
              <a:rPr lang="pt-BR" dirty="0" err="1"/>
              <a:t>while</a:t>
            </a:r>
            <a:r>
              <a:rPr lang="pt-BR" dirty="0"/>
              <a:t> também é uma estrutura de repetição muito utilizada nos programas, mas é diferente do for, pois não há incremento automático, é necessário declarar uma variável se for usar para incrementar e não é usada apenas para números, pois muitas vezes é utilizada para exibir os dados de uma tabela, como veremos mais pra frente.</a:t>
            </a:r>
          </a:p>
          <a:p>
            <a:pPr marL="0" indent="0">
              <a:buNone/>
            </a:pPr>
            <a:endParaRPr lang="pt-BR" dirty="0"/>
          </a:p>
        </p:txBody>
      </p:sp>
      <p:sp>
        <p:nvSpPr>
          <p:cNvPr id="5" name="CaixaDeTexto 4">
            <a:extLst>
              <a:ext uri="{FF2B5EF4-FFF2-40B4-BE49-F238E27FC236}">
                <a16:creationId xmlns:a16="http://schemas.microsoft.com/office/drawing/2014/main" id="{FAF4E28C-F81C-D11E-B46B-D598A73E7BBF}"/>
              </a:ext>
            </a:extLst>
          </p:cNvPr>
          <p:cNvSpPr txBox="1"/>
          <p:nvPr/>
        </p:nvSpPr>
        <p:spPr>
          <a:xfrm>
            <a:off x="6011594" y="379412"/>
            <a:ext cx="5862712" cy="5047536"/>
          </a:xfrm>
          <a:prstGeom prst="rect">
            <a:avLst/>
          </a:prstGeom>
          <a:solidFill>
            <a:schemeClr val="tx1"/>
          </a:solidFill>
        </p:spPr>
        <p:txBody>
          <a:bodyPr wrap="square">
            <a:spAutoFit/>
          </a:bodyPr>
          <a:lstStyle/>
          <a:p>
            <a:r>
              <a:rPr lang="pt-BR" sz="1400" b="0" dirty="0">
                <a:solidFill>
                  <a:srgbClr val="6D6D6D"/>
                </a:solidFill>
                <a:effectLst/>
                <a:latin typeface="Consolas" panose="020B0609020204030204" pitchFamily="49" charset="0"/>
              </a:rPr>
              <a:t>&lt;!-- </a:t>
            </a:r>
            <a:r>
              <a:rPr lang="pt-BR" sz="1400" b="0" dirty="0" err="1">
                <a:solidFill>
                  <a:srgbClr val="6D6D6D"/>
                </a:solidFill>
                <a:effectLst/>
                <a:latin typeface="Consolas" panose="020B0609020204030204" pitchFamily="49" charset="0"/>
              </a:rPr>
              <a:t>lacowhile.php</a:t>
            </a:r>
            <a:r>
              <a:rPr lang="pt-BR" sz="1400" b="0" dirty="0">
                <a:solidFill>
                  <a:srgbClr val="6D6D6D"/>
                </a:solidFill>
                <a:effectLst/>
                <a:latin typeface="Consolas" panose="020B0609020204030204" pitchFamily="49" charset="0"/>
              </a:rPr>
              <a:t> --&gt;</a:t>
            </a:r>
            <a:endParaRPr lang="pt-BR" sz="1400" b="0" dirty="0">
              <a:solidFill>
                <a:srgbClr val="EDECEE"/>
              </a:solidFill>
              <a:effectLst/>
              <a:latin typeface="Consolas" panose="020B0609020204030204" pitchFamily="49" charset="0"/>
            </a:endParaRPr>
          </a:p>
          <a:p>
            <a:r>
              <a:rPr lang="pt-BR" sz="1400" b="0" dirty="0">
                <a:solidFill>
                  <a:srgbClr val="EDECEE"/>
                </a:solidFill>
                <a:effectLst/>
                <a:latin typeface="Consolas" panose="020B0609020204030204" pitchFamily="49" charset="0"/>
              </a:rPr>
              <a:t>&lt;</a:t>
            </a:r>
            <a:r>
              <a:rPr lang="pt-BR" sz="1400" b="0" dirty="0" err="1">
                <a:solidFill>
                  <a:srgbClr val="A277FF"/>
                </a:solidFill>
                <a:effectLst/>
                <a:latin typeface="Consolas" panose="020B0609020204030204" pitchFamily="49" charset="0"/>
              </a:rPr>
              <a:t>html</a:t>
            </a:r>
            <a:r>
              <a:rPr lang="pt-BR" sz="1400" b="0" dirty="0">
                <a:solidFill>
                  <a:srgbClr val="EDECEE"/>
                </a:solidFill>
                <a:effectLst/>
                <a:latin typeface="Consolas" panose="020B0609020204030204" pitchFamily="49" charset="0"/>
              </a:rPr>
              <a:t>&gt;</a:t>
            </a:r>
          </a:p>
          <a:p>
            <a:r>
              <a:rPr lang="pt-BR" sz="1400" b="0" dirty="0">
                <a:solidFill>
                  <a:srgbClr val="EDECEE"/>
                </a:solidFill>
                <a:effectLst/>
                <a:latin typeface="Consolas" panose="020B0609020204030204" pitchFamily="49" charset="0"/>
              </a:rPr>
              <a:t>&lt;</a:t>
            </a:r>
            <a:r>
              <a:rPr lang="pt-BR" sz="1400" b="0" dirty="0" err="1">
                <a:solidFill>
                  <a:srgbClr val="A277FF"/>
                </a:solidFill>
                <a:effectLst/>
                <a:latin typeface="Consolas" panose="020B0609020204030204" pitchFamily="49" charset="0"/>
              </a:rPr>
              <a:t>head</a:t>
            </a:r>
            <a:r>
              <a:rPr lang="pt-BR" sz="1400" b="0" dirty="0">
                <a:solidFill>
                  <a:srgbClr val="EDECEE"/>
                </a:solidFill>
                <a:effectLst/>
                <a:latin typeface="Consolas" panose="020B0609020204030204" pitchFamily="49" charset="0"/>
              </a:rPr>
              <a:t>&gt;</a:t>
            </a:r>
          </a:p>
          <a:p>
            <a:r>
              <a:rPr lang="pt-BR" sz="1400" b="0" dirty="0">
                <a:solidFill>
                  <a:srgbClr val="EDECEE"/>
                </a:solidFill>
                <a:effectLst/>
                <a:latin typeface="Consolas" panose="020B0609020204030204" pitchFamily="49" charset="0"/>
              </a:rPr>
              <a:t>    &lt;</a:t>
            </a:r>
            <a:r>
              <a:rPr lang="pt-BR" sz="1400" b="0" dirty="0" err="1">
                <a:solidFill>
                  <a:srgbClr val="A277FF"/>
                </a:solidFill>
                <a:effectLst/>
                <a:latin typeface="Consolas" panose="020B0609020204030204" pitchFamily="49" charset="0"/>
              </a:rPr>
              <a:t>title</a:t>
            </a:r>
            <a:r>
              <a:rPr lang="pt-BR" sz="1400" b="0" dirty="0">
                <a:solidFill>
                  <a:srgbClr val="EDECEE"/>
                </a:solidFill>
                <a:effectLst/>
                <a:latin typeface="Consolas" panose="020B0609020204030204" pitchFamily="49" charset="0"/>
              </a:rPr>
              <a:t>&gt;Meu segundo programa&lt;/</a:t>
            </a:r>
            <a:r>
              <a:rPr lang="pt-BR" sz="1400" b="0" dirty="0" err="1">
                <a:solidFill>
                  <a:srgbClr val="A277FF"/>
                </a:solidFill>
                <a:effectLst/>
                <a:latin typeface="Consolas" panose="020B0609020204030204" pitchFamily="49" charset="0"/>
              </a:rPr>
              <a:t>title</a:t>
            </a:r>
            <a:r>
              <a:rPr lang="pt-BR" sz="1400" b="0" dirty="0">
                <a:solidFill>
                  <a:srgbClr val="EDECEE"/>
                </a:solidFill>
                <a:effectLst/>
                <a:latin typeface="Consolas" panose="020B0609020204030204" pitchFamily="49" charset="0"/>
              </a:rPr>
              <a:t>&gt;</a:t>
            </a:r>
          </a:p>
          <a:p>
            <a:r>
              <a:rPr lang="pt-BR" sz="1400" b="0" dirty="0">
                <a:solidFill>
                  <a:srgbClr val="EDECEE"/>
                </a:solidFill>
                <a:effectLst/>
                <a:latin typeface="Consolas" panose="020B0609020204030204" pitchFamily="49" charset="0"/>
              </a:rPr>
              <a:t>&lt;/</a:t>
            </a:r>
            <a:r>
              <a:rPr lang="pt-BR" sz="1400" b="0" dirty="0" err="1">
                <a:solidFill>
                  <a:srgbClr val="A277FF"/>
                </a:solidFill>
                <a:effectLst/>
                <a:latin typeface="Consolas" panose="020B0609020204030204" pitchFamily="49" charset="0"/>
              </a:rPr>
              <a:t>head</a:t>
            </a:r>
            <a:r>
              <a:rPr lang="pt-BR" sz="1400" b="0" dirty="0">
                <a:solidFill>
                  <a:srgbClr val="EDECEE"/>
                </a:solidFill>
                <a:effectLst/>
                <a:latin typeface="Consolas" panose="020B0609020204030204" pitchFamily="49" charset="0"/>
              </a:rPr>
              <a:t>&gt;</a:t>
            </a:r>
          </a:p>
          <a:p>
            <a:r>
              <a:rPr lang="pt-BR" sz="1400" b="0" dirty="0">
                <a:solidFill>
                  <a:srgbClr val="EDECEE"/>
                </a:solidFill>
                <a:effectLst/>
                <a:latin typeface="Consolas" panose="020B0609020204030204" pitchFamily="49" charset="0"/>
              </a:rPr>
              <a:t>&lt;</a:t>
            </a:r>
            <a:r>
              <a:rPr lang="pt-BR" sz="1400" b="0" dirty="0">
                <a:solidFill>
                  <a:srgbClr val="A277FF"/>
                </a:solidFill>
                <a:effectLst/>
                <a:latin typeface="Consolas" panose="020B0609020204030204" pitchFamily="49" charset="0"/>
              </a:rPr>
              <a:t>body</a:t>
            </a:r>
            <a:r>
              <a:rPr lang="pt-BR" sz="1400" b="0" dirty="0">
                <a:solidFill>
                  <a:srgbClr val="EDECEE"/>
                </a:solidFill>
                <a:effectLst/>
                <a:latin typeface="Consolas" panose="020B0609020204030204" pitchFamily="49" charset="0"/>
              </a:rPr>
              <a:t>&gt;</a:t>
            </a:r>
          </a:p>
          <a:p>
            <a:r>
              <a:rPr lang="pt-BR" sz="1400" b="0" dirty="0">
                <a:solidFill>
                  <a:srgbClr val="EDECEE"/>
                </a:solidFill>
                <a:effectLst/>
                <a:latin typeface="Consolas" panose="020B0609020204030204" pitchFamily="49" charset="0"/>
              </a:rPr>
              <a:t>&lt;?</a:t>
            </a:r>
            <a:r>
              <a:rPr lang="pt-BR" sz="1400" b="0" dirty="0" err="1">
                <a:solidFill>
                  <a:srgbClr val="EDECEE"/>
                </a:solidFill>
                <a:effectLst/>
                <a:latin typeface="Consolas" panose="020B0609020204030204" pitchFamily="49" charset="0"/>
              </a:rPr>
              <a:t>php</a:t>
            </a:r>
            <a:endParaRPr lang="pt-BR" sz="1400" b="0" dirty="0">
              <a:solidFill>
                <a:srgbClr val="EDECEE"/>
              </a:solidFill>
              <a:effectLst/>
              <a:latin typeface="Consolas" panose="020B0609020204030204" pitchFamily="49" charset="0"/>
            </a:endParaRPr>
          </a:p>
          <a:p>
            <a:br>
              <a:rPr lang="pt-BR" sz="1400" b="0" dirty="0">
                <a:solidFill>
                  <a:srgbClr val="EDECEE"/>
                </a:solidFill>
                <a:effectLst/>
                <a:latin typeface="Consolas" panose="020B0609020204030204" pitchFamily="49" charset="0"/>
              </a:rPr>
            </a:br>
            <a:r>
              <a:rPr lang="pt-BR" sz="1400" b="0" dirty="0">
                <a:solidFill>
                  <a:srgbClr val="EDECEE"/>
                </a:solidFill>
                <a:effectLst/>
                <a:latin typeface="Consolas" panose="020B0609020204030204" pitchFamily="49" charset="0"/>
              </a:rPr>
              <a:t>$numero </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 </a:t>
            </a:r>
            <a:r>
              <a:rPr lang="pt-BR" sz="1400" b="0" dirty="0">
                <a:solidFill>
                  <a:srgbClr val="61FFCA"/>
                </a:solidFill>
                <a:effectLst/>
                <a:latin typeface="Consolas" panose="020B0609020204030204" pitchFamily="49" charset="0"/>
              </a:rPr>
              <a:t>9</a:t>
            </a:r>
            <a:r>
              <a:rPr lang="pt-BR" sz="1400" b="0" dirty="0">
                <a:solidFill>
                  <a:srgbClr val="EDECEE"/>
                </a:solidFill>
                <a:effectLst/>
                <a:latin typeface="Consolas" panose="020B0609020204030204" pitchFamily="49" charset="0"/>
              </a:rPr>
              <a:t>;</a:t>
            </a:r>
          </a:p>
          <a:p>
            <a:r>
              <a:rPr lang="pt-BR" sz="1400" b="0" dirty="0">
                <a:solidFill>
                  <a:srgbClr val="EDECEE"/>
                </a:solidFill>
                <a:effectLst/>
                <a:latin typeface="Consolas" panose="020B0609020204030204" pitchFamily="49" charset="0"/>
              </a:rPr>
              <a:t>$multiplicador </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 </a:t>
            </a:r>
            <a:r>
              <a:rPr lang="pt-BR" sz="1400" b="0" dirty="0">
                <a:solidFill>
                  <a:srgbClr val="61FFCA"/>
                </a:solidFill>
                <a:effectLst/>
                <a:latin typeface="Consolas" panose="020B0609020204030204" pitchFamily="49" charset="0"/>
              </a:rPr>
              <a:t>1</a:t>
            </a:r>
            <a:r>
              <a:rPr lang="pt-BR" sz="1400" b="0" dirty="0">
                <a:solidFill>
                  <a:srgbClr val="EDECEE"/>
                </a:solidFill>
                <a:effectLst/>
                <a:latin typeface="Consolas" panose="020B0609020204030204" pitchFamily="49" charset="0"/>
              </a:rPr>
              <a:t>;</a:t>
            </a:r>
          </a:p>
          <a:p>
            <a:r>
              <a:rPr lang="pt-BR" sz="1400" b="0" dirty="0" err="1">
                <a:solidFill>
                  <a:srgbClr val="A277FF"/>
                </a:solidFill>
                <a:effectLst/>
                <a:latin typeface="Consolas" panose="020B0609020204030204" pitchFamily="49" charset="0"/>
              </a:rPr>
              <a:t>while</a:t>
            </a:r>
            <a:r>
              <a:rPr lang="pt-BR" sz="1400" b="0" dirty="0">
                <a:solidFill>
                  <a:srgbClr val="EDECEE"/>
                </a:solidFill>
                <a:effectLst/>
                <a:latin typeface="Consolas" panose="020B0609020204030204" pitchFamily="49" charset="0"/>
              </a:rPr>
              <a:t> ($multiplicador </a:t>
            </a:r>
            <a:r>
              <a:rPr lang="pt-BR" sz="1400" b="0" dirty="0">
                <a:solidFill>
                  <a:srgbClr val="A277FF"/>
                </a:solidFill>
                <a:effectLst/>
                <a:latin typeface="Consolas" panose="020B0609020204030204" pitchFamily="49" charset="0"/>
              </a:rPr>
              <a:t>&lt;=</a:t>
            </a:r>
            <a:r>
              <a:rPr lang="pt-BR" sz="1400" b="0" dirty="0">
                <a:solidFill>
                  <a:srgbClr val="EDECEE"/>
                </a:solidFill>
                <a:effectLst/>
                <a:latin typeface="Consolas" panose="020B0609020204030204" pitchFamily="49" charset="0"/>
              </a:rPr>
              <a:t> </a:t>
            </a:r>
            <a:r>
              <a:rPr lang="pt-BR" sz="1400" b="0" dirty="0">
                <a:solidFill>
                  <a:srgbClr val="61FFCA"/>
                </a:solidFill>
                <a:effectLst/>
                <a:latin typeface="Consolas" panose="020B0609020204030204" pitchFamily="49" charset="0"/>
              </a:rPr>
              <a:t>10</a:t>
            </a:r>
            <a:r>
              <a:rPr lang="pt-BR" sz="1400" b="0" dirty="0">
                <a:solidFill>
                  <a:srgbClr val="EDECEE"/>
                </a:solidFill>
                <a:effectLst/>
                <a:latin typeface="Consolas" panose="020B0609020204030204" pitchFamily="49" charset="0"/>
              </a:rPr>
              <a:t>) {</a:t>
            </a:r>
          </a:p>
          <a:p>
            <a:r>
              <a:rPr lang="pt-BR" sz="1400" b="0" dirty="0">
                <a:solidFill>
                  <a:srgbClr val="EDECEE"/>
                </a:solidFill>
                <a:effectLst/>
                <a:latin typeface="Consolas" panose="020B0609020204030204" pitchFamily="49" charset="0"/>
              </a:rPr>
              <a:t>    </a:t>
            </a:r>
            <a:r>
              <a:rPr lang="pt-BR" sz="1400" b="0" dirty="0" err="1">
                <a:solidFill>
                  <a:srgbClr val="FFCA85"/>
                </a:solidFill>
                <a:effectLst/>
                <a:latin typeface="Consolas" panose="020B0609020204030204" pitchFamily="49" charset="0"/>
              </a:rPr>
              <a:t>echo</a:t>
            </a:r>
            <a:r>
              <a:rPr lang="pt-BR" sz="1400" b="0" dirty="0">
                <a:solidFill>
                  <a:srgbClr val="EDECEE"/>
                </a:solidFill>
                <a:effectLst/>
                <a:latin typeface="Consolas" panose="020B0609020204030204" pitchFamily="49" charset="0"/>
              </a:rPr>
              <a:t> $numero </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 </a:t>
            </a:r>
            <a:r>
              <a:rPr lang="pt-BR" sz="1400" b="0" dirty="0">
                <a:solidFill>
                  <a:srgbClr val="61FFCA"/>
                </a:solidFill>
                <a:effectLst/>
                <a:latin typeface="Consolas" panose="020B0609020204030204" pitchFamily="49" charset="0"/>
              </a:rPr>
              <a:t>"X"</a:t>
            </a:r>
            <a:r>
              <a:rPr lang="pt-BR" sz="1400" b="0" dirty="0">
                <a:solidFill>
                  <a:srgbClr val="EDECEE"/>
                </a:solidFill>
                <a:effectLst/>
                <a:latin typeface="Consolas" panose="020B0609020204030204" pitchFamily="49" charset="0"/>
              </a:rPr>
              <a:t> </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 $multiplicador </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 </a:t>
            </a:r>
            <a:r>
              <a:rPr lang="pt-BR" sz="1400" b="0" dirty="0">
                <a:solidFill>
                  <a:srgbClr val="61FFCA"/>
                </a:solidFill>
                <a:effectLst/>
                <a:latin typeface="Consolas" panose="020B0609020204030204" pitchFamily="49" charset="0"/>
              </a:rPr>
              <a:t>" = "</a:t>
            </a:r>
            <a:r>
              <a:rPr lang="pt-BR" sz="1400" b="0" dirty="0">
                <a:solidFill>
                  <a:srgbClr val="EDECEE"/>
                </a:solidFill>
                <a:effectLst/>
                <a:latin typeface="Consolas" panose="020B0609020204030204" pitchFamily="49" charset="0"/>
              </a:rPr>
              <a:t> </a:t>
            </a:r>
            <a:r>
              <a:rPr lang="pt-BR" sz="1400" b="0" dirty="0">
                <a:solidFill>
                  <a:srgbClr val="A277FF"/>
                </a:solidFill>
                <a:effectLst/>
                <a:latin typeface="Consolas" panose="020B0609020204030204" pitchFamily="49" charset="0"/>
              </a:rPr>
              <a:t>.  </a:t>
            </a:r>
            <a:r>
              <a:rPr lang="pt-BR" sz="1400" b="0" dirty="0">
                <a:solidFill>
                  <a:srgbClr val="EDECEE"/>
                </a:solidFill>
                <a:effectLst/>
                <a:latin typeface="Consolas" panose="020B0609020204030204" pitchFamily="49" charset="0"/>
              </a:rPr>
              <a:t>$numero</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$multiplicador;</a:t>
            </a:r>
          </a:p>
          <a:p>
            <a:r>
              <a:rPr lang="pt-BR" sz="1400" b="0" dirty="0">
                <a:solidFill>
                  <a:srgbClr val="EDECEE"/>
                </a:solidFill>
                <a:effectLst/>
                <a:latin typeface="Consolas" panose="020B0609020204030204" pitchFamily="49" charset="0"/>
              </a:rPr>
              <a:t>    </a:t>
            </a:r>
            <a:r>
              <a:rPr lang="pt-BR" sz="1400" b="0" dirty="0" err="1">
                <a:solidFill>
                  <a:srgbClr val="A277FF"/>
                </a:solidFill>
                <a:effectLst/>
                <a:latin typeface="Consolas" panose="020B0609020204030204" pitchFamily="49" charset="0"/>
              </a:rPr>
              <a:t>if</a:t>
            </a:r>
            <a:r>
              <a:rPr lang="pt-BR" sz="1400" b="0" dirty="0">
                <a:solidFill>
                  <a:srgbClr val="EDECEE"/>
                </a:solidFill>
                <a:effectLst/>
                <a:latin typeface="Consolas" panose="020B0609020204030204" pitchFamily="49" charset="0"/>
              </a:rPr>
              <a:t> ($numero</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$multiplicador </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 </a:t>
            </a:r>
            <a:r>
              <a:rPr lang="pt-BR" sz="1400" b="0" dirty="0">
                <a:solidFill>
                  <a:srgbClr val="61FFCA"/>
                </a:solidFill>
                <a:effectLst/>
                <a:latin typeface="Consolas" panose="020B0609020204030204" pitchFamily="49" charset="0"/>
              </a:rPr>
              <a:t>2</a:t>
            </a:r>
            <a:r>
              <a:rPr lang="pt-BR" sz="1400" b="0" dirty="0">
                <a:solidFill>
                  <a:srgbClr val="EDECEE"/>
                </a:solidFill>
                <a:effectLst/>
                <a:latin typeface="Consolas" panose="020B0609020204030204" pitchFamily="49" charset="0"/>
              </a:rPr>
              <a:t> </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 </a:t>
            </a:r>
            <a:r>
              <a:rPr lang="pt-BR" sz="1400" b="0" dirty="0">
                <a:solidFill>
                  <a:srgbClr val="61FFCA"/>
                </a:solidFill>
                <a:effectLst/>
                <a:latin typeface="Consolas" panose="020B0609020204030204" pitchFamily="49" charset="0"/>
              </a:rPr>
              <a:t>0</a:t>
            </a:r>
            <a:r>
              <a:rPr lang="pt-BR" sz="1400" b="0" dirty="0">
                <a:solidFill>
                  <a:srgbClr val="EDECEE"/>
                </a:solidFill>
                <a:effectLst/>
                <a:latin typeface="Consolas" panose="020B0609020204030204" pitchFamily="49" charset="0"/>
              </a:rPr>
              <a:t>) {</a:t>
            </a:r>
          </a:p>
          <a:p>
            <a:r>
              <a:rPr lang="pt-BR" sz="1400" b="0" dirty="0">
                <a:solidFill>
                  <a:srgbClr val="EDECEE"/>
                </a:solidFill>
                <a:effectLst/>
                <a:latin typeface="Consolas" panose="020B0609020204030204" pitchFamily="49" charset="0"/>
              </a:rPr>
              <a:t>        </a:t>
            </a:r>
            <a:r>
              <a:rPr lang="pt-BR" sz="1400" b="0" dirty="0" err="1">
                <a:solidFill>
                  <a:srgbClr val="FFCA85"/>
                </a:solidFill>
                <a:effectLst/>
                <a:latin typeface="Consolas" panose="020B0609020204030204" pitchFamily="49" charset="0"/>
              </a:rPr>
              <a:t>echo</a:t>
            </a:r>
            <a:r>
              <a:rPr lang="pt-BR" sz="1400" b="0" dirty="0">
                <a:solidFill>
                  <a:srgbClr val="EDECEE"/>
                </a:solidFill>
                <a:effectLst/>
                <a:latin typeface="Consolas" panose="020B0609020204030204" pitchFamily="49" charset="0"/>
              </a:rPr>
              <a:t> </a:t>
            </a:r>
            <a:r>
              <a:rPr lang="pt-BR" sz="1400" b="0" dirty="0">
                <a:solidFill>
                  <a:srgbClr val="61FFCA"/>
                </a:solidFill>
                <a:effectLst/>
                <a:latin typeface="Consolas" panose="020B0609020204030204" pitchFamily="49" charset="0"/>
              </a:rPr>
              <a:t>" - Esse número é par&lt;</a:t>
            </a:r>
            <a:r>
              <a:rPr lang="pt-BR" sz="1400" b="0" dirty="0" err="1">
                <a:solidFill>
                  <a:srgbClr val="61FFCA"/>
                </a:solidFill>
                <a:effectLst/>
                <a:latin typeface="Consolas" panose="020B0609020204030204" pitchFamily="49" charset="0"/>
              </a:rPr>
              <a:t>br</a:t>
            </a:r>
            <a:r>
              <a:rPr lang="pt-BR" sz="1400" b="0" dirty="0">
                <a:solidFill>
                  <a:srgbClr val="61FFCA"/>
                </a:solidFill>
                <a:effectLst/>
                <a:latin typeface="Consolas" panose="020B0609020204030204" pitchFamily="49" charset="0"/>
              </a:rPr>
              <a:t>/&gt;"</a:t>
            </a:r>
            <a:r>
              <a:rPr lang="pt-BR" sz="1400" b="0" dirty="0">
                <a:solidFill>
                  <a:srgbClr val="EDECEE"/>
                </a:solidFill>
                <a:effectLst/>
                <a:latin typeface="Consolas" panose="020B0609020204030204" pitchFamily="49" charset="0"/>
              </a:rPr>
              <a:t>; </a:t>
            </a:r>
          </a:p>
          <a:p>
            <a:r>
              <a:rPr lang="pt-BR" sz="1400" b="0" dirty="0">
                <a:solidFill>
                  <a:srgbClr val="EDECEE"/>
                </a:solidFill>
                <a:effectLst/>
                <a:latin typeface="Consolas" panose="020B0609020204030204" pitchFamily="49" charset="0"/>
              </a:rPr>
              <a:t>    } </a:t>
            </a:r>
            <a:r>
              <a:rPr lang="pt-BR" sz="1400" b="0" dirty="0" err="1">
                <a:solidFill>
                  <a:srgbClr val="A277FF"/>
                </a:solidFill>
                <a:effectLst/>
                <a:latin typeface="Consolas" panose="020B0609020204030204" pitchFamily="49" charset="0"/>
              </a:rPr>
              <a:t>else</a:t>
            </a:r>
            <a:r>
              <a:rPr lang="pt-BR" sz="1400" b="0" dirty="0">
                <a:solidFill>
                  <a:srgbClr val="EDECEE"/>
                </a:solidFill>
                <a:effectLst/>
                <a:latin typeface="Consolas" panose="020B0609020204030204" pitchFamily="49" charset="0"/>
              </a:rPr>
              <a:t> {</a:t>
            </a:r>
          </a:p>
          <a:p>
            <a:r>
              <a:rPr lang="pt-BR" sz="1400" b="0" dirty="0">
                <a:solidFill>
                  <a:srgbClr val="EDECEE"/>
                </a:solidFill>
                <a:effectLst/>
                <a:latin typeface="Consolas" panose="020B0609020204030204" pitchFamily="49" charset="0"/>
              </a:rPr>
              <a:t>        </a:t>
            </a:r>
            <a:r>
              <a:rPr lang="pt-BR" sz="1400" b="0" dirty="0" err="1">
                <a:solidFill>
                  <a:srgbClr val="FFCA85"/>
                </a:solidFill>
                <a:effectLst/>
                <a:latin typeface="Consolas" panose="020B0609020204030204" pitchFamily="49" charset="0"/>
              </a:rPr>
              <a:t>echo</a:t>
            </a:r>
            <a:r>
              <a:rPr lang="pt-BR" sz="1400" b="0" dirty="0">
                <a:solidFill>
                  <a:srgbClr val="EDECEE"/>
                </a:solidFill>
                <a:effectLst/>
                <a:latin typeface="Consolas" panose="020B0609020204030204" pitchFamily="49" charset="0"/>
              </a:rPr>
              <a:t> </a:t>
            </a:r>
            <a:r>
              <a:rPr lang="pt-BR" sz="1400" b="0" dirty="0">
                <a:solidFill>
                  <a:srgbClr val="61FFCA"/>
                </a:solidFill>
                <a:effectLst/>
                <a:latin typeface="Consolas" panose="020B0609020204030204" pitchFamily="49" charset="0"/>
              </a:rPr>
              <a:t>" - Esse número é ímpar&lt;</a:t>
            </a:r>
            <a:r>
              <a:rPr lang="pt-BR" sz="1400" b="0" dirty="0" err="1">
                <a:solidFill>
                  <a:srgbClr val="61FFCA"/>
                </a:solidFill>
                <a:effectLst/>
                <a:latin typeface="Consolas" panose="020B0609020204030204" pitchFamily="49" charset="0"/>
              </a:rPr>
              <a:t>br</a:t>
            </a:r>
            <a:r>
              <a:rPr lang="pt-BR" sz="1400" b="0" dirty="0">
                <a:solidFill>
                  <a:srgbClr val="61FFCA"/>
                </a:solidFill>
                <a:effectLst/>
                <a:latin typeface="Consolas" panose="020B0609020204030204" pitchFamily="49" charset="0"/>
              </a:rPr>
              <a:t>/&gt;"</a:t>
            </a:r>
            <a:r>
              <a:rPr lang="pt-BR" sz="1400" b="0" dirty="0">
                <a:solidFill>
                  <a:srgbClr val="EDECEE"/>
                </a:solidFill>
                <a:effectLst/>
                <a:latin typeface="Consolas" panose="020B0609020204030204" pitchFamily="49" charset="0"/>
              </a:rPr>
              <a:t>;   </a:t>
            </a:r>
          </a:p>
          <a:p>
            <a:r>
              <a:rPr lang="pt-BR" sz="1400" b="0" dirty="0">
                <a:solidFill>
                  <a:srgbClr val="EDECEE"/>
                </a:solidFill>
                <a:effectLst/>
                <a:latin typeface="Consolas" panose="020B0609020204030204" pitchFamily="49" charset="0"/>
              </a:rPr>
              <a:t>    }</a:t>
            </a:r>
          </a:p>
          <a:p>
            <a:r>
              <a:rPr lang="pt-BR" sz="1400" b="0" dirty="0">
                <a:solidFill>
                  <a:srgbClr val="EDECEE"/>
                </a:solidFill>
                <a:effectLst/>
                <a:latin typeface="Consolas" panose="020B0609020204030204" pitchFamily="49" charset="0"/>
              </a:rPr>
              <a:t>    $multiplicador </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 $multiplicador </a:t>
            </a:r>
            <a:r>
              <a:rPr lang="pt-BR" sz="1400" b="0" dirty="0">
                <a:solidFill>
                  <a:srgbClr val="A277FF"/>
                </a:solidFill>
                <a:effectLst/>
                <a:latin typeface="Consolas" panose="020B0609020204030204" pitchFamily="49" charset="0"/>
              </a:rPr>
              <a:t>+</a:t>
            </a:r>
            <a:r>
              <a:rPr lang="pt-BR" sz="1400" b="0" dirty="0">
                <a:solidFill>
                  <a:srgbClr val="EDECEE"/>
                </a:solidFill>
                <a:effectLst/>
                <a:latin typeface="Consolas" panose="020B0609020204030204" pitchFamily="49" charset="0"/>
              </a:rPr>
              <a:t> </a:t>
            </a:r>
            <a:r>
              <a:rPr lang="pt-BR" sz="1400" b="0" dirty="0">
                <a:solidFill>
                  <a:srgbClr val="61FFCA"/>
                </a:solidFill>
                <a:effectLst/>
                <a:latin typeface="Consolas" panose="020B0609020204030204" pitchFamily="49" charset="0"/>
              </a:rPr>
              <a:t>1</a:t>
            </a:r>
            <a:r>
              <a:rPr lang="pt-BR" sz="1400" b="0" dirty="0">
                <a:solidFill>
                  <a:srgbClr val="EDECEE"/>
                </a:solidFill>
                <a:effectLst/>
                <a:latin typeface="Consolas" panose="020B0609020204030204" pitchFamily="49" charset="0"/>
              </a:rPr>
              <a:t>;</a:t>
            </a:r>
          </a:p>
          <a:p>
            <a:r>
              <a:rPr lang="pt-BR" sz="1400" b="0" dirty="0">
                <a:solidFill>
                  <a:srgbClr val="EDECEE"/>
                </a:solidFill>
                <a:effectLst/>
                <a:latin typeface="Consolas" panose="020B0609020204030204" pitchFamily="49" charset="0"/>
              </a:rPr>
              <a:t>}</a:t>
            </a:r>
          </a:p>
          <a:p>
            <a:r>
              <a:rPr lang="pt-BR" sz="1400" b="0" dirty="0">
                <a:solidFill>
                  <a:srgbClr val="EDECEE"/>
                </a:solidFill>
                <a:effectLst/>
                <a:latin typeface="Consolas" panose="020B0609020204030204" pitchFamily="49" charset="0"/>
              </a:rPr>
              <a:t>?&gt;</a:t>
            </a:r>
          </a:p>
          <a:p>
            <a:r>
              <a:rPr lang="pt-BR" sz="1400" b="0" dirty="0">
                <a:solidFill>
                  <a:srgbClr val="EDECEE"/>
                </a:solidFill>
                <a:effectLst/>
                <a:latin typeface="Consolas" panose="020B0609020204030204" pitchFamily="49" charset="0"/>
              </a:rPr>
              <a:t>&lt;/</a:t>
            </a:r>
            <a:r>
              <a:rPr lang="pt-BR" sz="1400" b="0" dirty="0">
                <a:solidFill>
                  <a:srgbClr val="A277FF"/>
                </a:solidFill>
                <a:effectLst/>
                <a:latin typeface="Consolas" panose="020B0609020204030204" pitchFamily="49" charset="0"/>
              </a:rPr>
              <a:t>body</a:t>
            </a:r>
            <a:r>
              <a:rPr lang="pt-BR" sz="1400" b="0" dirty="0">
                <a:solidFill>
                  <a:srgbClr val="EDECEE"/>
                </a:solidFill>
                <a:effectLst/>
                <a:latin typeface="Consolas" panose="020B0609020204030204" pitchFamily="49" charset="0"/>
              </a:rPr>
              <a:t>&gt;</a:t>
            </a:r>
          </a:p>
          <a:p>
            <a:r>
              <a:rPr lang="pt-BR" sz="1400" b="0" dirty="0">
                <a:solidFill>
                  <a:srgbClr val="EDECEE"/>
                </a:solidFill>
                <a:effectLst/>
                <a:latin typeface="Consolas" panose="020B0609020204030204" pitchFamily="49" charset="0"/>
              </a:rPr>
              <a:t>&lt;/</a:t>
            </a:r>
            <a:r>
              <a:rPr lang="pt-BR" sz="1400" b="0" dirty="0" err="1">
                <a:solidFill>
                  <a:srgbClr val="A277FF"/>
                </a:solidFill>
                <a:effectLst/>
                <a:latin typeface="Consolas" panose="020B0609020204030204" pitchFamily="49" charset="0"/>
              </a:rPr>
              <a:t>html</a:t>
            </a:r>
            <a:r>
              <a:rPr lang="pt-BR" sz="1400" b="0" dirty="0">
                <a:solidFill>
                  <a:srgbClr val="EDECEE"/>
                </a:solidFill>
                <a:effectLst/>
                <a:latin typeface="Consolas" panose="020B0609020204030204" pitchFamily="49" charset="0"/>
              </a:rPr>
              <a:t>&gt;</a:t>
            </a:r>
            <a:endParaRPr lang="pt-BR" b="0" dirty="0">
              <a:solidFill>
                <a:srgbClr val="EDECEE"/>
              </a:solidFill>
              <a:effectLst/>
              <a:latin typeface="Consolas" panose="020B0609020204030204" pitchFamily="49" charset="0"/>
            </a:endParaRPr>
          </a:p>
        </p:txBody>
      </p:sp>
    </p:spTree>
    <p:extLst>
      <p:ext uri="{BB962C8B-B14F-4D97-AF65-F5344CB8AC3E}">
        <p14:creationId xmlns:p14="http://schemas.microsoft.com/office/powerpoint/2010/main" val="3352053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6ED731-CEEF-36C4-7EA0-FC6536199BA8}"/>
              </a:ext>
            </a:extLst>
          </p:cNvPr>
          <p:cNvSpPr>
            <a:spLocks noGrp="1"/>
          </p:cNvSpPr>
          <p:nvPr>
            <p:ph type="title"/>
          </p:nvPr>
        </p:nvSpPr>
        <p:spPr/>
        <p:txBody>
          <a:bodyPr/>
          <a:lstStyle/>
          <a:p>
            <a:r>
              <a:rPr lang="pt-BR" dirty="0"/>
              <a:t>Switch case</a:t>
            </a:r>
          </a:p>
        </p:txBody>
      </p:sp>
      <p:sp>
        <p:nvSpPr>
          <p:cNvPr id="3" name="Espaço Reservado para Conteúdo 2">
            <a:extLst>
              <a:ext uri="{FF2B5EF4-FFF2-40B4-BE49-F238E27FC236}">
                <a16:creationId xmlns:a16="http://schemas.microsoft.com/office/drawing/2014/main" id="{6BF9F3A6-DDC0-3C6E-0492-14650FB312E6}"/>
              </a:ext>
            </a:extLst>
          </p:cNvPr>
          <p:cNvSpPr>
            <a:spLocks noGrp="1"/>
          </p:cNvSpPr>
          <p:nvPr>
            <p:ph idx="1"/>
          </p:nvPr>
        </p:nvSpPr>
        <p:spPr>
          <a:xfrm>
            <a:off x="317694" y="1291053"/>
            <a:ext cx="4974153" cy="4351338"/>
          </a:xfrm>
        </p:spPr>
        <p:txBody>
          <a:bodyPr>
            <a:normAutofit lnSpcReduction="10000"/>
          </a:bodyPr>
          <a:lstStyle/>
          <a:p>
            <a:pPr marL="0" indent="0">
              <a:buNone/>
            </a:pPr>
            <a:r>
              <a:rPr lang="pt-BR" dirty="0"/>
              <a:t>A switch instrução é semelhante a uma série de instruções IF na mesma expressão. Em muitas ocasiões, você pode querer comparar a mesma variável (ou expressão) com muitos valores diferentes e executar um trecho de código diferente dependendo de qual valor ele é igual. É exatamente para isso que serve o Switch case.</a:t>
            </a:r>
          </a:p>
        </p:txBody>
      </p:sp>
      <p:sp>
        <p:nvSpPr>
          <p:cNvPr id="5" name="CaixaDeTexto 4">
            <a:extLst>
              <a:ext uri="{FF2B5EF4-FFF2-40B4-BE49-F238E27FC236}">
                <a16:creationId xmlns:a16="http://schemas.microsoft.com/office/drawing/2014/main" id="{CCEACB11-D8B5-5DDB-566D-C9DB34D700ED}"/>
              </a:ext>
            </a:extLst>
          </p:cNvPr>
          <p:cNvSpPr txBox="1"/>
          <p:nvPr/>
        </p:nvSpPr>
        <p:spPr>
          <a:xfrm>
            <a:off x="5653468" y="425578"/>
            <a:ext cx="6220838" cy="5216813"/>
          </a:xfrm>
          <a:prstGeom prst="rect">
            <a:avLst/>
          </a:prstGeom>
          <a:solidFill>
            <a:schemeClr val="tx1"/>
          </a:solidFill>
        </p:spPr>
        <p:txBody>
          <a:bodyPr wrap="square">
            <a:spAutoFit/>
          </a:bodyPr>
          <a:lstStyle/>
          <a:p>
            <a:r>
              <a:rPr lang="pt-BR" sz="900" b="0" dirty="0">
                <a:solidFill>
                  <a:srgbClr val="6D6D6D"/>
                </a:solidFill>
                <a:effectLst/>
                <a:latin typeface="Consolas" panose="020B0609020204030204" pitchFamily="49" charset="0"/>
              </a:rPr>
              <a:t>&lt;!-- </a:t>
            </a:r>
            <a:r>
              <a:rPr lang="pt-BR" sz="900" b="0" dirty="0" err="1">
                <a:solidFill>
                  <a:srgbClr val="6D6D6D"/>
                </a:solidFill>
                <a:effectLst/>
                <a:latin typeface="Consolas" panose="020B0609020204030204" pitchFamily="49" charset="0"/>
              </a:rPr>
              <a:t>switchcase.php</a:t>
            </a:r>
            <a:r>
              <a:rPr lang="pt-BR" sz="900" b="0" dirty="0">
                <a:solidFill>
                  <a:srgbClr val="6D6D6D"/>
                </a:solidFill>
                <a:effectLst/>
                <a:latin typeface="Consolas" panose="020B0609020204030204" pitchFamily="49" charset="0"/>
              </a:rPr>
              <a:t> --&gt;</a:t>
            </a:r>
            <a:endParaRPr lang="pt-BR" sz="900" b="0" dirty="0">
              <a:solidFill>
                <a:srgbClr val="EDECEE"/>
              </a:solidFill>
              <a:effectLst/>
              <a:latin typeface="Consolas" panose="020B0609020204030204" pitchFamily="49" charset="0"/>
            </a:endParaRPr>
          </a:p>
          <a:p>
            <a:r>
              <a:rPr lang="pt-BR" sz="900" b="0" dirty="0">
                <a:solidFill>
                  <a:srgbClr val="EDECEE"/>
                </a:solidFill>
                <a:effectLst/>
                <a:latin typeface="Consolas" panose="020B0609020204030204" pitchFamily="49" charset="0"/>
              </a:rPr>
              <a:t>&lt;</a:t>
            </a:r>
            <a:r>
              <a:rPr lang="pt-BR" sz="900" b="0" dirty="0" err="1">
                <a:solidFill>
                  <a:srgbClr val="A277FF"/>
                </a:solidFill>
                <a:effectLst/>
                <a:latin typeface="Consolas" panose="020B0609020204030204" pitchFamily="49" charset="0"/>
              </a:rPr>
              <a:t>html</a:t>
            </a:r>
            <a:r>
              <a:rPr lang="pt-BR" sz="900" b="0" dirty="0">
                <a:solidFill>
                  <a:srgbClr val="EDECEE"/>
                </a:solidFill>
                <a:effectLst/>
                <a:latin typeface="Consolas" panose="020B0609020204030204" pitchFamily="49" charset="0"/>
              </a:rPr>
              <a:t>&gt;</a:t>
            </a:r>
          </a:p>
          <a:p>
            <a:r>
              <a:rPr lang="pt-BR" sz="900" b="0" dirty="0">
                <a:solidFill>
                  <a:srgbClr val="EDECEE"/>
                </a:solidFill>
                <a:effectLst/>
                <a:latin typeface="Consolas" panose="020B0609020204030204" pitchFamily="49" charset="0"/>
              </a:rPr>
              <a:t>&lt;</a:t>
            </a:r>
            <a:r>
              <a:rPr lang="pt-BR" sz="900" b="0" dirty="0" err="1">
                <a:solidFill>
                  <a:srgbClr val="A277FF"/>
                </a:solidFill>
                <a:effectLst/>
                <a:latin typeface="Consolas" panose="020B0609020204030204" pitchFamily="49" charset="0"/>
              </a:rPr>
              <a:t>head</a:t>
            </a:r>
            <a:r>
              <a:rPr lang="pt-BR" sz="900" b="0" dirty="0">
                <a:solidFill>
                  <a:srgbClr val="EDECEE"/>
                </a:solidFill>
                <a:effectLst/>
                <a:latin typeface="Consolas" panose="020B0609020204030204" pitchFamily="49" charset="0"/>
              </a:rPr>
              <a:t>&gt;</a:t>
            </a:r>
          </a:p>
          <a:p>
            <a:r>
              <a:rPr lang="pt-BR" sz="900" b="0" dirty="0">
                <a:solidFill>
                  <a:srgbClr val="EDECEE"/>
                </a:solidFill>
                <a:effectLst/>
                <a:latin typeface="Consolas" panose="020B0609020204030204" pitchFamily="49" charset="0"/>
              </a:rPr>
              <a:t>    &lt;</a:t>
            </a:r>
            <a:r>
              <a:rPr lang="pt-BR" sz="900" b="0" dirty="0" err="1">
                <a:solidFill>
                  <a:srgbClr val="A277FF"/>
                </a:solidFill>
                <a:effectLst/>
                <a:latin typeface="Consolas" panose="020B0609020204030204" pitchFamily="49" charset="0"/>
              </a:rPr>
              <a:t>title</a:t>
            </a:r>
            <a:r>
              <a:rPr lang="pt-BR" sz="900" b="0" dirty="0">
                <a:solidFill>
                  <a:srgbClr val="EDECEE"/>
                </a:solidFill>
                <a:effectLst/>
                <a:latin typeface="Consolas" panose="020B0609020204030204" pitchFamily="49" charset="0"/>
              </a:rPr>
              <a:t>&gt;Meu segundo programa&lt;/</a:t>
            </a:r>
            <a:r>
              <a:rPr lang="pt-BR" sz="900" b="0" dirty="0" err="1">
                <a:solidFill>
                  <a:srgbClr val="A277FF"/>
                </a:solidFill>
                <a:effectLst/>
                <a:latin typeface="Consolas" panose="020B0609020204030204" pitchFamily="49" charset="0"/>
              </a:rPr>
              <a:t>title</a:t>
            </a:r>
            <a:r>
              <a:rPr lang="pt-BR" sz="900" b="0" dirty="0">
                <a:solidFill>
                  <a:srgbClr val="EDECEE"/>
                </a:solidFill>
                <a:effectLst/>
                <a:latin typeface="Consolas" panose="020B0609020204030204" pitchFamily="49" charset="0"/>
              </a:rPr>
              <a:t>&gt;</a:t>
            </a:r>
          </a:p>
          <a:p>
            <a:r>
              <a:rPr lang="pt-BR" sz="900" b="0" dirty="0">
                <a:solidFill>
                  <a:srgbClr val="EDECEE"/>
                </a:solidFill>
                <a:effectLst/>
                <a:latin typeface="Consolas" panose="020B0609020204030204" pitchFamily="49" charset="0"/>
              </a:rPr>
              <a:t>&lt;/</a:t>
            </a:r>
            <a:r>
              <a:rPr lang="pt-BR" sz="900" b="0" dirty="0" err="1">
                <a:solidFill>
                  <a:srgbClr val="A277FF"/>
                </a:solidFill>
                <a:effectLst/>
                <a:latin typeface="Consolas" panose="020B0609020204030204" pitchFamily="49" charset="0"/>
              </a:rPr>
              <a:t>head</a:t>
            </a:r>
            <a:r>
              <a:rPr lang="pt-BR" sz="900" b="0" dirty="0">
                <a:solidFill>
                  <a:srgbClr val="EDECEE"/>
                </a:solidFill>
                <a:effectLst/>
                <a:latin typeface="Consolas" panose="020B0609020204030204" pitchFamily="49" charset="0"/>
              </a:rPr>
              <a:t>&gt;</a:t>
            </a:r>
          </a:p>
          <a:p>
            <a:r>
              <a:rPr lang="pt-BR" sz="900" b="0" dirty="0">
                <a:solidFill>
                  <a:srgbClr val="EDECEE"/>
                </a:solidFill>
                <a:effectLst/>
                <a:latin typeface="Consolas" panose="020B0609020204030204" pitchFamily="49" charset="0"/>
              </a:rPr>
              <a:t>&lt;</a:t>
            </a:r>
            <a:r>
              <a:rPr lang="pt-BR" sz="900" b="0" dirty="0">
                <a:solidFill>
                  <a:srgbClr val="A277FF"/>
                </a:solidFill>
                <a:effectLst/>
                <a:latin typeface="Consolas" panose="020B0609020204030204" pitchFamily="49" charset="0"/>
              </a:rPr>
              <a:t>body</a:t>
            </a:r>
            <a:r>
              <a:rPr lang="pt-BR" sz="900" b="0" dirty="0">
                <a:solidFill>
                  <a:srgbClr val="EDECEE"/>
                </a:solidFill>
                <a:effectLst/>
                <a:latin typeface="Consolas" panose="020B0609020204030204" pitchFamily="49" charset="0"/>
              </a:rPr>
              <a:t>&gt;</a:t>
            </a:r>
          </a:p>
          <a:p>
            <a:r>
              <a:rPr lang="pt-BR" sz="900" b="0" dirty="0">
                <a:solidFill>
                  <a:srgbClr val="EDECEE"/>
                </a:solidFill>
                <a:effectLst/>
                <a:latin typeface="Consolas" panose="020B0609020204030204" pitchFamily="49" charset="0"/>
              </a:rPr>
              <a:t>&lt;?</a:t>
            </a:r>
            <a:r>
              <a:rPr lang="pt-BR" sz="900" b="0" dirty="0" err="1">
                <a:solidFill>
                  <a:srgbClr val="EDECEE"/>
                </a:solidFill>
                <a:effectLst/>
                <a:latin typeface="Consolas" panose="020B0609020204030204" pitchFamily="49" charset="0"/>
              </a:rPr>
              <a:t>php</a:t>
            </a:r>
            <a:endParaRPr lang="pt-BR" sz="900" b="0" dirty="0">
              <a:solidFill>
                <a:srgbClr val="EDECEE"/>
              </a:solidFill>
              <a:effectLst/>
              <a:latin typeface="Consolas" panose="020B0609020204030204" pitchFamily="49" charset="0"/>
            </a:endParaRPr>
          </a:p>
          <a:p>
            <a:r>
              <a:rPr lang="pt-BR" sz="900" b="0" dirty="0">
                <a:solidFill>
                  <a:srgbClr val="EDECEE"/>
                </a:solidFill>
                <a:effectLst/>
                <a:latin typeface="Consolas" panose="020B0609020204030204" pitchFamily="49" charset="0"/>
              </a:rPr>
              <a:t>$</a:t>
            </a:r>
            <a:r>
              <a:rPr lang="pt-BR" sz="900" b="0" dirty="0" err="1">
                <a:solidFill>
                  <a:srgbClr val="EDECEE"/>
                </a:solidFill>
                <a:effectLst/>
                <a:latin typeface="Consolas" panose="020B0609020204030204" pitchFamily="49" charset="0"/>
              </a:rPr>
              <a:t>dia_da_semana</a:t>
            </a:r>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"quarta"</a:t>
            </a:r>
            <a:r>
              <a:rPr lang="pt-BR" sz="900" b="0" dirty="0">
                <a:solidFill>
                  <a:srgbClr val="EDECEE"/>
                </a:solidFill>
                <a:effectLst/>
                <a:latin typeface="Consolas" panose="020B0609020204030204" pitchFamily="49" charset="0"/>
              </a:rPr>
              <a:t>;</a:t>
            </a:r>
          </a:p>
          <a:p>
            <a:br>
              <a:rPr lang="pt-BR" sz="900" b="0" dirty="0">
                <a:solidFill>
                  <a:srgbClr val="EDECEE"/>
                </a:solidFill>
                <a:effectLst/>
                <a:latin typeface="Consolas" panose="020B0609020204030204" pitchFamily="49" charset="0"/>
              </a:rPr>
            </a:br>
            <a:r>
              <a:rPr lang="pt-BR" sz="900" b="0" dirty="0">
                <a:solidFill>
                  <a:srgbClr val="A277FF"/>
                </a:solidFill>
                <a:effectLst/>
                <a:latin typeface="Consolas" panose="020B0609020204030204" pitchFamily="49" charset="0"/>
              </a:rPr>
              <a:t>switch</a:t>
            </a:r>
            <a:r>
              <a:rPr lang="pt-BR" sz="900" b="0" dirty="0">
                <a:solidFill>
                  <a:srgbClr val="EDECEE"/>
                </a:solidFill>
                <a:effectLst/>
                <a:latin typeface="Consolas" panose="020B0609020204030204" pitchFamily="49" charset="0"/>
              </a:rPr>
              <a:t> ($</a:t>
            </a:r>
            <a:r>
              <a:rPr lang="pt-BR" sz="900" b="0" dirty="0" err="1">
                <a:solidFill>
                  <a:srgbClr val="EDECEE"/>
                </a:solidFill>
                <a:effectLst/>
                <a:latin typeface="Consolas" panose="020B0609020204030204" pitchFamily="49" charset="0"/>
              </a:rPr>
              <a:t>dia_da_semana</a:t>
            </a:r>
            <a:r>
              <a:rPr lang="pt-BR" sz="900" b="0" dirty="0">
                <a:solidFill>
                  <a:srgbClr val="EDECEE"/>
                </a:solidFill>
                <a:effectLst/>
                <a:latin typeface="Consolas" panose="020B0609020204030204" pitchFamily="49" charset="0"/>
              </a:rPr>
              <a:t>) {</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case</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"segunda"</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err="1">
                <a:solidFill>
                  <a:srgbClr val="FFCA85"/>
                </a:solidFill>
                <a:effectLst/>
                <a:latin typeface="Consolas" panose="020B0609020204030204" pitchFamily="49" charset="0"/>
              </a:rPr>
              <a:t>echo</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"Hoje é segunda-feira!"</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break</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case</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"terça"</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err="1">
                <a:solidFill>
                  <a:srgbClr val="FFCA85"/>
                </a:solidFill>
                <a:effectLst/>
                <a:latin typeface="Consolas" panose="020B0609020204030204" pitchFamily="49" charset="0"/>
              </a:rPr>
              <a:t>echo</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"Hoje é terça-feira!"</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break</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case</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"quarta"</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err="1">
                <a:solidFill>
                  <a:srgbClr val="FFCA85"/>
                </a:solidFill>
                <a:effectLst/>
                <a:latin typeface="Consolas" panose="020B0609020204030204" pitchFamily="49" charset="0"/>
              </a:rPr>
              <a:t>echo</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"Hoje é quarta-feira!"</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break</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case</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"quinta"</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err="1">
                <a:solidFill>
                  <a:srgbClr val="FFCA85"/>
                </a:solidFill>
                <a:effectLst/>
                <a:latin typeface="Consolas" panose="020B0609020204030204" pitchFamily="49" charset="0"/>
              </a:rPr>
              <a:t>echo</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"Hoje é quinta-feira!"</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break</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case</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"sexta"</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err="1">
                <a:solidFill>
                  <a:srgbClr val="FFCA85"/>
                </a:solidFill>
                <a:effectLst/>
                <a:latin typeface="Consolas" panose="020B0609020204030204" pitchFamily="49" charset="0"/>
              </a:rPr>
              <a:t>echo</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"Hoje é sexta-feira!"</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break</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case</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"sábado"</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err="1">
                <a:solidFill>
                  <a:srgbClr val="FFCA85"/>
                </a:solidFill>
                <a:effectLst/>
                <a:latin typeface="Consolas" panose="020B0609020204030204" pitchFamily="49" charset="0"/>
              </a:rPr>
              <a:t>echo</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"Hoje é sábado!"</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break</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case</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"domingo"</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err="1">
                <a:solidFill>
                  <a:srgbClr val="FFCA85"/>
                </a:solidFill>
                <a:effectLst/>
                <a:latin typeface="Consolas" panose="020B0609020204030204" pitchFamily="49" charset="0"/>
              </a:rPr>
              <a:t>echo</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"Hoje é domingo!"</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break</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a:solidFill>
                  <a:srgbClr val="A277FF"/>
                </a:solidFill>
                <a:effectLst/>
                <a:latin typeface="Consolas" panose="020B0609020204030204" pitchFamily="49" charset="0"/>
              </a:rPr>
              <a:t>default</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        </a:t>
            </a:r>
            <a:r>
              <a:rPr lang="pt-BR" sz="900" b="0" dirty="0" err="1">
                <a:solidFill>
                  <a:srgbClr val="FFCA85"/>
                </a:solidFill>
                <a:effectLst/>
                <a:latin typeface="Consolas" panose="020B0609020204030204" pitchFamily="49" charset="0"/>
              </a:rPr>
              <a:t>echo</a:t>
            </a:r>
            <a:r>
              <a:rPr lang="pt-BR" sz="900" b="0" dirty="0">
                <a:solidFill>
                  <a:srgbClr val="EDECEE"/>
                </a:solidFill>
                <a:effectLst/>
                <a:latin typeface="Consolas" panose="020B0609020204030204" pitchFamily="49" charset="0"/>
              </a:rPr>
              <a:t> </a:t>
            </a:r>
            <a:r>
              <a:rPr lang="pt-BR" sz="900" b="0" dirty="0">
                <a:solidFill>
                  <a:srgbClr val="61FFCA"/>
                </a:solidFill>
                <a:effectLst/>
                <a:latin typeface="Consolas" panose="020B0609020204030204" pitchFamily="49" charset="0"/>
              </a:rPr>
              <a:t>"Dia inválido!"</a:t>
            </a:r>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a:t>
            </a:r>
          </a:p>
          <a:p>
            <a:r>
              <a:rPr lang="pt-BR" sz="900" b="0" dirty="0">
                <a:solidFill>
                  <a:srgbClr val="EDECEE"/>
                </a:solidFill>
                <a:effectLst/>
                <a:latin typeface="Consolas" panose="020B0609020204030204" pitchFamily="49" charset="0"/>
              </a:rPr>
              <a:t>?&gt;</a:t>
            </a:r>
          </a:p>
          <a:p>
            <a:r>
              <a:rPr lang="pt-BR" sz="900" b="0" dirty="0">
                <a:solidFill>
                  <a:srgbClr val="EDECEE"/>
                </a:solidFill>
                <a:effectLst/>
                <a:latin typeface="Consolas" panose="020B0609020204030204" pitchFamily="49" charset="0"/>
              </a:rPr>
              <a:t>&lt;/</a:t>
            </a:r>
            <a:r>
              <a:rPr lang="pt-BR" sz="900" b="0" dirty="0">
                <a:solidFill>
                  <a:srgbClr val="A277FF"/>
                </a:solidFill>
                <a:effectLst/>
                <a:latin typeface="Consolas" panose="020B0609020204030204" pitchFamily="49" charset="0"/>
              </a:rPr>
              <a:t>body</a:t>
            </a:r>
            <a:r>
              <a:rPr lang="pt-BR" sz="900" b="0" dirty="0">
                <a:solidFill>
                  <a:srgbClr val="EDECEE"/>
                </a:solidFill>
                <a:effectLst/>
                <a:latin typeface="Consolas" panose="020B0609020204030204" pitchFamily="49" charset="0"/>
              </a:rPr>
              <a:t>&gt;</a:t>
            </a:r>
          </a:p>
          <a:p>
            <a:r>
              <a:rPr lang="pt-BR" sz="900" b="0" dirty="0">
                <a:solidFill>
                  <a:srgbClr val="EDECEE"/>
                </a:solidFill>
                <a:effectLst/>
                <a:latin typeface="Consolas" panose="020B0609020204030204" pitchFamily="49" charset="0"/>
              </a:rPr>
              <a:t>&lt;/</a:t>
            </a:r>
            <a:r>
              <a:rPr lang="pt-BR" sz="900" b="0" dirty="0" err="1">
                <a:solidFill>
                  <a:srgbClr val="A277FF"/>
                </a:solidFill>
                <a:effectLst/>
                <a:latin typeface="Consolas" panose="020B0609020204030204" pitchFamily="49" charset="0"/>
              </a:rPr>
              <a:t>html</a:t>
            </a:r>
            <a:r>
              <a:rPr lang="pt-BR" sz="900" b="0" dirty="0">
                <a:solidFill>
                  <a:srgbClr val="EDECEE"/>
                </a:solidFill>
                <a:effectLst/>
                <a:latin typeface="Consolas" panose="020B0609020204030204" pitchFamily="49" charset="0"/>
              </a:rPr>
              <a:t>&gt;</a:t>
            </a:r>
            <a:endParaRPr lang="pt-BR" sz="1200" b="0" dirty="0">
              <a:solidFill>
                <a:srgbClr val="EDECEE"/>
              </a:solidFill>
              <a:effectLst/>
              <a:latin typeface="Consolas" panose="020B0609020204030204" pitchFamily="49" charset="0"/>
            </a:endParaRPr>
          </a:p>
        </p:txBody>
      </p:sp>
    </p:spTree>
    <p:extLst>
      <p:ext uri="{BB962C8B-B14F-4D97-AF65-F5344CB8AC3E}">
        <p14:creationId xmlns:p14="http://schemas.microsoft.com/office/powerpoint/2010/main" val="1566337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5297FD-9E51-EAFD-DB7F-AE22D27F6226}"/>
              </a:ext>
            </a:extLst>
          </p:cNvPr>
          <p:cNvSpPr>
            <a:spLocks noGrp="1"/>
          </p:cNvSpPr>
          <p:nvPr>
            <p:ph type="title"/>
          </p:nvPr>
        </p:nvSpPr>
        <p:spPr/>
        <p:txBody>
          <a:bodyPr/>
          <a:lstStyle/>
          <a:p>
            <a:r>
              <a:rPr lang="pt-BR" dirty="0"/>
              <a:t>Funções </a:t>
            </a:r>
            <a:r>
              <a:rPr lang="pt-BR" dirty="0" err="1"/>
              <a:t>String</a:t>
            </a:r>
            <a:endParaRPr lang="pt-BR" dirty="0"/>
          </a:p>
        </p:txBody>
      </p:sp>
      <p:sp>
        <p:nvSpPr>
          <p:cNvPr id="3" name="Espaço Reservado para Conteúdo 2">
            <a:extLst>
              <a:ext uri="{FF2B5EF4-FFF2-40B4-BE49-F238E27FC236}">
                <a16:creationId xmlns:a16="http://schemas.microsoft.com/office/drawing/2014/main" id="{8287215F-FDB8-4DD6-CC7F-9061B358DF1C}"/>
              </a:ext>
            </a:extLst>
          </p:cNvPr>
          <p:cNvSpPr>
            <a:spLocks noGrp="1"/>
          </p:cNvSpPr>
          <p:nvPr>
            <p:ph idx="1"/>
          </p:nvPr>
        </p:nvSpPr>
        <p:spPr/>
        <p:txBody>
          <a:bodyPr>
            <a:normAutofit/>
          </a:bodyPr>
          <a:lstStyle/>
          <a:p>
            <a:pPr marL="0" indent="0">
              <a:buNone/>
            </a:pPr>
            <a:r>
              <a:rPr lang="pt-BR" dirty="0"/>
              <a:t>Principais funções:</a:t>
            </a:r>
          </a:p>
          <a:p>
            <a:pPr marL="0" indent="0">
              <a:buNone/>
            </a:pPr>
            <a:endParaRPr lang="pt-BR" dirty="0"/>
          </a:p>
          <a:p>
            <a:pPr marL="0" indent="0">
              <a:buNone/>
            </a:pPr>
            <a:r>
              <a:rPr lang="pt-BR" dirty="0" err="1"/>
              <a:t>rtrim</a:t>
            </a:r>
            <a:r>
              <a:rPr lang="pt-BR" dirty="0"/>
              <a:t> – Remove espaços em branco a direita de uma </a:t>
            </a:r>
            <a:r>
              <a:rPr lang="pt-BR" dirty="0" err="1"/>
              <a:t>string</a:t>
            </a:r>
            <a:endParaRPr lang="pt-BR" dirty="0"/>
          </a:p>
          <a:p>
            <a:pPr marL="0" indent="0">
              <a:buNone/>
            </a:pPr>
            <a:r>
              <a:rPr lang="pt-BR" dirty="0" err="1"/>
              <a:t>ltrim</a:t>
            </a:r>
            <a:r>
              <a:rPr lang="pt-BR" dirty="0"/>
              <a:t> – Remove espaços em branco a esquerda de uma </a:t>
            </a:r>
            <a:r>
              <a:rPr lang="pt-BR" dirty="0" err="1"/>
              <a:t>string</a:t>
            </a:r>
            <a:endParaRPr lang="pt-BR" dirty="0"/>
          </a:p>
          <a:p>
            <a:pPr marL="0" indent="0">
              <a:buNone/>
            </a:pPr>
            <a:r>
              <a:rPr lang="pt-BR" dirty="0" err="1"/>
              <a:t>str_replace</a:t>
            </a:r>
            <a:r>
              <a:rPr lang="pt-BR" dirty="0"/>
              <a:t> – Troca uma palavra por outra dentro de uma </a:t>
            </a:r>
            <a:r>
              <a:rPr lang="pt-BR" dirty="0" err="1"/>
              <a:t>string</a:t>
            </a:r>
            <a:endParaRPr lang="pt-BR" dirty="0"/>
          </a:p>
          <a:p>
            <a:pPr marL="0" indent="0">
              <a:buNone/>
            </a:pPr>
            <a:endParaRPr lang="pt-BR" dirty="0"/>
          </a:p>
          <a:p>
            <a:pPr marL="0" indent="0">
              <a:buNone/>
            </a:pPr>
            <a:endParaRPr lang="pt-BR" dirty="0"/>
          </a:p>
          <a:p>
            <a:pPr marL="0" indent="0">
              <a:buNone/>
            </a:pPr>
            <a:r>
              <a:rPr lang="pt-BR" dirty="0"/>
              <a:t>Ver mais em: https://www.php.net/manual/pt_BR/ref.strings.php</a:t>
            </a:r>
          </a:p>
          <a:p>
            <a:pPr marL="0" indent="0">
              <a:buNone/>
            </a:pPr>
            <a:endParaRPr lang="pt-BR" dirty="0"/>
          </a:p>
          <a:p>
            <a:pPr marL="0" indent="0">
              <a:buNone/>
            </a:pPr>
            <a:endParaRPr lang="pt-BR" dirty="0"/>
          </a:p>
          <a:p>
            <a:pPr marL="0" indent="0">
              <a:buNone/>
            </a:pPr>
            <a:endParaRPr lang="pt-BR" dirty="0"/>
          </a:p>
          <a:p>
            <a:pPr marL="0" indent="0">
              <a:buNone/>
            </a:pPr>
            <a:endParaRPr lang="pt-BR" dirty="0"/>
          </a:p>
        </p:txBody>
      </p:sp>
    </p:spTree>
    <p:extLst>
      <p:ext uri="{BB962C8B-B14F-4D97-AF65-F5344CB8AC3E}">
        <p14:creationId xmlns:p14="http://schemas.microsoft.com/office/powerpoint/2010/main" val="3516668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86EDE5-C5F2-7A62-C08A-E923E2388E33}"/>
              </a:ext>
            </a:extLst>
          </p:cNvPr>
          <p:cNvSpPr>
            <a:spLocks noGrp="1"/>
          </p:cNvSpPr>
          <p:nvPr>
            <p:ph type="title"/>
          </p:nvPr>
        </p:nvSpPr>
        <p:spPr/>
        <p:txBody>
          <a:bodyPr/>
          <a:lstStyle/>
          <a:p>
            <a:r>
              <a:rPr lang="pt-BR" dirty="0"/>
              <a:t>Funções definidas pelo desenvolvedor</a:t>
            </a:r>
          </a:p>
        </p:txBody>
      </p:sp>
      <p:sp>
        <p:nvSpPr>
          <p:cNvPr id="3" name="Espaço Reservado para Conteúdo 2">
            <a:extLst>
              <a:ext uri="{FF2B5EF4-FFF2-40B4-BE49-F238E27FC236}">
                <a16:creationId xmlns:a16="http://schemas.microsoft.com/office/drawing/2014/main" id="{E52631C0-F863-3107-2AD3-08F01CDBB794}"/>
              </a:ext>
            </a:extLst>
          </p:cNvPr>
          <p:cNvSpPr>
            <a:spLocks noGrp="1"/>
          </p:cNvSpPr>
          <p:nvPr>
            <p:ph idx="1"/>
          </p:nvPr>
        </p:nvSpPr>
        <p:spPr>
          <a:xfrm>
            <a:off x="317694" y="1291053"/>
            <a:ext cx="6122863" cy="4351338"/>
          </a:xfrm>
        </p:spPr>
        <p:txBody>
          <a:bodyPr/>
          <a:lstStyle/>
          <a:p>
            <a:pPr marL="0" indent="0">
              <a:buNone/>
            </a:pPr>
            <a:r>
              <a:rPr lang="pt-BR" dirty="0"/>
              <a:t>Uma função é um bloco de código que executa alguma operação.</a:t>
            </a:r>
          </a:p>
          <a:p>
            <a:pPr marL="0" indent="0">
              <a:buNone/>
            </a:pPr>
            <a:r>
              <a:rPr lang="pt-BR" dirty="0"/>
              <a:t> Opcionalmente, uma função pode definir parâmetros de entrada que permitem que os chamadores passem argumentos para a função. </a:t>
            </a:r>
          </a:p>
          <a:p>
            <a:pPr marL="0" indent="0">
              <a:buNone/>
            </a:pPr>
            <a:r>
              <a:rPr lang="pt-BR" dirty="0"/>
              <a:t>Uma função também pode retornar um valor como saída.</a:t>
            </a:r>
          </a:p>
        </p:txBody>
      </p:sp>
      <p:sp>
        <p:nvSpPr>
          <p:cNvPr id="5" name="CaixaDeTexto 4">
            <a:extLst>
              <a:ext uri="{FF2B5EF4-FFF2-40B4-BE49-F238E27FC236}">
                <a16:creationId xmlns:a16="http://schemas.microsoft.com/office/drawing/2014/main" id="{F2194321-ECB3-E0C7-9390-83BF64789949}"/>
              </a:ext>
            </a:extLst>
          </p:cNvPr>
          <p:cNvSpPr txBox="1"/>
          <p:nvPr/>
        </p:nvSpPr>
        <p:spPr>
          <a:xfrm>
            <a:off x="6294783" y="1291053"/>
            <a:ext cx="5459895" cy="3416320"/>
          </a:xfrm>
          <a:prstGeom prst="rect">
            <a:avLst/>
          </a:prstGeom>
          <a:solidFill>
            <a:schemeClr val="tx1"/>
          </a:solidFill>
        </p:spPr>
        <p:txBody>
          <a:bodyPr wrap="square" rtlCol="0">
            <a:spAutoFit/>
          </a:bodyPr>
          <a:lstStyle/>
          <a:p>
            <a:r>
              <a:rPr lang="pt-BR" dirty="0">
                <a:solidFill>
                  <a:schemeClr val="bg1"/>
                </a:solidFill>
              </a:rPr>
              <a:t>/*Declaração da função soma</a:t>
            </a:r>
          </a:p>
          <a:p>
            <a:r>
              <a:rPr lang="pt-BR" dirty="0">
                <a:solidFill>
                  <a:schemeClr val="bg1"/>
                </a:solidFill>
              </a:rPr>
              <a:t>e os parâmetros $num_1 e $num_2*/</a:t>
            </a:r>
          </a:p>
          <a:p>
            <a:r>
              <a:rPr lang="pt-BR" dirty="0" err="1">
                <a:solidFill>
                  <a:schemeClr val="bg1"/>
                </a:solidFill>
              </a:rPr>
              <a:t>function</a:t>
            </a:r>
            <a:r>
              <a:rPr lang="pt-BR" dirty="0">
                <a:solidFill>
                  <a:schemeClr val="bg1"/>
                </a:solidFill>
              </a:rPr>
              <a:t> soma($num_1,$num_2){</a:t>
            </a:r>
          </a:p>
          <a:p>
            <a:endParaRPr lang="pt-BR" dirty="0">
              <a:solidFill>
                <a:schemeClr val="bg1"/>
              </a:solidFill>
            </a:endParaRPr>
          </a:p>
          <a:p>
            <a:r>
              <a:rPr lang="pt-BR" dirty="0">
                <a:solidFill>
                  <a:schemeClr val="bg1"/>
                </a:solidFill>
              </a:rPr>
              <a:t>  $total = $num_1 + $num_2;</a:t>
            </a:r>
          </a:p>
          <a:p>
            <a:endParaRPr lang="pt-BR" dirty="0">
              <a:solidFill>
                <a:schemeClr val="bg1"/>
              </a:solidFill>
            </a:endParaRPr>
          </a:p>
          <a:p>
            <a:r>
              <a:rPr lang="pt-BR" dirty="0">
                <a:solidFill>
                  <a:schemeClr val="bg1"/>
                </a:solidFill>
              </a:rPr>
              <a:t>  </a:t>
            </a:r>
            <a:r>
              <a:rPr lang="pt-BR" dirty="0" err="1">
                <a:solidFill>
                  <a:schemeClr val="bg1"/>
                </a:solidFill>
              </a:rPr>
              <a:t>return</a:t>
            </a:r>
            <a:r>
              <a:rPr lang="pt-BR" dirty="0">
                <a:solidFill>
                  <a:schemeClr val="bg1"/>
                </a:solidFill>
              </a:rPr>
              <a:t> $total;</a:t>
            </a:r>
          </a:p>
          <a:p>
            <a:endParaRPr lang="pt-BR" dirty="0">
              <a:solidFill>
                <a:schemeClr val="bg1"/>
              </a:solidFill>
            </a:endParaRPr>
          </a:p>
          <a:p>
            <a:r>
              <a:rPr lang="pt-BR" dirty="0">
                <a:solidFill>
                  <a:schemeClr val="bg1"/>
                </a:solidFill>
              </a:rPr>
              <a:t>}</a:t>
            </a:r>
          </a:p>
          <a:p>
            <a:endParaRPr lang="pt-BR" dirty="0">
              <a:solidFill>
                <a:schemeClr val="bg1"/>
              </a:solidFill>
            </a:endParaRPr>
          </a:p>
          <a:p>
            <a:r>
              <a:rPr lang="pt-BR" dirty="0">
                <a:solidFill>
                  <a:schemeClr val="bg1"/>
                </a:solidFill>
              </a:rPr>
              <a:t>//definido os valores para as variáveis</a:t>
            </a:r>
          </a:p>
          <a:p>
            <a:r>
              <a:rPr lang="pt-BR" dirty="0" err="1">
                <a:solidFill>
                  <a:schemeClr val="bg1"/>
                </a:solidFill>
              </a:rPr>
              <a:t>echo</a:t>
            </a:r>
            <a:r>
              <a:rPr lang="pt-BR" dirty="0">
                <a:solidFill>
                  <a:schemeClr val="bg1"/>
                </a:solidFill>
              </a:rPr>
              <a:t> soma(5,3);</a:t>
            </a:r>
          </a:p>
        </p:txBody>
      </p:sp>
    </p:spTree>
    <p:extLst>
      <p:ext uri="{BB962C8B-B14F-4D97-AF65-F5344CB8AC3E}">
        <p14:creationId xmlns:p14="http://schemas.microsoft.com/office/powerpoint/2010/main" val="3975441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E59898-9460-77AF-4156-270C47AAE1F0}"/>
              </a:ext>
            </a:extLst>
          </p:cNvPr>
          <p:cNvSpPr>
            <a:spLocks noGrp="1"/>
          </p:cNvSpPr>
          <p:nvPr>
            <p:ph type="title"/>
          </p:nvPr>
        </p:nvSpPr>
        <p:spPr/>
        <p:txBody>
          <a:bodyPr/>
          <a:lstStyle/>
          <a:p>
            <a:r>
              <a:rPr lang="pt-BR" dirty="0"/>
              <a:t>Exercício</a:t>
            </a:r>
          </a:p>
        </p:txBody>
      </p:sp>
      <p:sp>
        <p:nvSpPr>
          <p:cNvPr id="3" name="Espaço Reservado para Conteúdo 2">
            <a:extLst>
              <a:ext uri="{FF2B5EF4-FFF2-40B4-BE49-F238E27FC236}">
                <a16:creationId xmlns:a16="http://schemas.microsoft.com/office/drawing/2014/main" id="{43765C03-15F4-DF4F-7092-34588F0F444D}"/>
              </a:ext>
            </a:extLst>
          </p:cNvPr>
          <p:cNvSpPr>
            <a:spLocks noGrp="1"/>
          </p:cNvSpPr>
          <p:nvPr>
            <p:ph idx="1"/>
          </p:nvPr>
        </p:nvSpPr>
        <p:spPr>
          <a:xfrm>
            <a:off x="317694" y="1291052"/>
            <a:ext cx="4634134" cy="3998400"/>
          </a:xfrm>
        </p:spPr>
        <p:txBody>
          <a:bodyPr/>
          <a:lstStyle/>
          <a:p>
            <a:pPr marL="0" indent="0">
              <a:buNone/>
            </a:pPr>
            <a:r>
              <a:rPr lang="pt-BR" dirty="0"/>
              <a:t>Criar uma função para cálculo do IMC, sendo : peso / (altura * altura)</a:t>
            </a:r>
          </a:p>
        </p:txBody>
      </p:sp>
      <p:pic>
        <p:nvPicPr>
          <p:cNvPr id="2050" name="Picture 2" descr="Tabela IMC Índice de Massa Corpórea com classificações de Muito abaixo do texto até Obesidade Grau III">
            <a:extLst>
              <a:ext uri="{FF2B5EF4-FFF2-40B4-BE49-F238E27FC236}">
                <a16:creationId xmlns:a16="http://schemas.microsoft.com/office/drawing/2014/main" id="{8F5BC8E1-B7D3-B239-EC67-CDCD9DAE94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3302" y="224450"/>
            <a:ext cx="5693552" cy="5219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155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0EDDCE-DD56-36BA-73B2-3A086900592A}"/>
              </a:ext>
            </a:extLst>
          </p:cNvPr>
          <p:cNvSpPr>
            <a:spLocks noGrp="1"/>
          </p:cNvSpPr>
          <p:nvPr>
            <p:ph type="title"/>
          </p:nvPr>
        </p:nvSpPr>
        <p:spPr/>
        <p:txBody>
          <a:bodyPr/>
          <a:lstStyle/>
          <a:p>
            <a:r>
              <a:rPr lang="pt-BR" dirty="0"/>
              <a:t>Vamos Calcular o Delta da Equação?</a:t>
            </a:r>
          </a:p>
        </p:txBody>
      </p:sp>
      <p:pic>
        <p:nvPicPr>
          <p:cNvPr id="7" name="Imagem 6">
            <a:extLst>
              <a:ext uri="{FF2B5EF4-FFF2-40B4-BE49-F238E27FC236}">
                <a16:creationId xmlns:a16="http://schemas.microsoft.com/office/drawing/2014/main" id="{59FCA1C6-EEB0-7A96-4F57-C410DFCCFE47}"/>
              </a:ext>
            </a:extLst>
          </p:cNvPr>
          <p:cNvPicPr>
            <a:picLocks noChangeAspect="1"/>
          </p:cNvPicPr>
          <p:nvPr/>
        </p:nvPicPr>
        <p:blipFill>
          <a:blip r:embed="rId2"/>
          <a:stretch>
            <a:fillRect/>
          </a:stretch>
        </p:blipFill>
        <p:spPr>
          <a:xfrm>
            <a:off x="1463041" y="1269880"/>
            <a:ext cx="9017464" cy="4202452"/>
          </a:xfrm>
          <a:prstGeom prst="rect">
            <a:avLst/>
          </a:prstGeom>
        </p:spPr>
      </p:pic>
    </p:spTree>
    <p:extLst>
      <p:ext uri="{BB962C8B-B14F-4D97-AF65-F5344CB8AC3E}">
        <p14:creationId xmlns:p14="http://schemas.microsoft.com/office/powerpoint/2010/main" val="2097422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04178B-17BA-6927-45B3-902B2D8B84DC}"/>
              </a:ext>
            </a:extLst>
          </p:cNvPr>
          <p:cNvSpPr>
            <a:spLocks noGrp="1"/>
          </p:cNvSpPr>
          <p:nvPr>
            <p:ph type="title"/>
          </p:nvPr>
        </p:nvSpPr>
        <p:spPr/>
        <p:txBody>
          <a:bodyPr/>
          <a:lstStyle/>
          <a:p>
            <a:r>
              <a:rPr lang="pt-BR" dirty="0"/>
              <a:t>O que estudamos até agora</a:t>
            </a:r>
          </a:p>
        </p:txBody>
      </p:sp>
      <p:sp>
        <p:nvSpPr>
          <p:cNvPr id="3" name="Espaço Reservado para Conteúdo 2">
            <a:extLst>
              <a:ext uri="{FF2B5EF4-FFF2-40B4-BE49-F238E27FC236}">
                <a16:creationId xmlns:a16="http://schemas.microsoft.com/office/drawing/2014/main" id="{17A87FA3-DE39-9E7F-A680-202E067D2125}"/>
              </a:ext>
            </a:extLst>
          </p:cNvPr>
          <p:cNvSpPr>
            <a:spLocks noGrp="1"/>
          </p:cNvSpPr>
          <p:nvPr>
            <p:ph idx="1"/>
          </p:nvPr>
        </p:nvSpPr>
        <p:spPr/>
        <p:txBody>
          <a:bodyPr/>
          <a:lstStyle/>
          <a:p>
            <a:r>
              <a:rPr lang="pt-BR" dirty="0" err="1"/>
              <a:t>Variaveis</a:t>
            </a:r>
            <a:endParaRPr lang="pt-BR" dirty="0"/>
          </a:p>
          <a:p>
            <a:r>
              <a:rPr lang="pt-BR" dirty="0" err="1"/>
              <a:t>Array</a:t>
            </a:r>
            <a:endParaRPr lang="pt-BR" dirty="0"/>
          </a:p>
          <a:p>
            <a:r>
              <a:rPr lang="pt-BR" dirty="0"/>
              <a:t>Operadores (matemáticos, lógicos e comparação)</a:t>
            </a:r>
          </a:p>
          <a:p>
            <a:r>
              <a:rPr lang="pt-BR" dirty="0"/>
              <a:t>Condicionais </a:t>
            </a:r>
            <a:r>
              <a:rPr lang="pt-BR" dirty="0" err="1"/>
              <a:t>if</a:t>
            </a:r>
            <a:r>
              <a:rPr lang="pt-BR" dirty="0"/>
              <a:t> e case</a:t>
            </a:r>
          </a:p>
          <a:p>
            <a:r>
              <a:rPr lang="pt-BR" dirty="0"/>
              <a:t>Laços for e </a:t>
            </a:r>
            <a:r>
              <a:rPr lang="pt-BR" dirty="0" err="1"/>
              <a:t>while</a:t>
            </a:r>
            <a:endParaRPr lang="pt-BR" dirty="0"/>
          </a:p>
          <a:p>
            <a:r>
              <a:rPr lang="pt-BR" dirty="0"/>
              <a:t>Funções numéricas e </a:t>
            </a:r>
            <a:r>
              <a:rPr lang="pt-BR" dirty="0" err="1"/>
              <a:t>string</a:t>
            </a:r>
            <a:endParaRPr lang="pt-BR" dirty="0"/>
          </a:p>
          <a:p>
            <a:r>
              <a:rPr lang="pt-BR" dirty="0"/>
              <a:t>Funções do desenvolvedor</a:t>
            </a:r>
          </a:p>
          <a:p>
            <a:endParaRPr lang="pt-BR" dirty="0"/>
          </a:p>
        </p:txBody>
      </p:sp>
    </p:spTree>
    <p:extLst>
      <p:ext uri="{BB962C8B-B14F-4D97-AF65-F5344CB8AC3E}">
        <p14:creationId xmlns:p14="http://schemas.microsoft.com/office/powerpoint/2010/main" val="1397784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64FCCA-34F3-C040-6F9F-27561F32A37D}"/>
              </a:ext>
            </a:extLst>
          </p:cNvPr>
          <p:cNvSpPr>
            <a:spLocks noGrp="1"/>
          </p:cNvSpPr>
          <p:nvPr>
            <p:ph type="title"/>
          </p:nvPr>
        </p:nvSpPr>
        <p:spPr/>
        <p:txBody>
          <a:bodyPr/>
          <a:lstStyle/>
          <a:p>
            <a:r>
              <a:rPr lang="pt-BR" dirty="0"/>
              <a:t>Banco de dados </a:t>
            </a:r>
            <a:r>
              <a:rPr lang="pt-BR" dirty="0" err="1"/>
              <a:t>Mysql</a:t>
            </a:r>
            <a:endParaRPr lang="pt-BR" dirty="0"/>
          </a:p>
        </p:txBody>
      </p:sp>
      <p:sp>
        <p:nvSpPr>
          <p:cNvPr id="3" name="Espaço Reservado para Conteúdo 2">
            <a:extLst>
              <a:ext uri="{FF2B5EF4-FFF2-40B4-BE49-F238E27FC236}">
                <a16:creationId xmlns:a16="http://schemas.microsoft.com/office/drawing/2014/main" id="{C8A47C19-B4E3-9C36-57EF-C91A80EBBF5E}"/>
              </a:ext>
            </a:extLst>
          </p:cNvPr>
          <p:cNvSpPr>
            <a:spLocks noGrp="1"/>
          </p:cNvSpPr>
          <p:nvPr>
            <p:ph idx="1"/>
          </p:nvPr>
        </p:nvSpPr>
        <p:spPr/>
        <p:txBody>
          <a:bodyPr>
            <a:normAutofit fontScale="77500" lnSpcReduction="20000"/>
          </a:bodyPr>
          <a:lstStyle/>
          <a:p>
            <a:pPr marL="0" indent="0">
              <a:buNone/>
            </a:pPr>
            <a:r>
              <a:rPr lang="pt-BR" dirty="0"/>
              <a:t>Inclusão:</a:t>
            </a:r>
          </a:p>
          <a:p>
            <a:pPr marL="0" indent="0">
              <a:buNone/>
            </a:pPr>
            <a:r>
              <a:rPr lang="pt-BR" dirty="0" err="1"/>
              <a:t>Insert</a:t>
            </a:r>
            <a:r>
              <a:rPr lang="pt-BR" dirty="0"/>
              <a:t> </a:t>
            </a:r>
            <a:r>
              <a:rPr lang="pt-BR" dirty="0" err="1"/>
              <a:t>into</a:t>
            </a:r>
            <a:r>
              <a:rPr lang="pt-BR" dirty="0"/>
              <a:t> &lt;</a:t>
            </a:r>
            <a:r>
              <a:rPr lang="pt-BR" dirty="0" err="1"/>
              <a:t>nometabela</a:t>
            </a:r>
            <a:r>
              <a:rPr lang="pt-BR" dirty="0"/>
              <a:t>&gt; (‘campo1’,’campo2’,’campo3’) </a:t>
            </a:r>
          </a:p>
          <a:p>
            <a:pPr marL="0" indent="0">
              <a:buNone/>
            </a:pPr>
            <a:r>
              <a:rPr lang="pt-BR" dirty="0" err="1"/>
              <a:t>values</a:t>
            </a:r>
            <a:r>
              <a:rPr lang="pt-BR" dirty="0"/>
              <a:t> (‘valor1’,’valor2’,’valor3’)</a:t>
            </a:r>
          </a:p>
          <a:p>
            <a:pPr marL="0" indent="0">
              <a:buNone/>
            </a:pPr>
            <a:endParaRPr lang="pt-BR" dirty="0"/>
          </a:p>
          <a:p>
            <a:pPr marL="0" indent="0">
              <a:buNone/>
            </a:pPr>
            <a:r>
              <a:rPr lang="pt-BR" dirty="0"/>
              <a:t>Alteração:</a:t>
            </a:r>
          </a:p>
          <a:p>
            <a:pPr marL="0" indent="0">
              <a:buNone/>
            </a:pPr>
            <a:r>
              <a:rPr lang="pt-BR" dirty="0"/>
              <a:t>Update &lt;</a:t>
            </a:r>
            <a:r>
              <a:rPr lang="pt-BR" dirty="0" err="1"/>
              <a:t>nometabela</a:t>
            </a:r>
            <a:r>
              <a:rPr lang="pt-BR" dirty="0"/>
              <a:t>&gt; set campo = ‘valor’,campo2=‘valor2’ Where id=1</a:t>
            </a:r>
          </a:p>
          <a:p>
            <a:pPr marL="0" indent="0">
              <a:buNone/>
            </a:pPr>
            <a:endParaRPr lang="pt-BR" dirty="0"/>
          </a:p>
          <a:p>
            <a:pPr marL="0" indent="0">
              <a:buNone/>
            </a:pPr>
            <a:r>
              <a:rPr lang="pt-BR" dirty="0"/>
              <a:t>Exclusão</a:t>
            </a:r>
          </a:p>
          <a:p>
            <a:pPr marL="0" indent="0">
              <a:buNone/>
            </a:pPr>
            <a:r>
              <a:rPr lang="pt-BR" dirty="0"/>
              <a:t>Delete </a:t>
            </a:r>
            <a:r>
              <a:rPr lang="pt-BR" dirty="0" err="1"/>
              <a:t>from</a:t>
            </a:r>
            <a:r>
              <a:rPr lang="pt-BR" dirty="0"/>
              <a:t> &lt;</a:t>
            </a:r>
            <a:r>
              <a:rPr lang="pt-BR" dirty="0" err="1"/>
              <a:t>nometabela</a:t>
            </a:r>
            <a:r>
              <a:rPr lang="pt-BR" dirty="0"/>
              <a:t>&gt; Where id=1</a:t>
            </a:r>
          </a:p>
          <a:p>
            <a:pPr marL="0" indent="0">
              <a:buNone/>
            </a:pPr>
            <a:endParaRPr lang="pt-BR" dirty="0"/>
          </a:p>
          <a:p>
            <a:pPr marL="0" indent="0">
              <a:buNone/>
            </a:pPr>
            <a:r>
              <a:rPr lang="pt-BR" dirty="0"/>
              <a:t>Consulta</a:t>
            </a:r>
          </a:p>
          <a:p>
            <a:pPr marL="0" indent="0">
              <a:buNone/>
            </a:pPr>
            <a:r>
              <a:rPr lang="pt-BR" dirty="0" err="1"/>
              <a:t>Select</a:t>
            </a:r>
            <a:r>
              <a:rPr lang="pt-BR" dirty="0"/>
              <a:t> * </a:t>
            </a:r>
            <a:r>
              <a:rPr lang="pt-BR" dirty="0" err="1"/>
              <a:t>from</a:t>
            </a:r>
            <a:r>
              <a:rPr lang="pt-BR" dirty="0"/>
              <a:t> &lt;</a:t>
            </a:r>
            <a:r>
              <a:rPr lang="pt-BR" dirty="0" err="1"/>
              <a:t>nometabela</a:t>
            </a:r>
            <a:r>
              <a:rPr lang="pt-BR" dirty="0"/>
              <a:t>&gt; // Opcional colocar o Where e selecionar o que quer ver</a:t>
            </a:r>
          </a:p>
        </p:txBody>
      </p:sp>
    </p:spTree>
    <p:extLst>
      <p:ext uri="{BB962C8B-B14F-4D97-AF65-F5344CB8AC3E}">
        <p14:creationId xmlns:p14="http://schemas.microsoft.com/office/powerpoint/2010/main" val="1787047538"/>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C611573A3B02F4AA65BD9250F7B61D3" ma:contentTypeVersion="0" ma:contentTypeDescription="Crie um novo documento." ma:contentTypeScope="" ma:versionID="3bc39b117588962b5fb34b5af232389f">
  <xsd:schema xmlns:xsd="http://www.w3.org/2001/XMLSchema" xmlns:xs="http://www.w3.org/2001/XMLSchema" xmlns:p="http://schemas.microsoft.com/office/2006/metadata/properties" targetNamespace="http://schemas.microsoft.com/office/2006/metadata/properties" ma:root="true" ma:fieldsID="caae072779e280f309640dc41d837c6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FA62570-84A4-44EC-A644-A4D9A6CB0090}"/>
</file>

<file path=customXml/itemProps2.xml><?xml version="1.0" encoding="utf-8"?>
<ds:datastoreItem xmlns:ds="http://schemas.openxmlformats.org/officeDocument/2006/customXml" ds:itemID="{FB4A2F3C-C82C-4865-BCB5-8EF97CC1C8AD}"/>
</file>

<file path=customXml/itemProps3.xml><?xml version="1.0" encoding="utf-8"?>
<ds:datastoreItem xmlns:ds="http://schemas.openxmlformats.org/officeDocument/2006/customXml" ds:itemID="{B090B24D-7B6B-4299-A971-BEDF5C548274}"/>
</file>

<file path=docProps/app.xml><?xml version="1.0" encoding="utf-8"?>
<Properties xmlns="http://schemas.openxmlformats.org/officeDocument/2006/extended-properties" xmlns:vt="http://schemas.openxmlformats.org/officeDocument/2006/docPropsVTypes">
  <Template/>
  <TotalTime>10206</TotalTime>
  <Words>2599</Words>
  <Application>Microsoft Office PowerPoint</Application>
  <PresentationFormat>Widescreen</PresentationFormat>
  <Paragraphs>345</Paragraphs>
  <Slides>28</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28</vt:i4>
      </vt:variant>
    </vt:vector>
  </HeadingPairs>
  <TitlesOfParts>
    <vt:vector size="34" baseType="lpstr">
      <vt:lpstr>Arial</vt:lpstr>
      <vt:lpstr>Calibri</vt:lpstr>
      <vt:lpstr>Consolas</vt:lpstr>
      <vt:lpstr>Google Sans</vt:lpstr>
      <vt:lpstr>Helvetica</vt:lpstr>
      <vt:lpstr>Tema do Office</vt:lpstr>
      <vt:lpstr>Lógica de Programação Direcionada a PHP</vt:lpstr>
      <vt:lpstr>O que é PHP?</vt:lpstr>
      <vt:lpstr>Apresentação do PowerPoint</vt:lpstr>
      <vt:lpstr>Conceitos básicos de algoritmo</vt:lpstr>
      <vt:lpstr>Estruturas de controle</vt:lpstr>
      <vt:lpstr>Sintaxe Básica </vt:lpstr>
      <vt:lpstr>O que precisaremos?</vt:lpstr>
      <vt:lpstr>Vamos começar</vt:lpstr>
      <vt:lpstr>Já que está tudo instalado....</vt:lpstr>
      <vt:lpstr>Onde ficarão nossos projetos</vt:lpstr>
      <vt:lpstr>Antes de começar a codar</vt:lpstr>
      <vt:lpstr>Apresentação do PowerPoint</vt:lpstr>
      <vt:lpstr>Tipos de variáveis</vt:lpstr>
      <vt:lpstr>Apresentação do PowerPoint</vt:lpstr>
      <vt:lpstr>Operadores Aritméticos</vt:lpstr>
      <vt:lpstr>Operadores Lógicos</vt:lpstr>
      <vt:lpstr>Operadores de comparação</vt:lpstr>
      <vt:lpstr>O Comando IF</vt:lpstr>
      <vt:lpstr>Laço for</vt:lpstr>
      <vt:lpstr>Vamos fazer uma tabuada?</vt:lpstr>
      <vt:lpstr>O Laço while</vt:lpstr>
      <vt:lpstr>Switch case</vt:lpstr>
      <vt:lpstr>Funções String</vt:lpstr>
      <vt:lpstr>Funções definidas pelo desenvolvedor</vt:lpstr>
      <vt:lpstr>Exercício</vt:lpstr>
      <vt:lpstr>Vamos Calcular o Delta da Equação?</vt:lpstr>
      <vt:lpstr>O que estudamos até agora</vt:lpstr>
      <vt:lpstr>Banco de dados Mysql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Thiago Augusto da Costa</dc:creator>
  <cp:lastModifiedBy>CELSO LUIS CALDEIRA</cp:lastModifiedBy>
  <cp:revision>58</cp:revision>
  <dcterms:created xsi:type="dcterms:W3CDTF">2017-01-10T17:35:04Z</dcterms:created>
  <dcterms:modified xsi:type="dcterms:W3CDTF">2025-01-14T00:05:00Z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0x0101001C611573A3B02F4AA65BD9250F7B61D3</vt:lpwstr>
  </property>
</Properties>
</file>